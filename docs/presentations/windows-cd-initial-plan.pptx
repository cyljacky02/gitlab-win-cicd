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頁，不增加重複圖頁或動畫頁；講者沿架構圖的 ①～⑤ 說明順序。圖的組織區域、人員與工具分開呈現，技術與權限細節留在講者備註及研究文件。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 ①～⑤ 說明同一張完整架構圖，不增加重複頁。ADO 全名 Azure DevOps Server，POC 使用 Express；基線 Server 2022／REST 7.0，實際版本與修補層級待安裝確認。本圖是文件支持的目標架構，不是已實機測通的現況。</a:t>
            </a:r>
          </a:p>
          <a:p>
            <a:r>
              <a:t>① 開發人員 push 到 GitLab CE；GitLab 編排 CI，GitLab Runner 執行建置／測試並將 artifact 上傳回 GitLab。Runner 沒有 Production 存取權或 ADO 部署憑證。</a:t>
            </a:r>
          </a:p>
          <a:p>
            <a:r>
              <a:t>② GitLab pipeline 狀態成功後以 Pipeline webhook 主動通知管理側的受保護接收器；不是 GitLab Runner 直接觸發正式部署。接收器驗證認證、限制來源、耐久入列，再以 GitLab API 複核專案、成功狀態、來源分支、SHA 與必要品質 job，最後透過 Queue Build REST API 排入固定 importer。接收器是需實作的服務，不是另一個 GitLab Runner，也不是 ADO 原生 GitLab artifact connector；可評估與管理 Agent 共用非正式主機，但服務身分、憑證與目錄必須隔離。</a:t>
            </a:r>
          </a:p>
          <a:p>
            <a:r>
              <a:t>③ ADO 需要管理區的 self-hosted Build Agent 執行 importer。圖中 GitLab→管理 Agent 是 API 下載的資料流，實際連線由管理 Agent 發起；ADO→管理 Agent 是派工語意，Agent 主動連 Server 取工作。Importer 重驗固定來源政策，按 project/pipeline/job ID 下載確切 artifact，檢查 ZIP 與內容、計算 hash、保存來源 manifest，再以 PublishBuildArtifacts@1 發布 Server Build Artifacts。不能用 Services-only Pipeline Artifacts，不能在部署時抓 latest。GitLab 唯讀憑證只留管理區。Management Agent 與 Production Deployment Group Agent 不共用主機、帳號或 pool；管理 Agent 不可寫入 Production。圖中 ADO 是控制面與受控版本儲存的概念集合，不代表所有元件必須同機。</a:t>
            </a:r>
          </a:p>
          <a:p>
            <a:r>
              <a:t>④ 以三組固定 importer／Classic Release 綁定來源環境，下一頁展開。SIT／UAT 可在匯入成功後自動建立 release／部署。Production 關閉 artifact 自動 release trigger，由授權人員選確切 importer build 建立 Release；stage 設 Manual only 與具名 pre-deployment approvers。允許同一授權人員發起與放行，不強制雙人審批。放行綁定應用、目標與確切內容，改版或改目標須重新放行。</a:t>
            </a:r>
          </a:p>
          <a:p>
            <a:r>
              <a:t>⑤ 圖中 ADO→部署 Agent 是已授權工作的交接，不是 Server 主動登入 Windows。每台 Windows Target 安裝專用 Deployment Group Agent，主動連 ADO 取工作，放行後才下載指定 build 產物並以受保護的部署腳本切換本機應用。此處畫 Production，SIT／UAT 使用各自隔離的 target Agents。沒有另藏一個需要登入正式主機的管理 Runner；本方案使用目標 Agent 本機執行。必須測試未放行時正式主機連 Agent 工作目錄都沒有候選檔案寫入。</a:t>
            </a:r>
          </a:p>
          <a:p>
            <a:r>
              <a:t>安全邊界：接收器的 PAT／帳號只允許排入固定 importer，不具有 Release／Production 權限；PAT scope 不等於 definition ACL，須測試群組繼承、來源分支／參數覆寫、build service 身分與 OS 帳號的有效權限。部署定義、來源映射與特權腳本由授權部門管理，不能執行 artifact 附帶的特權腳本。記錄人員、版本、目標與結果。</a:t>
            </a:r>
          </a:p>
          <a:p>
            <a:r>
              <a:t>可靠性：接收器耐久 inbox、去重、重送與 importer 候選唯一鍵，處理 Queue 回應遺失、重複事件及晚到舊版本；不讓重複匯入再觸發部署。必要品質 jobs 必須成功，不能只信任 allow_failure 後仍 success 的 pipeline。正常路徑為事件驅動；漏事件由受控補送走同一驗證流程，並監控 webhook 停用與產物保留期限。</a:t>
            </a:r>
          </a:p>
          <a:p>
            <a:r>
              <a:t>研究取捨：CI 最後一個 job 直呼 Queue API 有官方功能基礎，但持有匯入排程權限且整條 pipeline 此時可能仍 running，需要事件後有限狀態重查；所以首選成功 webhook。Server 2020.1 起有 incoming webhook 功能，不能說是 Services-only，但其 HMAC 與 GitLab 的驗證格式不可假設相容。採接收器＋Queue API，不依賴未驗證的原生互通性。</a:t>
            </a:r>
          </a:p>
          <a:p>
            <a:r>
              <a:t>完整查證與 POC 負向測試：docs/research/gitlab-ado-event-trigger.md。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https://learn.microsoft.com/en-us/azure/devops/pipelines/tasks/reference/publish-build-artifacts-v1?view=azure-pipelines</a:t>
            </a:r>
          </a:p>
          <a:p>
            <a:r>
              <a:t>https://learn.microsoft.com/en-us/azure/devops/pipelines/release/deployment-groups/?view=azure-devops-2022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保留舊版第 5 頁的三分支映射。三個分支各自建置，不主張同一份內容由 UAT 晉升 Production。接收器與 importer 用 GitLab API 複核固定專案、精確 ref、pipeline source=push、非 tag、SHA、成功狀態與必要 jobs，再路由到三組固定 importer＋單環境 Classic Release。Webhook 與 queue 參數只是提示，不是可信任的環境判斷。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03｜三分支、三環境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建置完成主動通知，ADO 接手匯入與授權部署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分區＝責任邊界；橘色＝人員；箭頭＝工作／產物交接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3048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3048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2743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開發區：不持正式權限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7000" y="2095500"/>
            <a:ext cx="4953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7000" y="2095500"/>
            <a:ext cx="4953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9400" y="2146300"/>
            <a:ext cx="4648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授權部門管理區（非正式主機）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71000" y="2095500"/>
            <a:ext cx="2413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71000" y="2095500"/>
            <a:ext cx="2413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3400" y="2146300"/>
            <a:ext cx="2108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正式區：授權存取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32000" y="3429000"/>
            <a:ext cx="0" cy="190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32000" y="4445000"/>
            <a:ext cx="0" cy="317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302000" y="5168900"/>
            <a:ext cx="127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429000" y="4025900"/>
            <a:ext cx="0" cy="11430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302000" y="4025900"/>
            <a:ext cx="1270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302000" y="4025900"/>
            <a:ext cx="4445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746500" y="3009900"/>
            <a:ext cx="0" cy="10160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46500" y="3009900"/>
            <a:ext cx="3810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0000" y="3016250"/>
            <a:ext cx="1270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477000" y="3016250"/>
            <a:ext cx="0" cy="190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477000" y="3206750"/>
            <a:ext cx="127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302000" y="4025900"/>
            <a:ext cx="3175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19500" y="4025900"/>
            <a:ext cx="0" cy="1079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19500" y="51054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645400" y="3810000"/>
            <a:ext cx="6350" cy="3810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477000" y="4191000"/>
            <a:ext cx="11684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477000" y="4191000"/>
            <a:ext cx="0" cy="9144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350000" y="5105400"/>
            <a:ext cx="1270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232400" y="4000500"/>
            <a:ext cx="6350" cy="6350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32400" y="4000500"/>
            <a:ext cx="11811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413500" y="3200400"/>
            <a:ext cx="0" cy="8001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413500" y="3200400"/>
            <a:ext cx="190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65175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699500" y="3206750"/>
            <a:ext cx="762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 descr="① 開發人員&#10;推送程式碼"/>
          <p:cNvSpPr/>
          <p:nvPr/>
        </p:nvSpPr>
        <p:spPr>
          <a:xfrm>
            <a:off x="762000" y="2603500"/>
            <a:ext cx="2540000" cy="8255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1700" y="2686367"/>
            <a:ext cx="2260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① 開發人員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推送程式碼</a:t>
            </a:r>
          </a:p>
        </p:txBody>
      </p:sp>
      <p:sp>
        <p:nvSpPr>
          <p:cNvPr id="43" name="Rounded Rectangle 42" descr="GitLab CE&#10;派工／保存產物"/>
          <p:cNvSpPr/>
          <p:nvPr/>
        </p:nvSpPr>
        <p:spPr>
          <a:xfrm>
            <a:off x="762000" y="3619500"/>
            <a:ext cx="2540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1700" y="3702367"/>
            <a:ext cx="2260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GitLab CE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派工／保存產物</a:t>
            </a:r>
          </a:p>
        </p:txBody>
      </p:sp>
      <p:sp>
        <p:nvSpPr>
          <p:cNvPr id="45" name="Rounded Rectangle 44" descr="GitLab Runner&#10;建置／測試"/>
          <p:cNvSpPr/>
          <p:nvPr/>
        </p:nvSpPr>
        <p:spPr>
          <a:xfrm>
            <a:off x="762000" y="4762500"/>
            <a:ext cx="2540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1700" y="4845367"/>
            <a:ext cx="2260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47" name="Rounded Rectangle 46" descr="② 事件接收器&#10;驗證成功通知"/>
          <p:cNvSpPr/>
          <p:nvPr/>
        </p:nvSpPr>
        <p:spPr>
          <a:xfrm>
            <a:off x="4127500" y="2603500"/>
            <a:ext cx="22225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7200" y="2686367"/>
            <a:ext cx="19431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② 事件接收器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驗證成功通知</a:t>
            </a:r>
          </a:p>
        </p:txBody>
      </p:sp>
      <p:sp>
        <p:nvSpPr>
          <p:cNvPr id="49" name="Rounded Rectangle 48" descr="ADO Server&#10;排程／存版本&#10;管理 Release"/>
          <p:cNvSpPr/>
          <p:nvPr/>
        </p:nvSpPr>
        <p:spPr>
          <a:xfrm>
            <a:off x="6604000" y="2603500"/>
            <a:ext cx="2095500" cy="1206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43700" y="2679700"/>
            <a:ext cx="1816100" cy="1054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ADO Server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排程／存版本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管理 Release</a:t>
            </a:r>
          </a:p>
        </p:txBody>
      </p:sp>
      <p:sp>
        <p:nvSpPr>
          <p:cNvPr id="51" name="Rounded Rectangle 50" descr="③ 管理 Agent&#10;下載／驗證匯入"/>
          <p:cNvSpPr/>
          <p:nvPr/>
        </p:nvSpPr>
        <p:spPr>
          <a:xfrm>
            <a:off x="4127500" y="4635500"/>
            <a:ext cx="2222500" cy="952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67200" y="475615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③ 管理 Agent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下載／驗證匯入</a:t>
            </a:r>
          </a:p>
        </p:txBody>
      </p:sp>
      <p:sp>
        <p:nvSpPr>
          <p:cNvPr id="53" name="Rounded Rectangle 52" descr="④ 部署人員&#10;選版與放行"/>
          <p:cNvSpPr/>
          <p:nvPr/>
        </p:nvSpPr>
        <p:spPr>
          <a:xfrm>
            <a:off x="6604000" y="4635500"/>
            <a:ext cx="2095500" cy="9525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43700" y="475615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④ 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選版與放行</a:t>
            </a:r>
          </a:p>
        </p:txBody>
      </p:sp>
      <p:sp>
        <p:nvSpPr>
          <p:cNvPr id="55" name="Rounded Rectangle 54" descr="⑤ 部署 Agent&#10;取得授權工作&#10;下載指定版本"/>
          <p:cNvSpPr/>
          <p:nvPr/>
        </p:nvSpPr>
        <p:spPr>
          <a:xfrm>
            <a:off x="9461500" y="2603500"/>
            <a:ext cx="2032000" cy="1206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0" y="2679700"/>
            <a:ext cx="1752600" cy="1054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⑤ 部署 Agent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取得授權工作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下載指定版本</a:t>
            </a:r>
          </a:p>
        </p:txBody>
      </p:sp>
      <p:sp>
        <p:nvSpPr>
          <p:cNvPr id="57" name="Rounded Rectangle 56" descr="Windows 應用&#10;切換／檢查"/>
          <p:cNvSpPr/>
          <p:nvPr/>
        </p:nvSpPr>
        <p:spPr>
          <a:xfrm>
            <a:off x="9461500" y="4635500"/>
            <a:ext cx="20320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0" y="4756150"/>
            <a:ext cx="175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Windows 應用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切換／檢查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1000" y="41783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1000" y="41783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派工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4000" y="3492500"/>
            <a:ext cx="222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4000" y="3492500"/>
            <a:ext cx="222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回存固定版本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接收器與匯入邏輯需實作；管理 Agent 不碰正式主機，每台目標另有部署 Agent。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三分支各自建置；正式環境多一道人工放行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master → SIT；pre-production → UAT；production → Production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4500" y="377825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000" y="37719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604000" y="2565400"/>
            <a:ext cx="0" cy="1206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04000" y="2565400"/>
            <a:ext cx="952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0" y="3778250"/>
            <a:ext cx="1460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96000" y="3771900"/>
            <a:ext cx="254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0000" y="3771900"/>
            <a:ext cx="0" cy="12446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50000" y="50165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52000" y="50165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 descr="GitLab CI&#10;建置固定版本"/>
          <p:cNvSpPr/>
          <p:nvPr/>
        </p:nvSpPr>
        <p:spPr>
          <a:xfrm>
            <a:off x="508000" y="3238500"/>
            <a:ext cx="2476500" cy="1079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422650"/>
            <a:ext cx="219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建置固定版本</a:t>
            </a:r>
          </a:p>
        </p:txBody>
      </p:sp>
      <p:sp>
        <p:nvSpPr>
          <p:cNvPr id="18" name="Diamond 17" descr="來源分支&#10;驗證與分流"/>
          <p:cNvSpPr/>
          <p:nvPr/>
        </p:nvSpPr>
        <p:spPr>
          <a:xfrm>
            <a:off x="3683000" y="3175000"/>
            <a:ext cx="2413000" cy="12065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4950" y="342265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驗證與分流</a:t>
            </a:r>
          </a:p>
        </p:txBody>
      </p:sp>
      <p:sp>
        <p:nvSpPr>
          <p:cNvPr id="20" name="Rounded Rectangle 19" descr="master → SIT&#10;匯入後自動換版"/>
          <p:cNvSpPr/>
          <p:nvPr/>
        </p:nvSpPr>
        <p:spPr>
          <a:xfrm>
            <a:off x="7556500" y="20955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6200" y="22161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 → 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2" name="Rounded Rectangle 21" descr="pre-production → UAT&#10;匯入後自動換版"/>
          <p:cNvSpPr/>
          <p:nvPr/>
        </p:nvSpPr>
        <p:spPr>
          <a:xfrm>
            <a:off x="7556500" y="33020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6200" y="34226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 → 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4" name="Rounded Rectangle 23" descr="production&#10;部署人員選版放行"/>
          <p:cNvSpPr/>
          <p:nvPr/>
        </p:nvSpPr>
        <p:spPr>
          <a:xfrm>
            <a:off x="6921500" y="4508500"/>
            <a:ext cx="27305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1200" y="4660900"/>
            <a:ext cx="2451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部署人員選版放行</a:t>
            </a:r>
          </a:p>
        </p:txBody>
      </p:sp>
      <p:sp>
        <p:nvSpPr>
          <p:cNvPr id="26" name="Rounded Rectangle 25" descr="正式主機&#10;執行換版"/>
          <p:cNvSpPr/>
          <p:nvPr/>
        </p:nvSpPr>
        <p:spPr>
          <a:xfrm>
            <a:off x="10160000" y="4508500"/>
            <a:ext cx="1524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9700" y="4660900"/>
            <a:ext cx="124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成功通知不是正式放行；正式放行綁定確切版本與目標。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v0.6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