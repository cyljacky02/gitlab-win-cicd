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頁，不增加重複圖頁或動畫頁；第 4 頁上半部以 ①～⑧ 說明交付架構，下半部展開單台換版與復原。圖的組織區域、人員與工具分開呈現，詳細閱讀可放大獨立 PDF／draw.io。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本頁管理區改以三段關係說明：「成功通知 → 取得並保存版本 → 人員選版／選目標、確認放行」。這是簡化的業務流程視圖，不是取消中間串接元件；ADO 管理側包含受保護接收器及管理 Build Agent，不能將平台標題誤讀成全部由 ADO Server 本機執行或已有原生 GitLab 直連。技術細節保留於以下備註及研究文件，不要求所有聽眾理解 API、Importer 或 hash。</a:t>
            </a:r>
          </a:p>
          <a:p>
            <a:r>
              <a:t>本頁 v0.7 改為完整架構圖圖片，PPTX 中是高解析圖片，可編輯節點、容器與連線的原檔為 docs/presentations/diagrams/windows-deployment-map.drawio；獨立 PDF 可放大閱讀。圖內主架構與單台換版流程是兩個明確分隔的視圖，不是假裝一張純網路拓樸。圖面研究見 docs/research/end-to-end-architecture-diagram-design.md。</a:t>
            </a:r>
          </a:p>
          <a:p>
            <a:r>
              <a:t>使用者確認：替換第 4 頁；「下 F5／上 F5」分別表示將目標服務退出／恢復負載平衡流量。具體 pool/member、Disabled 或 Forced Offline、連線等待／逾時、F5 操作位置與身分仍待網路及主機團隊確認。不能從圖推論每台 Agent 持有 F5 管理權；實作時需接上受保護、可稽核的維護操作。F5 流量線指向應用，不是 Agent；一台主機可能有多個 pool members，須確認完整範圍。</a:t>
            </a:r>
          </a:p>
          <a:p>
            <a:r>
              <a:t>上半部是交付架構：開發人員 push GitLab CE；GitLab 編排 CI，GitLab Runner 建置／測試並上傳 artifact。GitLab pipeline 成功事件通知受保護接收器，接收器驗證、耐久入列、API 複核後，以 Queue Build REST API 排入固定 importer。接收器與驗證／去重邏輯需實作，不是原生 GitLab artifact connector，也不需要新增 GitLab Runner。</a:t>
            </a:r>
          </a:p>
          <a:p>
            <a:r>
              <a:t>ADO 管理區的 self-hosted Build Agent 重驗專案、pipeline、ref、SHA 與必要品質 jobs，按確切 project/pipeline/job ID 下載 GitLab 產物，驗 ZIP／hash 並保存 manifest，以 PublishBuildArtifacts@1 發布 Server Build Artifacts。不能抓 latest 或使用 Services-only Pipeline Artifacts。GitLab 唯讀憑證只留管理區；管理 Agent、接收器和 CI 都無 Production 存取權。</a:t>
            </a:r>
          </a:p>
          <a:p>
            <a:r>
              <a:t>ADO 全名 Azure DevOps Server；Express 為 POC 起點，Server 2022／REST 7.0 作文件基線。ADO 控制面、版本庫、管理 Agent 是邏輯元件，不等於必須各有一台 VM。這是文件支持的目標設計，不是現況或實機測通的證明。</a:t>
            </a:r>
          </a:p>
          <a:p>
            <a:r>
              <a:t>Production 關閉 artifact 自動 release trigger，授權人員選確切 importer build、應用與目標建立 Classic Release，stage 設 Manual only 與具名 pre-deployment approval；允許同一人發起與放行。任何版本／目標變更須重新放行。分支與部署策略留下一頁說明。</a:t>
            </a:r>
          </a:p>
          <a:p>
            <a:r>
              <a:t>放行後，各 Windows Target 上的專用 Deployment Group Agent 才取指定工作與產物，在本機執行受保護的部署腳本。Agent 主動連 ADO 取工作；派工箭頭不代表 Server 主動登入 Windows。放行前不得預拷，包含 Production Agent 工作目錄。管理 Agent 與目標 Agent 必須隔離帳號、pool／Deployment Group、主機與憑證，不能執行開發者提供的特權部署腳本。</a:t>
            </a:r>
          </a:p>
          <a:p>
            <a:r>
              <a:t>Production 圖示 01、02、…、N，可涵蓋數十台主機；不代表所有主機同時換版，也不是 Agent 互相傳檔。暫建議逐台或受控分批，健康後繼續，任一失敗停止後續目標；批次大小、最低容量、先前成功目標是否回復仍待確認。不承諾零停機或跨主機原子交易。</a:t>
            </a:r>
          </a:p>
          <a:p>
            <a:r>
              <a:t>下半部更新為白話版並統一使用 ①～⑧ 圈號：① 取得已放行版本 → ② 下 F5 → ③ 停止服務 → ④ 備份舊版本 → ⑤ 安裝新版本 → ⑥ 重啟服務 → ⑦ 服務正常？ → ⑧ 上 F5。失敗路徑是還原舊版本、重啟與再檢查；成功恢復後仍記本次換版失敗。原本的鎖、前置閘門、有效備份、流量狀態核對與例外要求仍需實作，僅不放進主流程的長標籤。Agent／主機失聯不是同一個 Agent 能保證自動復原的情況，須另有監控及受控人工／獨立復原手段。</a:t>
            </a:r>
          </a:p>
          <a:p>
            <a:r>
              <a:t>下半部對每個核准目標重複：放行後下載／驗證、部署鎖與前置檢查 → 下 F5 並確認流量隔離條件 → 停止服務 → 備份目前版本 → 執行換版 → 重啟服務 → 檢查狀態。正常才上 F5，確認恢復成功後記錄新版本完成。</a:t>
            </a:r>
          </a:p>
          <a:p>
            <a:r>
              <a:t>換版、啟動或健康檢查失敗時，保持隔離，依受控腳本停止失敗版本、回復有效備份、重啟，再做復原健康檢查；正常才上 F5 並記錄「換版失敗、復原成功」，不能記為新版本部署成功。復原不健康或無可用備份時，保持隔離、停止後續換版、告警並交人員處理。</a:t>
            </a:r>
          </a:p>
          <a:p>
            <a:r>
              <a:t>下 F5／隔離確認失敗時不能繼續停止服務；停止或備份失敗時不能覆寫版本，由受控復原／人工程序決定後續。上 F5 操作或確認失敗不能算完成。檔案備份不等於資料庫回復，資料相容與復原另行設計。服務停止／重啟需依 IIS／Windows Service 細化。備份與復原腳本必須演練，ADO／Agent 不自動提供完整應用復原。</a:t>
            </a:r>
          </a:p>
          <a:p>
            <a:r>
              <a:t>安全與可靠性驗收：測試 PAT／definition ACL／群組繼承、queue 參數與來源覆寫、build service／OS 身分、特權腳本保護；測試事件偽造、重送、晚到舊版本、Queue 回應遺失、產物到期、零預拷、拒絕或復原失敗時不恢復流量。版本、人員、目標、hash 與結果可追溯。</a:t>
            </a:r>
          </a:p>
          <a:p>
            <a:r>
              <a:t>完整串接依據：docs/research/gitlab-ado-event-trigger.md。</a:t>
            </a:r>
          </a:p>
          <a:p>
            <a:r>
              <a:t>換版／復原可行性查核：docs/research/windows-release-recovery-feasibility.md。官方支援核准、指定 Build Artifact、Deployment Group 與 PowerShell／失敗條件，但不內建本案完整 rollback。POC 建議受保護 PowerShell 控制腳本換版失敗時嘗試復原，復原成功也保留原部署 failed；不要在 finally 無條件上 F5。Agent／主機失聯時需獨立監控及復原手段。限制同時部署比例不等於保證失敗停止所有後續主機；初期採單台 canary，下一台另設成功相依／人工放行，正式 fail-stop 需驗證或受控編排。匯入完成後，部署與退版不必再回 GitLab 取 latest。上述為文件查證，未完成實機 POC。</a:t>
            </a:r>
          </a:p>
          <a:p>
            <a:r>
              <a:t>https://c4model.com/diagrams/notation</a:t>
            </a:r>
          </a:p>
          <a:p>
            <a:r>
              <a:t>https://learn.microsoft.com/en-us/azure/well-architected/architect-role/design-diagrams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https://learn.microsoft.com/en-us/azure/devops/pipelines/release/deployment-groups/?view=azure-devops-2022</a:t>
            </a:r>
          </a:p>
          <a:p>
            <a:r>
              <a:t>https://techdocs.f5.com/kb/en-us/products/big-ip_ltm/manuals/product/big-ip-local-traffic-management-basics-14-0-0/05.html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本頁改以「分支 → 對應 CI/CD pipeline → 換版策略」說明，不再限制為固定三分支。保留 master／SIT、pre-production／UAT 的目前規劃；正式分支可能包括 production、production-bq1、production-bq2、production-nh 等。這些是平行分支名稱，不是 Git 分支內的子分支，不推定名稱所代表的地點。正式分支合併一列不代表共用同一個 pipeline；不同分支可有不同建置、測試、產物、目標集合、逐台／分批、F5／服務操作及復原程序，實際映射待確認。各分支各自建置，不宣稱同一產物跨環境晉升。</a:t>
            </a:r>
          </a:p>
          <a:p>
            <a:r>
              <a:t>圖為邏輯 CI/CD 流程，不宣稱 GitLab 原生編排 ADO，亦不要求每分支獨立 YAML。初版三組固定 importer／Release 是實作例，擴充分支須同步調整精確來源允許清單、受保護的目標與策略映射；不可自動信任任何 production 前綴。GitLab API 複核專案、精確 ref、pipeline source、SHA 及必要 jobs，不信任事件或參數自稱的環境。正式分支仍須指定人員選確切版本與目標放行。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本頁是換版與復原概覽；完整的下 F5、停服務、備份、換版、重啟、健康檢查、恢復流量及復原失敗分支已展開於第 4 頁。復原健康才回池，復原成功仍屬換版失敗，不記新版本部署完成。保留並調整舊版第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03｜分支與部署策略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正式部署：從提交程式碼到多機換版與復原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ndows 正式部署端到端架構：開發人員提交 GitLab，Runner 建置測試；成功後透過串接通知 ADO，管理側下載並保存可選版本，部署人員選版、選目標並放行，由多台 Windows Target 的 Agent 執行；下方展開 F5 換版與復原流程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不同分支，可以有不同的 CI/CD 與換版方式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來源分支 → 對應 pipeline → 部署策略；以下為示意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99000" y="25082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28000" y="25082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99000" y="35877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28000" y="35877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99000" y="49530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28000" y="49530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 descr="master"/>
          <p:cNvSpPr/>
          <p:nvPr/>
        </p:nvSpPr>
        <p:spPr>
          <a:xfrm>
            <a:off x="508000" y="2095500"/>
            <a:ext cx="4191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2324100"/>
            <a:ext cx="3911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</a:t>
            </a:r>
          </a:p>
        </p:txBody>
      </p:sp>
      <p:sp>
        <p:nvSpPr>
          <p:cNvPr id="15" name="Rounded Rectangle 14" descr="pre-production"/>
          <p:cNvSpPr/>
          <p:nvPr/>
        </p:nvSpPr>
        <p:spPr>
          <a:xfrm>
            <a:off x="508000" y="3175000"/>
            <a:ext cx="4191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3403600"/>
            <a:ext cx="3911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</a:t>
            </a:r>
          </a:p>
        </p:txBody>
      </p:sp>
      <p:sp>
        <p:nvSpPr>
          <p:cNvPr id="17" name="Rounded Rectangle 16" descr="production / production-bq1&#10;production-bq2 / production-nh&#10;…（正式分支示例）"/>
          <p:cNvSpPr/>
          <p:nvPr/>
        </p:nvSpPr>
        <p:spPr>
          <a:xfrm>
            <a:off x="508000" y="4254500"/>
            <a:ext cx="4191000" cy="1397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4438808"/>
            <a:ext cx="3911600" cy="10283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production / production-bq1</a:t>
            </a:r>
          </a:p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production-bq2 / production-nh</a:t>
            </a:r>
          </a:p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…（正式分支示例）</a:t>
            </a:r>
          </a:p>
        </p:txBody>
      </p:sp>
      <p:sp>
        <p:nvSpPr>
          <p:cNvPr id="19" name="Rounded Rectangle 18" descr="SIT pipeline"/>
          <p:cNvSpPr/>
          <p:nvPr/>
        </p:nvSpPr>
        <p:spPr>
          <a:xfrm>
            <a:off x="5270500" y="2095500"/>
            <a:ext cx="28575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0200" y="2324100"/>
            <a:ext cx="2578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SIT pipeline</a:t>
            </a:r>
          </a:p>
        </p:txBody>
      </p:sp>
      <p:sp>
        <p:nvSpPr>
          <p:cNvPr id="21" name="Rounded Rectangle 20" descr="UAT pipeline"/>
          <p:cNvSpPr/>
          <p:nvPr/>
        </p:nvSpPr>
        <p:spPr>
          <a:xfrm>
            <a:off x="5270500" y="3175000"/>
            <a:ext cx="28575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3403600"/>
            <a:ext cx="2578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UAT pipeline</a:t>
            </a:r>
          </a:p>
        </p:txBody>
      </p:sp>
      <p:sp>
        <p:nvSpPr>
          <p:cNvPr id="23" name="Rounded Rectangle 22" descr="各正式分支&#10;對應的 pipeline"/>
          <p:cNvSpPr/>
          <p:nvPr/>
        </p:nvSpPr>
        <p:spPr>
          <a:xfrm>
            <a:off x="5270500" y="4254500"/>
            <a:ext cx="2857500" cy="1397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0200" y="4597400"/>
            <a:ext cx="257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各正式分支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對應的 pipeline</a:t>
            </a:r>
          </a:p>
        </p:txBody>
      </p:sp>
      <p:sp>
        <p:nvSpPr>
          <p:cNvPr id="25" name="Rounded Rectangle 24" descr="SIT｜可自動換版"/>
          <p:cNvSpPr/>
          <p:nvPr/>
        </p:nvSpPr>
        <p:spPr>
          <a:xfrm>
            <a:off x="8699500" y="2095500"/>
            <a:ext cx="2984500" cy="825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39200" y="2324100"/>
            <a:ext cx="2705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SIT｜可自動換版</a:t>
            </a:r>
          </a:p>
        </p:txBody>
      </p:sp>
      <p:sp>
        <p:nvSpPr>
          <p:cNvPr id="27" name="Rounded Rectangle 26" descr="UAT｜可自動換版"/>
          <p:cNvSpPr/>
          <p:nvPr/>
        </p:nvSpPr>
        <p:spPr>
          <a:xfrm>
            <a:off x="8699500" y="3175000"/>
            <a:ext cx="2984500" cy="825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9200" y="3403600"/>
            <a:ext cx="2705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UAT｜可自動換版</a:t>
            </a:r>
          </a:p>
        </p:txBody>
      </p:sp>
      <p:sp>
        <p:nvSpPr>
          <p:cNvPr id="29" name="Rounded Rectangle 28" descr="正式｜授權後換版&#10;依目標採不同策略"/>
          <p:cNvSpPr/>
          <p:nvPr/>
        </p:nvSpPr>
        <p:spPr>
          <a:xfrm>
            <a:off x="8699500" y="4254500"/>
            <a:ext cx="2984500" cy="1397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4597400"/>
            <a:ext cx="2705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正式｜授權後換版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依目標採不同策略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分支可採不同建置、測試、目標與換版機制；正式部署仍須授權。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