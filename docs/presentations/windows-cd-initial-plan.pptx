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 7 頁：封面、議程、5 頁內容（包含最後的建議時程），無附錄。僅討論 Azure DevOps Server；Express 是 POC 起點，不代表最終採購決策。保留 GitLab CE 作版本控制與 CI。其他部門已有 ADO 運行先例，是使用者提供的背景，不是本案整合或合規已通過的證據。12/31 年份未指定，不自行補年份。產品能力依官方文件查證，尚未完成本架構的實機驗證。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先交代開發端直接送檔的方案為何不可行，再用同一張完整架構圖依編號說明。為守住總共 7 頁，不增加重複圖頁或動畫頁；第 4 頁上半部以 ①～⑧ 說明交付架構，下半部展開單台換版與復原。圖的組織區域、人員與工具分開呈現，詳細閱讀可放大獨立 PDF／draw.io。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本頁合併舊版第 2、3 頁。只送檔、不執行換版的提案已被否決，原因是正式主機僅允許指定部門存取，複製檔案也屬存取；不是技術做不到，也不是宣稱 GitLab CE 沒有權限控制。虛線代表禁止路徑。現有 Container 鏈 GitLab → Harbor → Argo CD → OCP／Docker 可作責任分工類比，本案補上 Windows 的受控部署流程，不要求使用相同工具。建置端不能透過共用目錄、帳號或中繼腳本繞過 Production 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本頁管理區改以三段關係說明：「成功通知 → 取得並保存版本 → 人員選版／選目標、確認放行」。這是簡化的業務流程視圖，不是取消中間串接元件；ADO 管理側包含受保護接收器及管理 Build Agent，不能將平台標題誤讀成全部由 ADO Server 本機執行或已有原生 GitLab 直連。技術細節保留於以下備註及研究文件，不要求所有聽眾理解 API、Importer 或 hash。</a:t>
            </a:r>
          </a:p>
          <a:p>
            <a:r>
              <a:t>本頁 v0.7 改為完整架構圖圖片，PPTX 中是高解析圖片，可編輯節點、容器與連線的原檔為 docs/presentations/diagrams/windows-deployment-map.drawio；獨立 PDF 可放大閱讀。圖內主架構與單台換版流程是兩個明確分隔的視圖，不是假裝一張純網路拓樸。圖面研究見 docs/research/end-to-end-architecture-diagram-design.md。</a:t>
            </a:r>
          </a:p>
          <a:p>
            <a:r>
              <a:t>使用者確認：替換第 4 頁；「下 F5／上 F5」分別表示將目標服務退出／恢復負載平衡流量。具體 pool/member、Disabled 或 Forced Offline、連線等待／逾時、F5 操作位置與身分仍待網路及主機團隊確認。不能從圖推論每台 Agent 持有 F5 管理權；實作時需接上受保護、可稽核的維護操作。F5 流量線指向應用，不是 Agent；一台主機可能有多個 pool members，須確認完整範圍。</a:t>
            </a:r>
          </a:p>
          <a:p>
            <a:r>
              <a:t>上半部是交付架構：開發人員 push GitLab CE；GitLab 編排 CI，GitLab Runner 建置／測試並上傳 artifact。GitLab pipeline 成功事件通知受保護接收器，接收器驗證、耐久入列、API 複核後，以 Queue Build REST API 排入固定 importer。接收器與驗證／去重邏輯需實作，不是原生 GitLab artifact connector，也不需要新增 GitLab Runner。</a:t>
            </a:r>
          </a:p>
          <a:p>
            <a:r>
              <a:t>ADO 管理區的 self-hosted Build Agent 重驗專案、pipeline、ref、SHA 與必要品質 jobs，按確切 project/pipeline/job ID 下載 GitLab 產物，驗 ZIP／hash 並保存 manifest，以 PublishBuildArtifacts@1 發布 Server Build Artifacts。不能抓 latest 或使用 Services-only Pipeline Artifacts。GitLab 唯讀憑證只留管理區；管理 Agent、接收器和 CI 都無 Production 存取權。</a:t>
            </a:r>
          </a:p>
          <a:p>
            <a:r>
              <a:t>ADO 全名 Azure DevOps Server；Express 為 POC 起點，Server 2022／REST 7.0 作文件基線。ADO 控制面、版本庫、管理 Agent 是邏輯元件，不等於必須各有一台 VM。這是文件支持的目標設計，不是現況或實機測通的證明。</a:t>
            </a:r>
          </a:p>
          <a:p>
            <a:r>
              <a:t>Production 關閉 artifact 自動 release trigger，授權人員選確切 importer build、應用與目標建立 Classic Release，stage 設 Manual only 與具名 pre-deployment approval；允許同一人發起與放行。任何版本／目標變更須重新放行。SIT/UAT 的三分支分流留下一頁說明。</a:t>
            </a:r>
          </a:p>
          <a:p>
            <a:r>
              <a:t>放行後，各 Windows Target 上的專用 Deployment Group Agent 才取指定工作與產物，在本機執行受保護的部署腳本。Agent 主動連 ADO 取工作；派工箭頭不代表 Server 主動登入 Windows。放行前不得預拷，包含 Production Agent 工作目錄。管理 Agent 與目標 Agent 必須隔離帳號、pool／Deployment Group、主機與憑證，不能執行開發者提供的特權部署腳本。</a:t>
            </a:r>
          </a:p>
          <a:p>
            <a:r>
              <a:t>Production 圖示 01、02、…、N，可涵蓋數十台主機；不代表所有主機同時換版，也不是 Agent 互相傳檔。暫建議逐台或受控分批，健康後繼續，任一失敗停止後續目標；批次大小、最低容量、先前成功目標是否回復仍待確認。不承諾零停機或跨主機原子交易。</a:t>
            </a:r>
          </a:p>
          <a:p>
            <a:r>
              <a:t>下半部對每個核准目標重複：放行後下載／驗證、部署鎖與前置檢查 → 下 F5 並確認流量隔離條件 → 停止服務 → 備份目前版本 → 執行換版 → 重啟服務 → 檢查狀態。正常才上 F5，確認恢復成功後記錄新版本完成。</a:t>
            </a:r>
          </a:p>
          <a:p>
            <a:r>
              <a:t>換版、啟動或健康檢查失敗時，保持隔離，依受控腳本停止失敗版本、回復有效備份、重啟，再做復原健康檢查；正常才上 F5 並記錄「換版失敗、復原成功」，不能記為新版本部署成功。復原不健康或無可用備份時，保持隔離、停止後續換版、告警並交人員處理。</a:t>
            </a:r>
          </a:p>
          <a:p>
            <a:r>
              <a:t>下 F5／隔離確認失敗時不能繼續停止服務；停止或備份失敗時不能覆寫版本，由受控復原／人工程序決定後續。上 F5 操作或確認失敗不能算完成。檔案備份不等於資料庫回復，資料相容與復原另行設計。服務停止／重啟需依 IIS／Windows Service 細化。備份與復原腳本必須演練，ADO／Agent 不自動提供完整應用復原。</a:t>
            </a:r>
          </a:p>
          <a:p>
            <a:r>
              <a:t>安全與可靠性驗收：測試 PAT／definition ACL／群組繼承、queue 參數與來源覆寫、build service／OS 身分、特權腳本保護；測試事件偽造、重送、晚到舊版本、Queue 回應遺失、產物到期、零預拷、拒絕或復原失敗時不恢復流量。版本、人員、目標、hash 與結果可追溯。</a:t>
            </a:r>
          </a:p>
          <a:p>
            <a:r>
              <a:t>完整串接依據：docs/research/gitlab-ado-event-trigger.md。</a:t>
            </a:r>
          </a:p>
          <a:p>
            <a:r>
              <a:t>https://c4model.com/diagrams/notation</a:t>
            </a:r>
          </a:p>
          <a:p>
            <a:r>
              <a:t>https://learn.microsoft.com/en-us/azure/well-architected/architect-role/design-diagrams</a:t>
            </a:r>
          </a:p>
          <a:p>
            <a:r>
              <a:t>https://docs.gitlab.com/user/project/integrations/webhook_events/#pipeline-events</a:t>
            </a:r>
          </a:p>
          <a:p>
            <a:r>
              <a:t>https://learn.microsoft.com/en-us/rest/api/azure/devops/build/builds/queue?view=azure-devops-rest-7.0</a:t>
            </a:r>
          </a:p>
          <a:p>
            <a:r>
              <a:t>https://learn.microsoft.com/en-us/azure/devops/pipelines/release/deployment-groups/?view=azure-devops-2022</a:t>
            </a:r>
          </a:p>
          <a:p>
            <a:r>
              <a:t>https://techdocs.f5.com/kb/en-us/products/big-ip_ltm/manuals/product/big-ip-local-traffic-management-basics-14-0-0/05.html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保留舊版第 5 頁的三分支映射。三個分支各自建置，不主張同一份內容由 UAT 晉升 Production。接收器與 importer 用 GitLab API 複核固定專案、精確 ref、pipeline source=push、非 tag、SHA、成功狀態與必要 jobs，再路由到三組固定 importer＋單環境 Classic Release。Webhook 與 queue 參數只是提示，不是可信任的環境判斷。</a:t>
            </a:r>
          </a:p>
          <a:p>
            <a:r>
              <a:t>ADO importer 儲存串接程式的 repository branch（例如 main）不等於 GitLab 來源分支；不得以 ADO Build.SourceBranch 或原生 build branch filter 推論來源環境。SIT/UAT 自動觸發，Production 關閉 artifact 自動 release trigger，授權人員選固定 importer build 建立 release、手動 stage 並通過 pre-deployment approval。開發者不能編輯部署定義、批准者或 Agent 資源繞過控制；只限制手動 Deploy 按鈕並不足夠。單人放行並執行符合目前需求。</a:t>
            </a:r>
          </a:p>
          <a:p>
            <a:r>
              <a:t>https://learn.microsoft.com/en-us/azure/devops/pipelines/release/triggers?view=azure-devops-2022</a:t>
            </a:r>
          </a:p>
          <a:p>
            <a:r>
              <a:t>https://learn.microsoft.com/en-us/azure/devops/pipelines/release/approvals/approvals?view=azure-devops-2022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本頁是換版與復原概覽；完整的下 F5、停服務、備份、換版、重啟、健康檢查、恢復流量及復原失敗分支已展開於第 4 頁。復原健康才回池，復原成功仍屬換版失敗，不記新版本部署完成。保留並調整舊版第 9 頁。放行前產物只在管理區保存，不能預拷到 Production（包含 Agent 工作目錄）；放行後部署 Agent 取固定 importer build 的 artifact，重新核對內容 hash，保存目前版本與復原資料，再依 IIS／Windows Service 的需求停止或切換、套用環境設定、啟動及健康驗證。不承諾零停機或跨主機原子交易。</a:t>
            </a:r>
          </a:p>
          <a:p>
            <a:r>
              <a:t>換版或健康檢查失敗時，依事先驗證的腳本回復前一可用版本並檢查；復原失敗則停止並通知負責人，不能記為成功。資料庫／資料格式變更須另設相容與資料復原方案，不能把回復程式檔案等同資料回滾。多台逐台執行、失敗停止後續換版，是否回復已成功目標由授權人員依既定程序決定。部署鎖避免同一目標衝突，晚到舊版本不可自動降版；顯式授權的回復另留紀錄。Agent 與 ADO 不會自動提供應用程式專用的復原，腳本、資料保留及演練必須實作。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依使用者授權提出暫定階段，不是跨部門承諾。截止目標是 12/31，年份未指定，階段起迄日、工期、資源與正式核准均待共同確認。若必要驗收未通過，應調整範圍／資源或重新協調時程，不能因日期目標繞過上線門檻。</a:t>
            </a:r>
          </a:p>
          <a:p>
            <a:r>
              <a:t>01 POC：使用隔離的 Express 評估環境，驗證 success webhook、受控 importer、最小 ACL、Production 零預拷、三分支分流與失敗復原。此處先使用評估環境，02 才與主機／Server 團隊（架構部門）協調受管理的 ADO 安裝，不暗示尚未安裝就可跑 POC。</a:t>
            </a:r>
          </a:p>
          <a:p>
            <a:r>
              <a:t>02 協調：確認架構、主機、網路／TLS、服務帳號、管理責任、備份與監控；Express 僅為 POC 起點，正式版本另行確認。</a:t>
            </a:r>
          </a:p>
          <a:p>
            <a:r>
              <a:t>03 整合：完成受保護接收器、管理 Agent、固定 importer／Release、目標 Agents、產物保留與稽核串接。</a:t>
            </a:r>
          </a:p>
          <a:p>
            <a:r>
              <a:t>04 SIT：三環境路由、偽造事件拒絕、重送／亂序／中斷復原、版本一致性與權限負向測試。</a:t>
            </a:r>
          </a:p>
          <a:p>
            <a:r>
              <a:t>05 UAT：由授權部署人員驗收選版放行、操作紀錄與實際應用的回復演練。</a:t>
            </a:r>
          </a:p>
          <a:p>
            <a:r>
              <a:t>06 Production：依組織程序取得上線批准，先試辦再觀察；目標 12/31，不代表目前已批准。所有詳細 go/no-go 條件見 docs/research/gitlab-ado-event-trigger.md。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8CCD6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447800"/>
            <a:ext cx="863600" cy="63500"/>
          </a:xfrm>
          <a:prstGeom prst="rect">
            <a:avLst/>
          </a:prstGeom>
          <a:solidFill>
            <a:srgbClr val="40B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1841500"/>
            <a:ext cx="11049000" cy="779780"/>
          </a:xfrm>
        </p:spPr>
        <p:txBody>
          <a:bodyPr lIns="0" rIns="0" tIns="0" bIns="0" wrap="none" anchor="t"/>
          <a:lstStyle/>
          <a:p>
            <a:pPr algn="l">
              <a:lnSpc>
                <a:spcPts val="594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Windows 正式部署治理計劃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2984500"/>
            <a:ext cx="10795000" cy="436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3E4EB"/>
                </a:solidFill>
                <a:latin typeface="Microsoft JhengHei"/>
              </a:defRPr>
            </a:pPr>
            <a:r>
              <a:t>保留 GitLab 建置，讓正式換版由授權部門掌握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4318000"/>
            <a:ext cx="10795000" cy="41973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Microsoft JhengHei"/>
              </a:defRPr>
            </a:pPr>
            <a:r>
              <a:t>Azure DevOps Server 導入提案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48895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Express 作為 POC 起點｜正式版本另行確認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53340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跨部門討論稿｜目標 12/31，時程待共同確認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365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今天看五件事：原因、架構、環境、換版與時程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先對齊責任邊界，再確認如何導入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200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為什麼改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01｜正式主機存取限制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02｜建置到部署的完整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架構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9533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9533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2733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如何運作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0033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533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03｜三分支、三環境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0033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533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04｜授權換版與失敗復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1066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1066" y="2413000"/>
            <a:ext cx="3572933" cy="50800"/>
          </a:xfrm>
          <a:prstGeom prst="rect">
            <a:avLst/>
          </a:prstGeom>
          <a:solidFill>
            <a:srgbClr val="C57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4266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1566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2066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05｜POC 到正式上線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1566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2066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以 12/31 為目標倒排里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只送檔、不換版，仍然越過正式主機存取邊界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原方案已否決：建置端不能直接碰正式主機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5334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5334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5029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開發部門：建置候選版本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3500" y="2095500"/>
            <a:ext cx="52705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3500" y="2095500"/>
            <a:ext cx="52705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900" y="2146300"/>
            <a:ext cx="49657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正式環境：僅指定部門可存取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21000" y="38100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88000" y="3810000"/>
            <a:ext cx="1968500" cy="0"/>
          </a:xfrm>
          <a:prstGeom prst="line">
            <a:avLst/>
          </a:prstGeom>
          <a:ln w="25400">
            <a:solidFill>
              <a:srgbClr val="A6303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 descr="開發人員&#10;提交程式碼"/>
          <p:cNvSpPr/>
          <p:nvPr/>
        </p:nvSpPr>
        <p:spPr>
          <a:xfrm>
            <a:off x="762000" y="3302000"/>
            <a:ext cx="21590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54400"/>
            <a:ext cx="1879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開發人員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提交程式碼</a:t>
            </a:r>
          </a:p>
        </p:txBody>
      </p:sp>
      <p:sp>
        <p:nvSpPr>
          <p:cNvPr id="17" name="Rounded Rectangle 16" descr="GitLab Runner&#10;建置／測試"/>
          <p:cNvSpPr/>
          <p:nvPr/>
        </p:nvSpPr>
        <p:spPr>
          <a:xfrm>
            <a:off x="3365500" y="3302000"/>
            <a:ext cx="22225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5200" y="3454400"/>
            <a:ext cx="1943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Runner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建置／測試</a:t>
            </a:r>
          </a:p>
        </p:txBody>
      </p:sp>
      <p:sp>
        <p:nvSpPr>
          <p:cNvPr id="19" name="Rounded Rectangle 18" descr="Production 主機&#10;送檔也算存取"/>
          <p:cNvSpPr/>
          <p:nvPr/>
        </p:nvSpPr>
        <p:spPr>
          <a:xfrm>
            <a:off x="7556500" y="3302000"/>
            <a:ext cx="3746500" cy="1016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6200" y="3454400"/>
            <a:ext cx="346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Production 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送檔也算存取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6100" y="2794000"/>
            <a:ext cx="1968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6100" y="2794000"/>
            <a:ext cx="1968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22A2A"/>
                </a:solidFill>
                <a:latin typeface="Microsoft JhengHei"/>
              </a:defRPr>
            </a:pPr>
            <a:r>
              <a:t>禁止直接送檔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保留建置自動化；檔案送入正式主機與換版，都改由授權流程執行。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正式部署：從提交程式碼到多機換版與復原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indows 正式部署端到端架構：開發人員提交 GitLab，Runner 建置測試；成功後透過串接通知 ADO，管理側下載並保存可選版本，部署人員選版、選目標並放行，由多台 Windows Target 的 Agent 執行；下方展開 F5 換版與復原流程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三分支各自建置；正式環境多一道人工放行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master → SIT；pre-production → UAT；production → Production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84500" y="3778250"/>
            <a:ext cx="698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96000" y="3771900"/>
            <a:ext cx="508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604000" y="2565400"/>
            <a:ext cx="0" cy="1206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04000" y="2565400"/>
            <a:ext cx="9525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6000" y="3778250"/>
            <a:ext cx="1460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096000" y="3771900"/>
            <a:ext cx="254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350000" y="3771900"/>
            <a:ext cx="0" cy="12446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50000" y="501650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52000" y="50165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 descr="GitLab CI&#10;建置固定版本"/>
          <p:cNvSpPr/>
          <p:nvPr/>
        </p:nvSpPr>
        <p:spPr>
          <a:xfrm>
            <a:off x="508000" y="3238500"/>
            <a:ext cx="2476500" cy="1079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3422650"/>
            <a:ext cx="219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CI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建置固定版本</a:t>
            </a:r>
          </a:p>
        </p:txBody>
      </p:sp>
      <p:sp>
        <p:nvSpPr>
          <p:cNvPr id="18" name="Diamond 17" descr="來源分支&#10;驗證與分流"/>
          <p:cNvSpPr/>
          <p:nvPr/>
        </p:nvSpPr>
        <p:spPr>
          <a:xfrm>
            <a:off x="3683000" y="3175000"/>
            <a:ext cx="2413000" cy="12065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4950" y="342265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來源分支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驗證與分流</a:t>
            </a:r>
          </a:p>
        </p:txBody>
      </p:sp>
      <p:sp>
        <p:nvSpPr>
          <p:cNvPr id="20" name="Rounded Rectangle 19" descr="master → SIT&#10;匯入後自動換版"/>
          <p:cNvSpPr/>
          <p:nvPr/>
        </p:nvSpPr>
        <p:spPr>
          <a:xfrm>
            <a:off x="7556500" y="20955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6200" y="22161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master → 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匯入後自動換版</a:t>
            </a:r>
          </a:p>
        </p:txBody>
      </p:sp>
      <p:sp>
        <p:nvSpPr>
          <p:cNvPr id="22" name="Rounded Rectangle 21" descr="pre-production → UAT&#10;匯入後自動換版"/>
          <p:cNvSpPr/>
          <p:nvPr/>
        </p:nvSpPr>
        <p:spPr>
          <a:xfrm>
            <a:off x="7556500" y="33020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6200" y="34226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pre-production → 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匯入後自動換版</a:t>
            </a:r>
          </a:p>
        </p:txBody>
      </p:sp>
      <p:sp>
        <p:nvSpPr>
          <p:cNvPr id="24" name="Rounded Rectangle 23" descr="production&#10;部署人員選版放行"/>
          <p:cNvSpPr/>
          <p:nvPr/>
        </p:nvSpPr>
        <p:spPr>
          <a:xfrm>
            <a:off x="6921500" y="4508500"/>
            <a:ext cx="27305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1200" y="4660900"/>
            <a:ext cx="2451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部署人員選版放行</a:t>
            </a:r>
          </a:p>
        </p:txBody>
      </p:sp>
      <p:sp>
        <p:nvSpPr>
          <p:cNvPr id="26" name="Rounded Rectangle 25" descr="正式主機&#10;執行換版"/>
          <p:cNvSpPr/>
          <p:nvPr/>
        </p:nvSpPr>
        <p:spPr>
          <a:xfrm>
            <a:off x="10160000" y="4508500"/>
            <a:ext cx="1524000" cy="1016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99700" y="4660900"/>
            <a:ext cx="124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正式主機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成功通知不是正式放行；正式放行綁定確切版本與目標。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放行後才送入正式主機，換版失敗須能復原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固定版本 → 準備檔案 → 切換 → 健康檢查 → 留存結果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94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588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2000" y="3175000"/>
            <a:ext cx="889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477500" y="3810000"/>
            <a:ext cx="0" cy="825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77500" y="3810000"/>
            <a:ext cx="0" cy="444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493000" y="4254500"/>
            <a:ext cx="29845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93000" y="4254500"/>
            <a:ext cx="0" cy="381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 descr="部署人員&#10;選版並放行"/>
          <p:cNvSpPr/>
          <p:nvPr/>
        </p:nvSpPr>
        <p:spPr>
          <a:xfrm>
            <a:off x="508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選版並放行</a:t>
            </a:r>
          </a:p>
        </p:txBody>
      </p:sp>
      <p:sp>
        <p:nvSpPr>
          <p:cNvPr id="16" name="Rounded Rectangle 15" descr="Agent 取檔&#10;驗證版本內容"/>
          <p:cNvSpPr/>
          <p:nvPr/>
        </p:nvSpPr>
        <p:spPr>
          <a:xfrm>
            <a:off x="3302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1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Agent 取檔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驗證版本內容</a:t>
            </a:r>
          </a:p>
        </p:txBody>
      </p:sp>
      <p:sp>
        <p:nvSpPr>
          <p:cNvPr id="18" name="Rounded Rectangle 17" descr="執行換版&#10;切換程式版本"/>
          <p:cNvSpPr/>
          <p:nvPr/>
        </p:nvSpPr>
        <p:spPr>
          <a:xfrm>
            <a:off x="6096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5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切換程式版本</a:t>
            </a:r>
          </a:p>
        </p:txBody>
      </p:sp>
      <p:sp>
        <p:nvSpPr>
          <p:cNvPr id="20" name="Diamond 19" descr="健康檢查&#10;是否正常？"/>
          <p:cNvSpPr/>
          <p:nvPr/>
        </p:nvSpPr>
        <p:spPr>
          <a:xfrm>
            <a:off x="9271000" y="2540000"/>
            <a:ext cx="2413000" cy="12700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32950" y="281940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健康檢查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是否正常？</a:t>
            </a:r>
          </a:p>
        </p:txBody>
      </p:sp>
      <p:sp>
        <p:nvSpPr>
          <p:cNvPr id="22" name="Rounded Rectangle 21" descr="換版完成&#10;留存執行紀錄"/>
          <p:cNvSpPr/>
          <p:nvPr/>
        </p:nvSpPr>
        <p:spPr>
          <a:xfrm>
            <a:off x="9588500" y="4635500"/>
            <a:ext cx="2095500" cy="889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8200" y="4724400"/>
            <a:ext cx="1816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換版完成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留存執行紀錄</a:t>
            </a:r>
          </a:p>
        </p:txBody>
      </p:sp>
      <p:sp>
        <p:nvSpPr>
          <p:cNvPr id="24" name="Rounded Rectangle 23" descr="回復前一版本&#10;檢查復原結果"/>
          <p:cNvSpPr/>
          <p:nvPr/>
        </p:nvSpPr>
        <p:spPr>
          <a:xfrm>
            <a:off x="6096000" y="4635500"/>
            <a:ext cx="2794000" cy="889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5700" y="4724400"/>
            <a:ext cx="251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回復前一版本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檢查復原結果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29900" y="4038600"/>
            <a:ext cx="952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9900" y="4038600"/>
            <a:ext cx="952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正常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5600" y="3848100"/>
            <a:ext cx="1143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5600" y="3848100"/>
            <a:ext cx="1143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異常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每台主機由部署 Agent 執行受控腳本；記錄人員、版本、目標與結果。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建議以 12/31 為目標，逐關驗證後再正式上線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暫定里程碑順序；各階段日期與資源由相關部門共同確認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10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47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033000" y="3429000"/>
            <a:ext cx="0" cy="889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747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810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 descr="01｜POC&#10;驗證通知與權限"/>
          <p:cNvSpPr/>
          <p:nvPr/>
        </p:nvSpPr>
        <p:spPr>
          <a:xfrm>
            <a:off x="508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01｜POC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驗證通知與權限</a:t>
            </a:r>
          </a:p>
        </p:txBody>
      </p:sp>
      <p:sp>
        <p:nvSpPr>
          <p:cNvPr id="14" name="Rounded Rectangle 13" descr="02｜協調架構部門&#10;安裝／配置 ADO"/>
          <p:cNvSpPr/>
          <p:nvPr/>
        </p:nvSpPr>
        <p:spPr>
          <a:xfrm>
            <a:off x="4445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4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02｜協調架構部門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安裝／配置 ADO</a:t>
            </a:r>
          </a:p>
        </p:txBody>
      </p:sp>
      <p:sp>
        <p:nvSpPr>
          <p:cNvPr id="16" name="Rounded Rectangle 15" descr="03｜整合 GitLab&#10;串接通知與產物"/>
          <p:cNvSpPr/>
          <p:nvPr/>
        </p:nvSpPr>
        <p:spPr>
          <a:xfrm>
            <a:off x="8382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1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03｜整合 GitLab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串接通知與產物</a:t>
            </a:r>
          </a:p>
        </p:txBody>
      </p:sp>
      <p:sp>
        <p:nvSpPr>
          <p:cNvPr id="18" name="Rounded Rectangle 17" descr="04｜SIT&#10;整合與例外測試"/>
          <p:cNvSpPr/>
          <p:nvPr/>
        </p:nvSpPr>
        <p:spPr>
          <a:xfrm>
            <a:off x="8382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1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04｜SIT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整合與例外測試</a:t>
            </a:r>
          </a:p>
        </p:txBody>
      </p:sp>
      <p:sp>
        <p:nvSpPr>
          <p:cNvPr id="20" name="Rounded Rectangle 19" descr="05｜UAT&#10;驗收與復原演練"/>
          <p:cNvSpPr/>
          <p:nvPr/>
        </p:nvSpPr>
        <p:spPr>
          <a:xfrm>
            <a:off x="4445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4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05｜UAT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驗收與復原演練</a:t>
            </a:r>
          </a:p>
        </p:txBody>
      </p:sp>
      <p:sp>
        <p:nvSpPr>
          <p:cNvPr id="22" name="Rounded Rectangle 21" descr="06｜Production&#10;目標 12/31"/>
          <p:cNvSpPr/>
          <p:nvPr/>
        </p:nvSpPr>
        <p:spPr>
          <a:xfrm>
            <a:off x="508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06｜Production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目標 12/31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POC 先證明「未放行不能送檔」；驗收與復原演練通過後，才申請正式上線。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Windows 正式部署治理計劃</dc:title>
  <dc:subject>跨部門可行性與合規討論；非正式上線核准</dc:subject>
  <dc:creator>Windows CD Governance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