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本簡報以跨部門溝通為目的，聚焦背景、責任邊界、兩種部署機制與實際換版流程。共 10 頁，無附錄，聚焦本案背景與目標設計，避免測試環境細節。ADO 為主要規劃方向，Rundeck 為備案；這不等於正式上線已獲批准。簡報設計依據另見 docs/research/presentation-design-guidance.md。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僅限特定部門存取，是已確認的組織限制。現行 GitLab CE 是 Git Server；開發人員可執行建置，但正式部署需要另設授權邊界。不是宣稱 GitLab CE 完全沒有權限控制。圖中虛線是禁止的路徑。換版檔案即 Artifact；CI 是自動建置與測試。具體存取政策依組織正式規範。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此為方案演進背景，不是仍在評估的候選。Runner 是執行 GitLab 建置工作的服務。即使只 Deliver，正式檔案寫入仍需存取權；不得以共用帳號、掛載目錄或中繼腳本繞過部門邊界。換成部署平台不自動合規，帳號、網路與管理權仍須由授權部門掌握。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Container 是現有 GitLab CE、Harbor、Argo CD、OCP／Docker VM 流程，部署人員在 Argo CD 進行換版操作。此為責任分工類比，不宣稱 Windows 等同 GitOps，也不宣稱原生工具自動滿足所有審批要求。Windows Artifact 可從 GitLab 或受控中繼儲存取得；儲存及保留設計另行確認。ADO 與 Rundeck 是替代路線，不要求兩套串接或同時操作正式主機。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分支維持 master＝SIT、pre-production＝UAT、production＝Production；各分支各自建置，不主張 UAT 與 Production 使用同一份內容。同一 Artifact 跨環境晉升可後續評估。GitLab 通知、CD 輪詢或人工選取都可，通知本身不是正式放行。放行綁定應用程式、版本內容與目標，變更須重新放行。單一授權部署人員可放行並執行，暫不強制雙人審批。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本頁以官方文件查證功能可行性，不宣稱完成現場整合測試。Polling 是定時發現新版本的方法，GitLab REST API 才是查詢與下載介面；Webhook 只通知建置事件，不搬運 ZIP，也不代表正式放行。圖中 B→A 表示部署側發起查詢；A→C 表示經 API 取回檔案，下載仍由部署側主動發起。</a:t>
            </a:r>
          </a:p>
          <a:p>
            <a:r>
              <a:t>在 ADO 管理端排程受保護的 Collector Build（它本身不作 Release 產物來源），定時查詢 GitLab，只有發現新候選才排入對應 Import Build（透過 Server Build Queue REST API）；Import Build 在管理端 Agent 重新核對 GitLab metadata、下載檔案並用 PublishBuildArtifacts@1 轉存 Server Build Artifacts。避免每次無更新的輪詢都建立可觸發 Release 的成功空 Build。Collector 與 Importer 是需自行實作的串接程式；不是 ADO Server 原生的 GitLab Artifact source。兩者不在 Production 執行、不持有 Production 部署／核准權；GitLab 唯讀 Token 只放管理端。排入 Build 的 API 權限僅限固定 Import definitions，不能執行 Production Release。</a:t>
            </a:r>
          </a:p>
          <a:p>
            <a:r>
              <a:t>建立三組受保護的 Import Build＋Classic Release：master／SIT、pre-production／UAT、production／Production。各 Importer 固定查對應的 GitLab ref，Release 綁定該 Import Build 的確切版本。ADO 自己存放串接程式的 repository branch（例如 main）不是 GitLab 來源分支，不能拿 Build.SourceBranch 直接當原 GitLab 環境分流。SIT／UAT 啟用 importer Artifact 的 CD trigger 與 After release 自動 stage；Production 關閉 Artifact 自動 release trigger，指定 Deployer 選 Import Build 建立 release，stage 設 Manual only、指定 pre-deployment approvers，限制定義／觸發／核准者與 Agent 資源的修改。放行前不先將正式檔案送入 Production。</a:t>
            </a:r>
          </a:p>
          <a:p>
            <a:r>
              <a:t>Rundeck 備案：由受控排程 Collector 使用相同 GitLab API 與驗證規則保存候選，固定 master／pre-production 對應 SIT／UAT Jobs 自動執行，Production Job 不排程，僅 Deployer 能選定候選並 RUN。OSS 不被描述為自動具備 ADO 等同的審批產品能力。</a:t>
            </a:r>
          </a:p>
          <a:p>
            <a:r>
              <a:t>GitLab API（省略 host，前綴 /api/v4）：GET /projects/P/pipelines?ref=master&amp;source=push&amp;status=success&amp;order_by=id&amp;sort=desc；GET /projects/P/pipelines/L；GET /projects/P/pipelines/L/jobs?scope[]=success&amp;include_retried=false；GET /projects/P/jobs/J；GET /projects/P/jobs/J/artifacts。重驗固定專案、確切來源 ref、pipeline success、source=push、job.tag=false、commit SHA、允許的產物 Job 名稱與 job/pipeline 關聯。不信任 webhook、使用者輸入或 ZIP manifest 自行宣稱的 branch／environment。排除 MR、tag、child 等未允許來源。以 project/pipeline/job ID 鎖定內容，不使用正式部署時會變動的 latest 下載。</a:t>
            </a:r>
          </a:p>
          <a:p>
            <a:r>
              <a:t>需設計去重、順序、鎖、失敗重試與保留：保存 job→candidate/import build 的對應，不因重複輪詢重複部署；較舊 pipeline 晚完成不覆蓋較新版本；GitLab 產物到期前先轉存，保留來源、hash 與回滾所需內容。Job ID 固定不等於檔案永不刪除。處理外層 Artifact ZIP 與內層應用程式 ZIP，驗證路徑／大小／內容，不能直接執行開發者提供的特權部署腳本。</a:t>
            </a:r>
          </a:p>
          <a:p>
            <a:r>
              <a:t>Webhook 可改為 GitLab → 受控接收端 → 驗證 secret 與事件 → API 重查及下載，仍需自製接收程式與重放／去重防護。初步採輪詢以減少新進站服務與 GitLab 持有 CD 執行權限的需求；不推薦把可部署 Production 的 ADO／Rundeck Token 放在開發者可控的 CI Job。</a:t>
            </a:r>
          </a:p>
          <a:p>
            <a:r>
              <a:t>完整查證及版本邊界見 docs/research/gitlab-cd-artifact-handoff.md。參考 API 版本以 ADO Server 2022／REST 7.0 為基準；實際版本、任務、排程及有效 ACL 仍需現場測試。</a:t>
            </a:r>
          </a:p>
          <a:p>
            <a:r>
              <a:t>官方來源：</a:t>
            </a:r>
          </a:p>
          <a:p>
            <a:r>
              <a:t>https://docs.gitlab.com/api/pipelines/</a:t>
            </a:r>
          </a:p>
          <a:p>
            <a:r>
              <a:t>https://docs.gitlab.com/api/jobs/</a:t>
            </a:r>
          </a:p>
          <a:p>
            <a:r>
              <a:t>https://docs.gitlab.com/api/job_artifacts/</a:t>
            </a:r>
          </a:p>
          <a:p>
            <a:r>
              <a:t>https://docs.gitlab.com/user/project/integrations/webhooks/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https://learn.microsoft.com/en-us/azure/devops/pipelines/tasks/reference/publish-build-artifacts-v1?view=azure-pipelines-server</a:t>
            </a:r>
          </a:p>
          <a:p>
            <a:r>
              <a:t>https://learn.microsoft.com/en-us/azure/devops/pipelines/release/artifacts?view=azure-devops-server</a:t>
            </a:r>
          </a:p>
          <a:p>
            <a:r>
              <a:t>https://learn.microsoft.com/en-us/azure/devops/pipelines/release/triggers?view=azure-devops-server</a:t>
            </a:r>
          </a:p>
          <a:p>
            <a:r>
              <a:t>https://learn.microsoft.com/en-us/azure/devops/pipelines/release/approvals/approvals?view=azure-devops-server</a:t>
            </a:r>
          </a:p>
          <a:p>
            <a:r>
              <a:t>https://docs.rundeck.com/docs/manual/document-format-reference/job-yaml-v12.html</a:t>
            </a:r>
          </a:p>
          <a:p>
            <a:r>
              <a:t>https://docs.rundeck.com/docs/api/#running-a-job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合併原第 7／8 頁，只說明正式部署的共通操作與責任，不重複描述兩套執行機制。第 6 頁先交接並保存已驗證候選；本頁由授權部署人員選定版本、目標並放行，部署系統再安排 Windows 換版。SIT／UAT 自動流程仍依第 5 頁環境政策；本頁人工放行圖專指 Production。ADO 是主方案，有其他部門已在運行的先例；Rundeck 是替代備案，不要求兩套串接或同時操作同一正式主機。先例不等於本專案正式上線驗收。</a:t>
            </a:r>
          </a:p>
          <a:p>
            <a:r>
              <a:t>圖中箭頭是版本／工作交接方向，不是完整網路拓撲。實際差別統一放在第 8 頁：ADO 的專用 Agent 主動連 Server 取工作，在本機執行；Rundeck 管理端透過 HTTPS WinRM／PSRP 呼叫 JEA 受限入口，Windows 執行允許的部署功能。此為本案路線，不宣稱 Rundeck 只能遠端操作。</a:t>
            </a:r>
          </a:p>
          <a:p>
            <a:r>
              <a:t>帳號、工作定義、Agent／遠端入口、憑證及必要特權均由授權部門控管；不開放一般管理 shell，不把 Target 放一般 CI pool，也不因方便授予 Administrator／SYSTEM。Agent 不是安全沙箱，JEA 亦不取代完整 OS 權限與部署定義保護。GitLab 唯讀 Token 留管理端，不放正式目標。</a:t>
            </a:r>
          </a:p>
          <a:p>
            <a:r>
              <a:t>官方架構：https://learn.microsoft.com/en-us/azure/devops/pipelines/agents/agents?view=azure-devops-server</a:t>
            </a:r>
          </a:p>
          <a:p>
            <a:r>
              <a:t>Deployment Group：https://learn.microsoft.com/en-us/azure/devops/pipelines/release/deployment-groups/?view=azure-devops-server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本圖上半部 B→A 表示 Agent 主動連線取得授權工作，並不表示把部署任務送回 Server；取回工作後 B→C 在同一正式主機本機執行。下半部 D→E 表示 Rundeck 發起遠端部署請求，E→F 仍在正式主機本機執行。兩條路線都是由授權部門管理，不允許開發側直接存取 Production。ADO 不因使用 Agent 就自動更安全；Rundeck 也不因遠端操作就等於提供一般管理權。前者需維護 Agent 安裝更新、服務身份與專用部署資源；後者需維護遠端端點、憑證、限定命令及連線可用性。結果、日誌及部署責任皆需回報控制面。多台 Target 的 ADO Agent 各自執行；Rundeck 依 Target 逐台遠端執行，兩者均可採逐台健康驗證與失敗停止策略。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為目標換版流程，不代表兩產品原生自動具備完整回滾或原子交易。放行後，準備指定版本、核對來源／hash，保存目前版本與復原所需資料，依應用程式需求停止或切換服務、套用版本與環境設定、重新啟動並健康驗證。成功記錄版本、人員、目標與結果。若換版或驗證失敗，依既定程序回復可用版本；若復原仍失敗，停止並通知負責人，不顯示成功。停止／啟動服務只是可能方式，不承諾零停機；不同 IIS／Windows Service 應用須各自設計。Agent 執行能力與遠端命令執行能力都不自動提供回滾，需事先設計並驗證腳本及保留資料。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本頁作為簡報收束，保留共同治理要求，不另設合規角色矩陣、階段選型路線或會議決議頁。正式服務帳號、網路、稽核保留與職責分離依組織政策；本簡報不宣稱已合規。開發者修改 repo／Artifact 的腳本不能變成未受審查的特權部署命令。版本名稱固定不等於內容固定，執行前須核對被放行內容。多主機失敗時先恢復失敗目標，再由部署人員決定是否回滾已成功目標，不承諾跨主機原子交易或全群自動回滾。</a:t>
            </a:r>
          </a:p>
          <a:p>
            <a:r>
              <a:t>ADO Classic Release 自動部署不檢查 release creator 的 Manage deployments 權限；正式流程不能只禁止手動 Deploy，要保護自動觸發、工作定義、批准者及 Agent 資源權限。此為治理實作注意事項，不是 Express 版本限制。不得直接套用 Azure DevOps Services 的 YAML Approvals and Checks 作為 Server 的能力承諾。</a:t>
            </a:r>
          </a:p>
          <a:p>
            <a:r>
              <a:t>官方來源：https://learn.microsoft.com/en-us/azure/devops/organizations/security/permissions?view=azure-devops-server</a:t>
            </a:r>
          </a:p>
          <a:p>
            <a:r>
              <a:t>https://learn.microsoft.com/en-us/azure/devops/pipelines/policies/permissions?view=azure-devops-server</a:t>
            </a:r>
          </a:p>
          <a:p>
            <a:r>
              <a:t>https://learn.microsoft.com/en-us/azure/devops/pipelines/release/approvals/approvals?view=azure-devops-server</a:t>
            </a:r>
          </a:p>
          <a:p>
            <a:r>
              <a:t>https://learn.microsoft.com/en-us/azure/devops/pipelines/process/approvals?view=azure-devops-server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讓開發自動化，讓正式換版有授權、有紀錄、可復原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跨部門可行性與合規討論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初步提案｜正式上線仍需依組織程序批准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Azure DevOps Server（ADO）為主方案；Rundeck 為備案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我們要解決的，是正式主機的存取邊界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能建置程式，不代表有權把檔案送進正式環境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57500" y="3810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461000" y="3810000"/>
            <a:ext cx="2857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825500" y="3302000"/>
            <a:ext cx="2032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200" y="3454400"/>
            <a:ext cx="175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CI&#10;產出換版檔案"/>
          <p:cNvSpPr/>
          <p:nvPr/>
        </p:nvSpPr>
        <p:spPr>
          <a:xfrm>
            <a:off x="3365500" y="3302000"/>
            <a:ext cx="2095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產出換版檔案</a:t>
            </a:r>
          </a:p>
        </p:txBody>
      </p:sp>
      <p:sp>
        <p:nvSpPr>
          <p:cNvPr id="19" name="Rounded Rectangle 18" descr="Production&#10;正式主機"/>
          <p:cNvSpPr/>
          <p:nvPr/>
        </p:nvSpPr>
        <p:spPr>
          <a:xfrm>
            <a:off x="8318500" y="3302000"/>
            <a:ext cx="2540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3454400"/>
            <a:ext cx="2260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2350" y="3403600"/>
            <a:ext cx="15748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02350" y="3403600"/>
            <a:ext cx="15748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就算只是複製檔案，也屬正式主機存取；不能視為例外。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先前「只送檔案、不換版」的方案已被否決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原因不是技術做不到，而是違反部門存取限制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96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969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664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原提案：開發側直接交付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8500" y="2095500"/>
            <a:ext cx="4635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8500" y="2095500"/>
            <a:ext cx="4635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900" y="2146300"/>
            <a:ext cx="4330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正式環境：仍需存取權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11500" y="38100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59500" y="3810000"/>
            <a:ext cx="13970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GitLab Runner&#10;自動建置工具"/>
          <p:cNvSpPr/>
          <p:nvPr/>
        </p:nvSpPr>
        <p:spPr>
          <a:xfrm>
            <a:off x="825500" y="3302000"/>
            <a:ext cx="2286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200" y="3454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自動建置工具</a:t>
            </a:r>
          </a:p>
        </p:txBody>
      </p:sp>
      <p:sp>
        <p:nvSpPr>
          <p:cNvPr id="17" name="Rounded Rectangle 16" descr="送出換版檔案&#10;尚未執行換版"/>
          <p:cNvSpPr/>
          <p:nvPr/>
        </p:nvSpPr>
        <p:spPr>
          <a:xfrm>
            <a:off x="3746500" y="3302000"/>
            <a:ext cx="2413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3454400"/>
            <a:ext cx="2133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送出換版檔案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尚未執行換版</a:t>
            </a:r>
          </a:p>
        </p:txBody>
      </p:sp>
      <p:sp>
        <p:nvSpPr>
          <p:cNvPr id="19" name="Rounded Rectangle 18" descr="寫入正式主機&#10;已構成存取"/>
          <p:cNvSpPr/>
          <p:nvPr/>
        </p:nvSpPr>
        <p:spPr>
          <a:xfrm>
            <a:off x="7556500" y="3302000"/>
            <a:ext cx="3619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340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寫入正式主機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已構成存取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200" y="3403600"/>
            <a:ext cx="11176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3403600"/>
            <a:ext cx="11176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方案否決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建置端不碰正式主機，正式交付與換版改由授權部門管理。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容器已有部署路線，Windows 要補上同樣的分工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沿用「建置與正式換版分離」的原則，不強迫使用相同工具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11176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11176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10871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容器（Container）：現有路線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3873500"/>
            <a:ext cx="11176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8000" y="3873500"/>
            <a:ext cx="11176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400" y="3924300"/>
            <a:ext cx="10871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Windows：本次提案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48000" y="3111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778500" y="3111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09000" y="3111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4889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78500" y="4889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09000" y="48895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 descr="GitLab&#10;建置映像"/>
          <p:cNvSpPr/>
          <p:nvPr/>
        </p:nvSpPr>
        <p:spPr>
          <a:xfrm>
            <a:off x="762000" y="2705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700" y="2781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GitLab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建置映像</a:t>
            </a:r>
          </a:p>
        </p:txBody>
      </p:sp>
      <p:sp>
        <p:nvSpPr>
          <p:cNvPr id="21" name="Rounded Rectangle 20" descr="Harbor&#10;保存映像"/>
          <p:cNvSpPr/>
          <p:nvPr/>
        </p:nvSpPr>
        <p:spPr>
          <a:xfrm>
            <a:off x="3492500" y="2705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2200" y="2781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Harbor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保存映像</a:t>
            </a:r>
          </a:p>
        </p:txBody>
      </p:sp>
      <p:sp>
        <p:nvSpPr>
          <p:cNvPr id="23" name="Rounded Rectangle 22" descr="Argo CD&#10;部署人員操作"/>
          <p:cNvSpPr/>
          <p:nvPr/>
        </p:nvSpPr>
        <p:spPr>
          <a:xfrm>
            <a:off x="6223000" y="2705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2700" y="2781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Argo CD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部署人員操作</a:t>
            </a:r>
          </a:p>
        </p:txBody>
      </p:sp>
      <p:sp>
        <p:nvSpPr>
          <p:cNvPr id="25" name="Rounded Rectangle 24" descr="OCP / Docker&#10;執行應用程式"/>
          <p:cNvSpPr/>
          <p:nvPr/>
        </p:nvSpPr>
        <p:spPr>
          <a:xfrm>
            <a:off x="8953500" y="2705100"/>
            <a:ext cx="2476500" cy="8128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200" y="2781617"/>
            <a:ext cx="21971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OCP / Docker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執行應用程式</a:t>
            </a:r>
          </a:p>
        </p:txBody>
      </p:sp>
      <p:sp>
        <p:nvSpPr>
          <p:cNvPr id="27" name="Rounded Rectangle 26" descr="GitLab&#10;建置程式"/>
          <p:cNvSpPr/>
          <p:nvPr/>
        </p:nvSpPr>
        <p:spPr>
          <a:xfrm>
            <a:off x="762000" y="4483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700" y="4559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GitLab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建置程式</a:t>
            </a:r>
          </a:p>
        </p:txBody>
      </p:sp>
      <p:sp>
        <p:nvSpPr>
          <p:cNvPr id="29" name="Rounded Rectangle 28" descr="換版檔案&#10;固定版本"/>
          <p:cNvSpPr/>
          <p:nvPr/>
        </p:nvSpPr>
        <p:spPr>
          <a:xfrm>
            <a:off x="3492500" y="4483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2200" y="4559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換版檔案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固定版本</a:t>
            </a:r>
          </a:p>
        </p:txBody>
      </p:sp>
      <p:sp>
        <p:nvSpPr>
          <p:cNvPr id="31" name="Rounded Rectangle 30" descr="ADO 為主&#10;Rundeck 備案"/>
          <p:cNvSpPr/>
          <p:nvPr/>
        </p:nvSpPr>
        <p:spPr>
          <a:xfrm>
            <a:off x="6223000" y="4483100"/>
            <a:ext cx="2286000" cy="8128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2700" y="4559617"/>
            <a:ext cx="20066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ADO 為主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754519"/>
                </a:solidFill>
                <a:latin typeface="Microsoft JhengHei"/>
              </a:defRPr>
            </a:pPr>
            <a:r>
              <a:t>Rundeck 備案</a:t>
            </a:r>
          </a:p>
        </p:txBody>
      </p:sp>
      <p:sp>
        <p:nvSpPr>
          <p:cNvPr id="33" name="Rounded Rectangle 32" descr="Windows&#10;執行應用程式"/>
          <p:cNvSpPr/>
          <p:nvPr/>
        </p:nvSpPr>
        <p:spPr>
          <a:xfrm>
            <a:off x="8953500" y="4483100"/>
            <a:ext cx="2476500" cy="8128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3200" y="4559617"/>
            <a:ext cx="2197100" cy="6597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Windows</a:t>
            </a:r>
          </a:p>
          <a:p>
            <a:pPr algn="ctr">
              <a:lnSpc>
                <a:spcPts val="2497"/>
              </a:lnSpc>
              <a:spcBef>
                <a:spcPts val="0"/>
              </a:spcBef>
              <a:spcAft>
                <a:spcPts val="0"/>
              </a:spcAft>
              <a:defRPr sz="1850" b="1">
                <a:solidFill>
                  <a:srgbClr val="FFFFFF"/>
                </a:solidFill>
                <a:latin typeface="Microsoft JhengHei"/>
              </a:defRPr>
            </a:pPr>
            <a:r>
              <a:t>執行應用程式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兩條路線都需要「誰可以換版」；不是只有「怎麼把檔案送過去」。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三個分支對應三個環境，正式部署多一道人工放行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master＝SIT；pre-production＝UAT；production＝正式環境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4500" y="377825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000" y="37719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604000" y="2565400"/>
            <a:ext cx="0" cy="1206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04000" y="2565400"/>
            <a:ext cx="952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0" y="3778250"/>
            <a:ext cx="1460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96000" y="3771900"/>
            <a:ext cx="254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0000" y="3771900"/>
            <a:ext cx="0" cy="12446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50000" y="50165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52000" y="50165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 descr="GitLab CI&#10;建置固定版本"/>
          <p:cNvSpPr/>
          <p:nvPr/>
        </p:nvSpPr>
        <p:spPr>
          <a:xfrm>
            <a:off x="508000" y="3238500"/>
            <a:ext cx="2476500" cy="1079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422650"/>
            <a:ext cx="219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建置固定版本</a:t>
            </a:r>
          </a:p>
        </p:txBody>
      </p:sp>
      <p:sp>
        <p:nvSpPr>
          <p:cNvPr id="18" name="Diamond 17" descr="來源分支&#10;對應環境"/>
          <p:cNvSpPr/>
          <p:nvPr/>
        </p:nvSpPr>
        <p:spPr>
          <a:xfrm>
            <a:off x="3683000" y="3175000"/>
            <a:ext cx="2413000" cy="12065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4950" y="342265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對應環境</a:t>
            </a:r>
          </a:p>
        </p:txBody>
      </p:sp>
      <p:sp>
        <p:nvSpPr>
          <p:cNvPr id="20" name="Rounded Rectangle 19" descr="master → SIT&#10;自動換版"/>
          <p:cNvSpPr/>
          <p:nvPr/>
        </p:nvSpPr>
        <p:spPr>
          <a:xfrm>
            <a:off x="7556500" y="20955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6200" y="22161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 → 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自動換版</a:t>
            </a:r>
          </a:p>
        </p:txBody>
      </p:sp>
      <p:sp>
        <p:nvSpPr>
          <p:cNvPr id="22" name="Rounded Rectangle 21" descr="pre-production → UAT&#10;自動換版"/>
          <p:cNvSpPr/>
          <p:nvPr/>
        </p:nvSpPr>
        <p:spPr>
          <a:xfrm>
            <a:off x="7556500" y="33020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6200" y="34226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 → 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自動換版</a:t>
            </a:r>
          </a:p>
        </p:txBody>
      </p:sp>
      <p:sp>
        <p:nvSpPr>
          <p:cNvPr id="24" name="Rounded Rectangle 23" descr="production&#10;部署人員選版放行"/>
          <p:cNvSpPr/>
          <p:nvPr/>
        </p:nvSpPr>
        <p:spPr>
          <a:xfrm>
            <a:off x="6921500" y="4508500"/>
            <a:ext cx="27305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1200" y="4660900"/>
            <a:ext cx="2451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部署人員選版放行</a:t>
            </a:r>
          </a:p>
        </p:txBody>
      </p:sp>
      <p:sp>
        <p:nvSpPr>
          <p:cNvPr id="26" name="Rounded Rectangle 25" descr="正式主機&#10;執行換版"/>
          <p:cNvSpPr/>
          <p:nvPr/>
        </p:nvSpPr>
        <p:spPr>
          <a:xfrm>
            <a:off x="10160000" y="4508500"/>
            <a:ext cx="1524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9700" y="4660900"/>
            <a:ext cx="124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三個分支各自建置；正式版本先放行，才執行後續換版。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建置產物交接：輪詢發現版本，API 下載檔案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採部署側輪詢＋GitLab API；Webhook 可作通知，但不搬運檔案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3683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3683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3378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GitLab：建置及保存版本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0" y="2095500"/>
            <a:ext cx="6858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26000" y="2095500"/>
            <a:ext cx="6858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78400" y="2146300"/>
            <a:ext cx="6553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ADO 主方案／Rundeck 備案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4508500" y="3175000"/>
            <a:ext cx="698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508500" y="3111500"/>
            <a:ext cx="0" cy="63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349500" y="3111500"/>
            <a:ext cx="21590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49500" y="3111500"/>
            <a:ext cx="0" cy="127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04000" y="3683000"/>
            <a:ext cx="0" cy="508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349500" y="4381500"/>
            <a:ext cx="0" cy="317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349500" y="4699000"/>
            <a:ext cx="2857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469900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 descr="三個來源分支&#10;產出換版檔案"/>
          <p:cNvSpPr/>
          <p:nvPr/>
        </p:nvSpPr>
        <p:spPr>
          <a:xfrm>
            <a:off x="762000" y="3238500"/>
            <a:ext cx="3175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1700" y="3454400"/>
            <a:ext cx="2895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三個來源分支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產出換版檔案</a:t>
            </a:r>
          </a:p>
        </p:txBody>
      </p:sp>
      <p:sp>
        <p:nvSpPr>
          <p:cNvPr id="23" name="Rounded Rectangle 22" descr="定時輪詢&#10;GitLab API 查詢"/>
          <p:cNvSpPr/>
          <p:nvPr/>
        </p:nvSpPr>
        <p:spPr>
          <a:xfrm>
            <a:off x="5207000" y="2667000"/>
            <a:ext cx="2794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6700" y="2819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定時輪詢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GitLab API 查詢</a:t>
            </a:r>
          </a:p>
        </p:txBody>
      </p:sp>
      <p:sp>
        <p:nvSpPr>
          <p:cNvPr id="25" name="Rounded Rectangle 24" descr="API 下載指定產物&#10;核對版本與內容"/>
          <p:cNvSpPr/>
          <p:nvPr/>
        </p:nvSpPr>
        <p:spPr>
          <a:xfrm>
            <a:off x="5207000" y="4191000"/>
            <a:ext cx="2794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6700" y="4343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API 下載指定產物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核對版本與內容</a:t>
            </a:r>
          </a:p>
        </p:txBody>
      </p:sp>
      <p:sp>
        <p:nvSpPr>
          <p:cNvPr id="27" name="Rounded Rectangle 26" descr="ADO 轉存產物&#10;Rundeck 保存候選"/>
          <p:cNvSpPr/>
          <p:nvPr/>
        </p:nvSpPr>
        <p:spPr>
          <a:xfrm>
            <a:off x="8699500" y="4191000"/>
            <a:ext cx="2667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9200" y="4343400"/>
            <a:ext cx="2387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ADO 轉存產物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Rundeck 保存候選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7500" y="2667000"/>
            <a:ext cx="2032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57500" y="2667000"/>
            <a:ext cx="2032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API 查詢成功建置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84500" y="4826000"/>
            <a:ext cx="1841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4500" y="4826000"/>
            <a:ext cx="1841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API 下載檔案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3000" y="3810000"/>
            <a:ext cx="1778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3000" y="3810000"/>
            <a:ext cx="1778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固定版本交接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輪詢發現版本、API 下載檔案；需部署側串接程式，非原生直連。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正式環境共通流程：授權選版放行，再執行換版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ADO 為主方案（已有內部運行先例），Rundeck 為備案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279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279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248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已交接的候選版本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9500" y="2095500"/>
            <a:ext cx="4572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9500" y="2095500"/>
            <a:ext cx="4572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0" y="2146300"/>
            <a:ext cx="4267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授權部署部門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9000" y="2095500"/>
            <a:ext cx="3175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9000" y="2095500"/>
            <a:ext cx="3175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1400" y="2146300"/>
            <a:ext cx="2870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48000" y="4445000"/>
            <a:ext cx="1079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05500" y="3517900"/>
            <a:ext cx="0" cy="4191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83500" y="4445000"/>
            <a:ext cx="1143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 descr="版本已驗證&#10;固定來源與內容"/>
          <p:cNvSpPr/>
          <p:nvPr/>
        </p:nvSpPr>
        <p:spPr>
          <a:xfrm>
            <a:off x="762000" y="3937000"/>
            <a:ext cx="2286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700" y="408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版本已驗證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固定來源與內容</a:t>
            </a:r>
          </a:p>
        </p:txBody>
      </p:sp>
      <p:sp>
        <p:nvSpPr>
          <p:cNvPr id="21" name="Rounded Rectangle 20" descr="部署人員&#10;選版並放行"/>
          <p:cNvSpPr/>
          <p:nvPr/>
        </p:nvSpPr>
        <p:spPr>
          <a:xfrm>
            <a:off x="4127500" y="2628900"/>
            <a:ext cx="3556000" cy="889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7200" y="2717800"/>
            <a:ext cx="327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23" name="Rounded Rectangle 22" descr="部署系統&#10;ADO 主／Rundeck 備"/>
          <p:cNvSpPr/>
          <p:nvPr/>
        </p:nvSpPr>
        <p:spPr>
          <a:xfrm>
            <a:off x="4127500" y="3937000"/>
            <a:ext cx="35560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089400"/>
            <a:ext cx="327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部署系統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ADO 主／Rundeck 備</a:t>
            </a:r>
          </a:p>
        </p:txBody>
      </p:sp>
      <p:sp>
        <p:nvSpPr>
          <p:cNvPr id="25" name="Rounded Rectangle 24" descr="Windows&#10;執行授權換版"/>
          <p:cNvSpPr/>
          <p:nvPr/>
        </p:nvSpPr>
        <p:spPr>
          <a:xfrm>
            <a:off x="8826500" y="3937000"/>
            <a:ext cx="2540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6200" y="4089400"/>
            <a:ext cx="2260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Windows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執行授權換版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7500" y="3543300"/>
            <a:ext cx="1460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3543300"/>
            <a:ext cx="1460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固定版本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67600" y="3543300"/>
            <a:ext cx="16764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7600" y="3543300"/>
            <a:ext cx="16764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授權工作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放行綁定確切版本與目標；兩套方案擇一，執行方式見下一頁。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核心差異：主機主動取工作，或管理端遠端下指令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兩者最後都在 Windows 執行；差別是工作如何交付與受控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11176000" cy="165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11176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10871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主方案 ADO：Agent 主動取得工作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3937000"/>
            <a:ext cx="11176000" cy="165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8000" y="3937000"/>
            <a:ext cx="11176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400" y="3987800"/>
            <a:ext cx="10871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備案 Rundeck：管理端發起遠端操作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937000" y="3187700"/>
            <a:ext cx="2222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6500" y="3187700"/>
            <a:ext cx="952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37000" y="5029200"/>
            <a:ext cx="2222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26500" y="5029200"/>
            <a:ext cx="952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 descr="ADO Server&#10;保存授權工作"/>
          <p:cNvSpPr/>
          <p:nvPr/>
        </p:nvSpPr>
        <p:spPr>
          <a:xfrm>
            <a:off x="762000" y="2730500"/>
            <a:ext cx="3175000" cy="9144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700" y="2832100"/>
            <a:ext cx="2895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ADO Server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保存授權工作</a:t>
            </a:r>
          </a:p>
        </p:txBody>
      </p:sp>
      <p:sp>
        <p:nvSpPr>
          <p:cNvPr id="19" name="Rounded Rectangle 18" descr="主機內的 Agent&#10;執行部署腳本"/>
          <p:cNvSpPr/>
          <p:nvPr/>
        </p:nvSpPr>
        <p:spPr>
          <a:xfrm>
            <a:off x="6159500" y="2730500"/>
            <a:ext cx="2667000" cy="9144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9200" y="2832100"/>
            <a:ext cx="2387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主機內的 Agent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執行部署腳本</a:t>
            </a:r>
          </a:p>
        </p:txBody>
      </p:sp>
      <p:sp>
        <p:nvSpPr>
          <p:cNvPr id="21" name="Rounded Rectangle 20" descr="應用程式&#10;完成換版"/>
          <p:cNvSpPr/>
          <p:nvPr/>
        </p:nvSpPr>
        <p:spPr>
          <a:xfrm>
            <a:off x="9779000" y="2730500"/>
            <a:ext cx="1651000" cy="9144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18700" y="2832100"/>
            <a:ext cx="1371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應用程式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完成換版</a:t>
            </a:r>
          </a:p>
        </p:txBody>
      </p:sp>
      <p:sp>
        <p:nvSpPr>
          <p:cNvPr id="23" name="Rounded Rectangle 22" descr="Rundeck&#10;執行授權工作"/>
          <p:cNvSpPr/>
          <p:nvPr/>
        </p:nvSpPr>
        <p:spPr>
          <a:xfrm>
            <a:off x="762000" y="4572000"/>
            <a:ext cx="3175000" cy="9144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700" y="4673600"/>
            <a:ext cx="2895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Rundeck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執行授權工作</a:t>
            </a:r>
          </a:p>
        </p:txBody>
      </p:sp>
      <p:sp>
        <p:nvSpPr>
          <p:cNvPr id="25" name="Rounded Rectangle 24" descr="主機的受限入口&#10;接收部署指令"/>
          <p:cNvSpPr/>
          <p:nvPr/>
        </p:nvSpPr>
        <p:spPr>
          <a:xfrm>
            <a:off x="6159500" y="4572000"/>
            <a:ext cx="2667000" cy="9144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9200" y="4673600"/>
            <a:ext cx="2387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主機的受限入口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接收部署指令</a:t>
            </a:r>
          </a:p>
        </p:txBody>
      </p:sp>
      <p:sp>
        <p:nvSpPr>
          <p:cNvPr id="27" name="Rounded Rectangle 26" descr="應用程式&#10;完成換版"/>
          <p:cNvSpPr/>
          <p:nvPr/>
        </p:nvSpPr>
        <p:spPr>
          <a:xfrm>
            <a:off x="9779000" y="4572000"/>
            <a:ext cx="1651000" cy="9144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18700" y="4673600"/>
            <a:ext cx="1371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應用程式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完成換版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1000" y="2781300"/>
            <a:ext cx="1714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91000" y="2781300"/>
            <a:ext cx="1714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主動取工作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91000" y="4622800"/>
            <a:ext cx="1714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1000" y="4622800"/>
            <a:ext cx="1714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遠端下指令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ADO 要管理 Agent；Rundeck 要管理遠端入口、連線與憑證。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工作到達主機後，換版步驟其實相同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準備指定版本、執行切換、檢查結果；失敗時回復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準備檔案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準備檔案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ADO 由 Agent 本機執行；Rundeck 遠端呼叫受限功能；皆需設計復原。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不論主方案或備案，正式換版都要安全且可復原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ADO 為主要路線，Rundeck 備用；不能省略同一套部署要求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權限要擋得住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未授權人員不能送檔或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觸發正式換版。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4196080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196080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開發者可控內容不能替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換特權部署指令。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500" y="513651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513651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能辨識真正的放行人員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版本要對得上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25564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25564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放行後出現新版本，仍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部署原先選定的版本。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0033" y="4196080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533" y="4196080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檔案遭替換或內容不符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時，拒絕部署。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0033" y="513651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533" y="513651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同一主機不會同時進行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衝突換版。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失敗要救得回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66" y="325564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2066" y="325564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換版後確認應用程式正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常。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1566" y="4196080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2066" y="4196080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多台逐台執行；失敗停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止後續換版。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1566" y="5136515"/>
            <a:ext cx="152400" cy="394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2066" y="5136515"/>
            <a:ext cx="2988733" cy="7626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能回滾或受控復原，不</a:t>
            </a:r>
          </a:p>
          <a:p>
            <a:pPr algn="l">
              <a:lnSpc>
                <a:spcPts val="2902"/>
              </a:lnSpc>
              <a:spcBef>
                <a:spcPts val="0"/>
              </a:spcBef>
              <a:spcAft>
                <a:spcPts val="0"/>
              </a:spcAft>
              <a:defRPr sz="2150" b="0">
                <a:solidFill>
                  <a:srgbClr val="23384D"/>
                </a:solidFill>
                <a:latin typeface="Microsoft JhengHei"/>
              </a:defRPr>
            </a:pPr>
            <a:r>
              <a:t>把未知狀態當成功。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v0.5  |  初步計劃 · 正式上線另需批准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