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共 9 頁：封面、議程、7 頁內容（含預期效益、需求與驗證狀態、最後的建議時程），無附錄。僅討論 Azure DevOps Server；Express 是 POC 起點，不代表最終採購決策。保留 GitLab CE 作版本控制與 CI。其他部門已有 ADO 運行先例，是使用者提供的背景，不是本案整合或合規已通過的證據。12/31 年份未指定，不自行補年份。產品能力依官方文件查證，尚未完成本架構的實機驗證。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先說明對維運、風險及跨專案複用的預期價值，再交代正式主機存取限制。以獨立狀態頁區分已確認需求、規劃做法及 POC 待驗證項目；技術架構與流程均非已完成成果。第 6 頁上半部以 ①～⑧ 說明交付架構，下半部展開單台換版與復原。詳細閱讀可放大獨立 PDF／draw.io。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為預期效益，不是已達成的成果；目前沒有導入前後量測數據，不承諾節省比例、復原時間或零停機。POC／試辦時記錄人工步驟、換版耗時、版本追查所需時間與復原演練結果，再與既有流程比較。備份與復原需實作及演練，不能因採用 ADO／Agent 就視為風險已消除。可複用的是治理與操作框架，不是將同一套腳本直接套用所有 Windows 專案；IIS／Windows Service、設定、資料相容及 F5 範圍須各別確認。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本頁合併舊版第 2、3 頁。只送檔、不執行換版的提案已被否決，原因是正式主機僅允許指定部門存取，複製檔案也屬存取；不是技術做不到，也不是宣稱 GitLab CE 沒有權限控制。虛線代表禁止路徑。現有 Container 鏈 GitLab → Harbor → Argo CD → OCP／Docker 可作責任分工類比，本案補上 Windows 的受控部署流程，不要求使用相同工具。建置端不能透過共用目錄、帳號或中繼腳本繞過 Production 邊界。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本頁為證據範圍說明，不是進度百分比。已確認需求來自本案討論；工具能力依官方文件查核，包含核准、指定版本產物、Deployment Group 與腳本執行。尚未完成本案 ADO／Agent 安裝整合、備份復原腳本或實機 POC 驗證，不將其他部門的運行先例視為本案成果。Express 僅是 POC 起點，正式版本、責任分工與資源待協調。POC 須驗證正向及負向情境，通過後才能宣稱對應控制已有效；測試證據應記錄環境、版本、案例及結果。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本頁管理區改以三段關係說明：「成功通知 → 取得並保存版本 → 人員選版／選目標、確認放行」。這是簡化的業務流程視圖，不是取消中間串接元件；ADO 管理側包含受保護接收器及管理 Build Agent，不能將平台標題誤讀成全部由 ADO Server 本機執行或已有原生 GitLab 直連。技術細節保留於以下備註及研究文件，不要求所有聽眾理解 API、Importer 或 hash。</a:t>
            </a:r>
          </a:p>
          <a:p>
            <a:r>
              <a:t>本頁採完整架構圖圖片，PPTX 中是高解析圖片，可編輯節點、容器與連線的原檔為 docs/presentations/diagrams/windows-deployment-map.drawio；獨立 PDF 可放大閱讀。圖內主架構與單台換版流程是兩個明確分隔的視圖，不是假裝一張純網路拓樸。圖面研究見 docs/research/end-to-end-architecture-diagram-design.md。</a:t>
            </a:r>
          </a:p>
          <a:p>
            <a:r>
              <a:t>使用者確認：替換原第 4 頁（現第 6 頁）；「下 F5／上 F5」分別表示將目標服務退出／恢復負載平衡流量。具體 pool/member、Disabled 或 Forced Offline、連線等待／逾時、F5 操作位置與身分仍待網路及主機團隊確認。不能從圖推論每台 Agent 持有 F5 管理權；實作時需接上受保護、可稽核的維護操作。F5 流量線指向應用，不是 Agent；一台主機可能有多個 pool members，須確認完整範圍。</a:t>
            </a:r>
          </a:p>
          <a:p>
            <a:r>
              <a:t>上半部是交付架構：開發人員 push GitLab CE；GitLab 編排 CI，GitLab Runner 建置／測試並上傳 artifact。GitLab pipeline 成功事件通知受保護接收器，接收器驗證、耐久入列、API 複核後，以 Queue Build REST API 排入固定 importer。接收器與驗證／去重邏輯需實作，不是原生 GitLab artifact connector，也不需要新增 GitLab Runner。</a:t>
            </a:r>
          </a:p>
          <a:p>
            <a:r>
              <a:t>ADO 管理區的 self-hosted Build Agent 重驗專案、pipeline、ref、SHA 與必要品質 jobs，按確切 project/pipeline/job ID 下載 GitLab 產物，驗 ZIP／hash 並保存 manifest，以 PublishBuildArtifacts@1 發布 Server Build Artifacts。不能抓 latest 或使用 Services-only Pipeline Artifacts。GitLab 唯讀憑證只留管理區；管理 Agent、接收器和 CI 都無 Production 存取權。</a:t>
            </a:r>
          </a:p>
          <a:p>
            <a:r>
              <a:t>ADO 全名 Azure DevOps Server；Express 為 POC 起點，Server 2022／REST 7.0 作文件基線。ADO 控制面、版本庫、管理 Agent 是邏輯元件，不等於必須各有一台 VM。這是文件支持的目標設計，不是現況或實機測通的證明。</a:t>
            </a:r>
          </a:p>
          <a:p>
            <a:r>
              <a:t>Production 關閉 artifact 自動 release trigger，授權人員選確切 importer build、應用與目標建立 Classic Release，stage 設 Manual only 與具名 pre-deployment approval；允許同一人發起與放行。任何版本／目標變更須重新放行。分支與部署策略留下一頁說明。</a:t>
            </a:r>
          </a:p>
          <a:p>
            <a:r>
              <a:t>放行後，各 Windows Target 上的專用 Deployment Group Agent 才取指定工作與產物，在本機執行受保護的部署腳本。Agent 主動連 ADO 取工作；派工箭頭不代表 Server 主動登入 Windows。放行前不得預拷，包含 Production Agent 工作目錄。管理 Agent 與目標 Agent 必須隔離帳號、pool／Deployment Group、主機與憑證，不能執行開發者提供的特權部署腳本。</a:t>
            </a:r>
          </a:p>
          <a:p>
            <a:r>
              <a:t>Production 圖示 01、02、…、N，可涵蓋數十台主機；不代表所有主機同時換版，也不是 Agent 互相傳檔。暫建議逐台或受控分批，健康後繼續，任一失敗停止後續目標；批次大小、最低容量、先前成功目標是否回復仍待確認。不承諾零停機或跨主機原子交易。</a:t>
            </a:r>
          </a:p>
          <a:p>
            <a:r>
              <a:t>下半部新增強制人工關卡：⑦ 僅檢查服務／排程是否正常啟動；新版與復原舊版兩條路徑，都須由部署人員在隔離狀態驗證功能正常、確認放行後，才能執行⑧ 上 F5。人工節點沿用部署人員橘色，非 Agent 自動判定。新版功能驗證不通過走退版；舊版功能不通過保持隔離並通知。未確認、拒絕或逾時均不得恢復流量；逾時不視為自動同意，也不必然等同功能測試失敗。驗證須透過核准的隔離測試入口／直連方式，不為測試而預先恢復正式流量；實際入口與驗證項目待確認。</a:t>
            </a:r>
          </a:p>
          <a:p>
            <a:r>
              <a:t>實作需把「部署／自動檢查」「人工功能驗證」「恢復流量」分成可強制等待與續行的控制步驟。初始 Release 的部署前核准不能代替此次中途關卡；需設計 Server Classic 支援的人工等待／分階段核准或受控外部編排，驗證成功續行、拒絕、逾時、Agent 失聯與回線對帳。人工決定綁定 release、target、版本及此次檢查結果，等待期間保留隔離與部署鎖；舊版復原也要有獨立確認，不可沿用新版確認。這是新增目標要求，尚未實作或實測。</a:t>
            </a:r>
          </a:p>
          <a:p>
            <a:r>
              <a:t>下半部更新為白話版並統一使用 ①～⑧ 圈號：① 取得已放行版本 → ② 下 F5 → ③ 停止服務 → ④ 備份舊版本 → ⑤ 安裝新版本 → ⑥ 重啟服務 → ⑦ 服務正常？ → ⑧ 上 F5。失敗路徑是還原舊版本、重啟與再檢查；成功恢復後仍記本次換版失敗。原本的鎖、前置閘門、有效備份、流量狀態核對與例外要求仍需實作，僅不放進主流程的長標籤。Agent／主機失聯不是同一個 Agent 能保證自動復原的情況，須另有監控及受控人工／獨立復原手段。</a:t>
            </a:r>
          </a:p>
          <a:p>
            <a:r>
              <a:t>下半部對每個核准目標重複：放行後下載／驗證、部署鎖與前置檢查 → 下 F5 並確認流量隔離條件 → 停止服務 → 備份目前版本 → 執行換版 → 重啟服務 → 檢查狀態。正常且部署人員確認功能正常，才上 F5，確認恢復成功後記錄新版本完成。</a:t>
            </a:r>
          </a:p>
          <a:p>
            <a:r>
              <a:t>換版、啟動或健康檢查失敗時，保持隔離，依受控腳本停止失敗版本、回復有效備份、重啟，再做復原健康檢查；正常且部署人員再次確認舊版功能正常，才上 F5 並記錄「換版失敗、復原成功」，不能記為新版本部署成功。復原不健康或無可用備份時，保持隔離、停止後續換版、告警並交人員處理。</a:t>
            </a:r>
          </a:p>
          <a:p>
            <a:r>
              <a:t>下 F5／隔離確認失敗時不能繼續停止服務；停止或備份失敗時不能覆寫版本，由受控復原／人工程序決定後續。上 F5 操作或確認失敗不能算完成。檔案備份不等於資料庫回復，資料相容與復原另行設計。服務停止／重啟需依 IIS／Windows Service 細化。備份與復原腳本必須演練，ADO／Agent 不自動提供完整應用復原。</a:t>
            </a:r>
          </a:p>
          <a:p>
            <a:r>
              <a:t>安全與可靠性驗收：測試 PAT／definition ACL／群組繼承、queue 參數與來源覆寫、build service／OS 身分、特權腳本保護；測試事件偽造、重送、晚到舊版本、Queue 回應遺失、產物到期、零預拷、拒絕或復原失敗時不恢復流量。版本、人員、目標、hash 與結果可追溯。</a:t>
            </a:r>
          </a:p>
          <a:p>
            <a:r>
              <a:t>完整串接依據：docs/research/gitlab-ado-event-trigger.md。</a:t>
            </a:r>
          </a:p>
          <a:p>
            <a:r>
              <a:t>換版／復原可行性查核：docs/research/windows-release-recovery-feasibility.md。官方支援核准、指定 Build Artifact、Deployment Group 與 PowerShell／失敗條件，但不內建本案完整 rollback。POC 建議受保護 PowerShell 控制腳本換版失敗時嘗試復原，復原成功也保留原部署 failed；不要在 finally 無條件上 F5。Agent／主機失聯時需獨立監控及復原手段。限制同時部署比例不等於保證失敗停止所有後續主機；初期採單台 canary，下一台另設成功相依／人工放行，正式 fail-stop 需驗證或受控編排。匯入完成後，部署與退版不必再回 GitLab 取 latest。上述為文件查證，未完成實機 POC。</a:t>
            </a:r>
          </a:p>
          <a:p>
            <a:r>
              <a:t>https://c4model.com/diagrams/notation</a:t>
            </a:r>
          </a:p>
          <a:p>
            <a:r>
              <a:t>https://learn.microsoft.com/en-us/azure/well-architected/architect-role/design-diagrams</a:t>
            </a:r>
          </a:p>
          <a:p>
            <a:r>
              <a:t>https://docs.gitlab.com/user/project/integrations/webhook_events/#pipeline-events</a:t>
            </a:r>
          </a:p>
          <a:p>
            <a:r>
              <a:t>https://learn.microsoft.com/en-us/rest/api/azure/devops/build/builds/queue?view=azure-devops-rest-7.0</a:t>
            </a:r>
          </a:p>
          <a:p>
            <a:r>
              <a:t>https://learn.microsoft.com/en-us/azure/devops/pipelines/release/deployment-groups/?view=azure-devops-2022</a:t>
            </a:r>
          </a:p>
          <a:p>
            <a:r>
              <a:t>https://techdocs.f5.com/kb/en-us/products/big-ip_ltm/manuals/product/big-ip-local-traffic-management-basics-14-0-0/05.html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本頁改以「分支 → 對應 CI/CD pipeline → 換版策略」說明，不再限制為固定三分支。保留 master／SIT、pre-production／UAT 的目前規劃；正式分支可能包括 production、production-bq1、production-bq2、production-nh 等。這些是平行分支名稱，不是 Git 分支內的子分支，不推定名稱所代表的地點。正式分支合併一列不代表共用同一個 pipeline；不同分支可有不同建置、測試、產物、目標集合、逐台／分批、F5／服務操作及復原程序，實際映射待確認。各分支各自建置，不宣稱同一產物跨環境晉升。</a:t>
            </a:r>
          </a:p>
          <a:p>
            <a:r>
              <a:t>圖為邏輯 CI/CD 流程，不宣稱 GitLab 原生編排 ADO，亦不要求每分支獨立 YAML。初版三組固定 importer／Release 是實作例，擴充分支須同步調整精確來源允許清單、受保護的目標與策略映射；不可自動信任任何 production 前綴。GitLab API 複核專案、精確 ref、pipeline source、SHA 及必要 jobs，不信任事件或參數自稱的環境。正式分支仍須指定人員選確切版本與目標放行。</a:t>
            </a:r>
          </a:p>
          <a:p>
            <a:r>
              <a:t>ADO importer 儲存串接程式的 repository branch（例如 main）不等於 GitLab 來源分支；不得以 ADO Build.SourceBranch 或原生 build branch filter 推論來源環境。SIT/UAT 自動觸發，Production 關閉 artifact 自動 release trigger，授權人員選固定 importer build 建立 release、手動 stage 並通過 pre-deployment approval。開發者不能編輯部署定義、批准者或 Agent 資源繞過控制；只限制手動 Deploy 按鈕並不足夠。單人放行並執行符合目前需求。</a:t>
            </a:r>
          </a:p>
          <a:p>
            <a:r>
              <a:t>https://learn.microsoft.com/en-us/azure/devops/pipelines/release/triggers?view=azure-devops-2022</a:t>
            </a:r>
          </a:p>
          <a:p>
            <a:r>
              <a:t>https://learn.microsoft.com/en-us/azure/devops/pipelines/release/approvals/approvals?view=azure-devops-2022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本頁是換版與復原概覽；完整的下 F5、停服務、備份、換版、重啟、健康檢查、恢復流量及復原失敗分支已展開於第 6 頁。復原健康才回池，復原成功仍屬換版失敗，不記新版本部署完成。保留並調整舊版第 9 頁。放行前產物只在管理區保存，不能預拷到 Production（包含 Agent 工作目錄）；放行後部署 Agent 取固定 importer build 的 artifact，重新核對內容 hash，保存目前版本與復原資料，再依 IIS／Windows Service 的需求停止或切換、套用環境設定、啟動及健康驗證。不承諾零停機或跨主機原子交易。</a:t>
            </a:r>
          </a:p>
          <a:p>
            <a:r>
              <a:t>換版或健康檢查失敗時，依事先驗證的腳本回復前一可用版本並檢查；復原失敗則停止並通知負責人，不能記為成功。資料庫／資料格式變更須另設相容與資料復原方案，不能把回復程式檔案等同資料回滾。多台逐台執行、失敗停止後續換版，是否回復已成功目標由授權人員依既定程序決定。部署鎖避免同一目標衝突，晚到舊版本不可自動降版；顯式授權的回復另留紀錄。Agent 與 ADO 不會自動提供應用程式專用的復原，腳本、資料保留及演練必須實作。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依使用者授權提出暫定階段，不是跨部門承諾。截止目標是 12/31，年份未指定，階段起迄日、工期、資源與正式核准均待共同確認。若必要驗收未通過，應調整範圍／資源或重新協調時程，不能因日期目標繞過上線門檻。</a:t>
            </a:r>
          </a:p>
          <a:p>
            <a:r>
              <a:t>01 POC：使用隔離的 Express 評估環境，驗證 success webhook、受控 importer、最小 ACL、Production 零預拷、三分支分流與失敗復原。此處先使用評估環境，02 才與主機／Server 團隊（架構部門）協調受管理的 ADO 安裝，不暗示尚未安裝就可跑 POC。</a:t>
            </a:r>
          </a:p>
          <a:p>
            <a:r>
              <a:t>02 協調：確認架構、主機、網路／TLS、服務帳號、管理責任、備份與監控；Express 僅為 POC 起點，正式版本另行確認。</a:t>
            </a:r>
          </a:p>
          <a:p>
            <a:r>
              <a:t>03 整合：完成受保護接收器、管理 Agent、固定 importer／Release、目標 Agents、產物保留與稽核串接。</a:t>
            </a:r>
          </a:p>
          <a:p>
            <a:r>
              <a:t>04 SIT：三環境路由、偽造事件拒絕、重送／亂序／中斷復原、版本一致性與權限負向測試。</a:t>
            </a:r>
          </a:p>
          <a:p>
            <a:r>
              <a:t>05 UAT：由授權部署人員驗收選版放行、操作紀錄與實際應用的回復演練。</a:t>
            </a:r>
          </a:p>
          <a:p>
            <a:r>
              <a:t>06 Production：依組織程序取得上線批准，先試辦再觀察；目標 12/31，不代表目前已批准。所有詳細 go/no-go 條件見 docs/research/gitlab-ado-event-trigger.md。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317500"/>
            <a:ext cx="11176000" cy="231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8CCD6"/>
                </a:solidFill>
                <a:latin typeface="Microsoft JhengHei"/>
              </a:defRPr>
            </a:pPr>
            <a:r>
              <a:t>WINDOWS DEPLOYMENT  /  跨部門討論提案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1447800"/>
            <a:ext cx="863600" cy="63500"/>
          </a:xfrm>
          <a:prstGeom prst="rect">
            <a:avLst/>
          </a:prstGeom>
          <a:solidFill>
            <a:srgbClr val="40B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841500"/>
            <a:ext cx="11049000" cy="779780"/>
          </a:xfrm>
        </p:spPr>
        <p:txBody>
          <a:bodyPr lIns="0" rIns="0" tIns="0" bIns="0" wrap="none" anchor="t"/>
          <a:lstStyle/>
          <a:p>
            <a:pPr algn="l">
              <a:lnSpc>
                <a:spcPts val="594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Microsoft JhengHei"/>
              </a:defRPr>
            </a:pPr>
            <a:r>
              <a:t>Windows 正式部署治理計劃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2984500"/>
            <a:ext cx="10795000" cy="436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D3E4EB"/>
                </a:solidFill>
                <a:latin typeface="Microsoft JhengHei"/>
              </a:defRPr>
            </a:pPr>
            <a:r>
              <a:t>保留 GitLab 建置，讓正式換版由授權部門掌握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4318000"/>
            <a:ext cx="10795000" cy="419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Microsoft JhengHei"/>
              </a:defRPr>
            </a:pPr>
            <a:r>
              <a:t>Azure DevOps Server 導入提案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4889500"/>
            <a:ext cx="107950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3E4EB"/>
                </a:solidFill>
                <a:latin typeface="Microsoft JhengHei"/>
              </a:defRPr>
            </a:pPr>
            <a:r>
              <a:t>本次為需求與技術方向提案｜尚未完成實作或 POC 驗證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5334000"/>
            <a:ext cx="107950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3E4EB"/>
                </a:solidFill>
                <a:latin typeface="Microsoft JhengHei"/>
              </a:defRPr>
            </a:pPr>
            <a:r>
              <a:t>Express 作為 POC 起點｜正式版本另行確認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5778500"/>
            <a:ext cx="107950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3E4EB"/>
                </a:solidFill>
                <a:latin typeface="Microsoft JhengHei"/>
              </a:defRPr>
            </a:pPr>
            <a:r>
              <a:t>跨部門討論稿｜目標 12/31，時程待共同確認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365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8000" y="6527800"/>
            <a:ext cx="96520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CCD6"/>
                </a:solidFill>
                <a:latin typeface="Microsoft JhengHei"/>
              </a:defRPr>
            </a:pPr>
            <a:r>
              <a:t>v0.8  |  規劃提案 · 尚未完成實作／POC 驗證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9300" y="6527800"/>
            <a:ext cx="7747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CCD6"/>
                </a:solidFill>
                <a:latin typeface="Microsoft JhengHei"/>
              </a:defRPr>
            </a:pPr>
            <a: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317500"/>
            <a:ext cx="11176000" cy="231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F8C"/>
                </a:solidFill>
                <a:latin typeface="Microsoft JhengHei"/>
              </a:defRPr>
            </a:pPr>
            <a:r>
              <a:t>WINDOWS DEPLOYMENT  /  跨部門討論提案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787400"/>
            <a:ext cx="11176000" cy="574040"/>
          </a:xfrm>
        </p:spPr>
        <p:txBody>
          <a:bodyPr lIns="0" rIns="0" tIns="0" bIns="0" wrap="none" anchor="t"/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2C42"/>
                </a:solidFill>
                <a:latin typeface="Microsoft JhengHei"/>
              </a:defRPr>
            </a:pPr>
            <a:r>
              <a:t>今天看六件事：效益、邊界、架構、環境、換版與時程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435100"/>
            <a:ext cx="11176000" cy="3854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2677B"/>
                </a:solidFill>
                <a:latin typeface="Microsoft JhengHei"/>
              </a:defRPr>
            </a:pPr>
            <a:r>
              <a:t>先說明預期價值，再區分需求、規劃與待驗證項目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000" y="2413000"/>
            <a:ext cx="3572933" cy="368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8000" y="2413000"/>
            <a:ext cx="3572933" cy="508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1200" y="2641600"/>
            <a:ext cx="3166533" cy="3854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42C42"/>
                </a:solidFill>
                <a:latin typeface="Microsoft JhengHei"/>
              </a:defRPr>
            </a:pPr>
            <a:r>
              <a:t>為什麼做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" y="3255645"/>
            <a:ext cx="152400" cy="402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255645"/>
            <a:ext cx="2988733" cy="402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01｜預期效益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" y="3836035"/>
            <a:ext cx="152400" cy="402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000" y="3836035"/>
            <a:ext cx="2988733" cy="402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02｜正式主機存取邊界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9533" y="2413000"/>
            <a:ext cx="3572933" cy="368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09533" y="2413000"/>
            <a:ext cx="3572933" cy="508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2733" y="2641600"/>
            <a:ext cx="3166533" cy="3854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42C42"/>
                </a:solidFill>
                <a:latin typeface="Microsoft JhengHei"/>
              </a:defRPr>
            </a:pPr>
            <a:r>
              <a:t>規劃怎麼做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0033" y="3255645"/>
            <a:ext cx="152400" cy="402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533" y="3255645"/>
            <a:ext cx="2988733" cy="779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03｜需求狀態與目標架</a:t>
            </a:r>
          </a:p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0033" y="4213225"/>
            <a:ext cx="152400" cy="402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533" y="4213225"/>
            <a:ext cx="2988733" cy="402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04｜分支與部署策略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1066" y="2413000"/>
            <a:ext cx="3572933" cy="368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11066" y="2413000"/>
            <a:ext cx="3572933" cy="50800"/>
          </a:xfrm>
          <a:prstGeom prst="rect">
            <a:avLst/>
          </a:prstGeom>
          <a:solidFill>
            <a:srgbClr val="C57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4266" y="2641600"/>
            <a:ext cx="3166533" cy="3854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42C42"/>
                </a:solidFill>
                <a:latin typeface="Microsoft JhengHei"/>
              </a:defRPr>
            </a:pPr>
            <a:r>
              <a:t>如何落地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1566" y="3255645"/>
            <a:ext cx="152400" cy="402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92066" y="3255645"/>
            <a:ext cx="2988733" cy="779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05｜授權換版與復原設</a:t>
            </a:r>
          </a:p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1566" y="4213225"/>
            <a:ext cx="152400" cy="402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92066" y="4213225"/>
            <a:ext cx="2988733" cy="402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06｜POC 到正式上線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8000" y="6527800"/>
            <a:ext cx="96520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77B"/>
                </a:solidFill>
                <a:latin typeface="Microsoft JhengHei"/>
              </a:defRPr>
            </a:pPr>
            <a:r>
              <a:t>v0.8  |  規劃提案 · 尚未完成實作／POC 驗證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09300" y="6527800"/>
            <a:ext cx="7747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77B"/>
                </a:solidFill>
                <a:latin typeface="Microsoft JhengHei"/>
              </a:defRPr>
            </a:pPr>
            <a: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317500"/>
            <a:ext cx="11176000" cy="231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F8C"/>
                </a:solidFill>
                <a:latin typeface="Microsoft JhengHei"/>
              </a:defRPr>
            </a:pPr>
            <a:r>
              <a:t>WINDOWS DEPLOYMENT  /  跨部門討論提案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787400"/>
            <a:ext cx="11176000" cy="574040"/>
          </a:xfrm>
        </p:spPr>
        <p:txBody>
          <a:bodyPr lIns="0" rIns="0" tIns="0" bIns="0" wrap="none" anchor="t"/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2C42"/>
                </a:solidFill>
                <a:latin typeface="Microsoft JhengHei"/>
              </a:defRPr>
            </a:pPr>
            <a:r>
              <a:t>預期效益：維運更一致、風險可控、經驗可複用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435100"/>
            <a:ext cx="11176000" cy="3854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2677B"/>
                </a:solidFill>
                <a:latin typeface="Microsoft JhengHei"/>
              </a:defRPr>
            </a:pPr>
            <a:r>
              <a:t>完成導入並通過驗收後，預期帶來三項改善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000" y="2413000"/>
            <a:ext cx="3572933" cy="368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8000" y="2413000"/>
            <a:ext cx="3572933" cy="508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1200" y="2641600"/>
            <a:ext cx="3166533" cy="3854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42C42"/>
                </a:solidFill>
                <a:latin typeface="Microsoft JhengHei"/>
              </a:defRPr>
            </a:pPr>
            <a:r>
              <a:t>維運更一致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" y="3255645"/>
            <a:ext cx="152400" cy="402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255645"/>
            <a:ext cx="2988733" cy="1156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選版、換版與留存紀錄</a:t>
            </a:r>
          </a:p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採一致流程，減少人工</a:t>
            </a:r>
          </a:p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搬檔與漏步。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" y="4590415"/>
            <a:ext cx="152400" cy="402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000" y="4590415"/>
            <a:ext cx="2988733" cy="1156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可查誰在何時、對哪台</a:t>
            </a:r>
          </a:p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主機部署哪個版本，縮</a:t>
            </a:r>
          </a:p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短問題追查。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9533" y="2413000"/>
            <a:ext cx="3572933" cy="368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09533" y="2413000"/>
            <a:ext cx="3572933" cy="508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2733" y="2641600"/>
            <a:ext cx="3166533" cy="3854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42C42"/>
                </a:solidFill>
                <a:latin typeface="Microsoft JhengHei"/>
              </a:defRPr>
            </a:pPr>
            <a:r>
              <a:t>降低操作風險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0033" y="3255645"/>
            <a:ext cx="152400" cy="402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533" y="3255645"/>
            <a:ext cx="2988733" cy="1156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版本與目標綁定放行，</a:t>
            </a:r>
          </a:p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降低未授權存取與送錯</a:t>
            </a:r>
          </a:p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版本風險。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0033" y="4590415"/>
            <a:ext cx="152400" cy="402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533" y="4590415"/>
            <a:ext cx="2988733" cy="779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備份與復原演練，降低</a:t>
            </a:r>
          </a:p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換版失敗的影響。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1066" y="2413000"/>
            <a:ext cx="3572933" cy="368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11066" y="2413000"/>
            <a:ext cx="3572933" cy="50800"/>
          </a:xfrm>
          <a:prstGeom prst="rect">
            <a:avLst/>
          </a:prstGeom>
          <a:solidFill>
            <a:srgbClr val="C57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4266" y="2641600"/>
            <a:ext cx="3166533" cy="3854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42C42"/>
                </a:solidFill>
                <a:latin typeface="Microsoft JhengHei"/>
              </a:defRPr>
            </a:pPr>
            <a:r>
              <a:t>複用到其他專案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1566" y="3255645"/>
            <a:ext cx="152400" cy="402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92066" y="3255645"/>
            <a:ext cx="2988733" cy="1156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沉澱權限、交付、放行</a:t>
            </a:r>
          </a:p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與紀錄範本，減少重複</a:t>
            </a:r>
          </a:p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設計。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1566" y="4590415"/>
            <a:ext cx="152400" cy="402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92066" y="4590415"/>
            <a:ext cx="2988733" cy="1156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其他 Windows 專案可</a:t>
            </a:r>
          </a:p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沿用框架；服務與復原</a:t>
            </a:r>
          </a:p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方式仍須個別驗證。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8000" y="6527800"/>
            <a:ext cx="96520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77B"/>
                </a:solidFill>
                <a:latin typeface="Microsoft JhengHei"/>
              </a:defRPr>
            </a:pPr>
            <a:r>
              <a:t>v0.8  |  規劃提案 · 尚未完成實作／POC 驗證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09300" y="6527800"/>
            <a:ext cx="7747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77B"/>
                </a:solidFill>
                <a:latin typeface="Microsoft JhengHei"/>
              </a:defRPr>
            </a:pPr>
            <a: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317500"/>
            <a:ext cx="11176000" cy="231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F8C"/>
                </a:solidFill>
                <a:latin typeface="Microsoft JhengHei"/>
              </a:defRPr>
            </a:pPr>
            <a:r>
              <a:t>WINDOWS DEPLOYMENT  /  跨部門討論提案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787400"/>
            <a:ext cx="11176000" cy="574040"/>
          </a:xfrm>
        </p:spPr>
        <p:txBody>
          <a:bodyPr lIns="0" rIns="0" tIns="0" bIns="0" wrap="none" anchor="t"/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2C42"/>
                </a:solidFill>
                <a:latin typeface="Microsoft JhengHei"/>
              </a:defRPr>
            </a:pPr>
            <a:r>
              <a:t>只送檔、不換版，仍然越過正式主機存取邊界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435100"/>
            <a:ext cx="11176000" cy="3854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2677B"/>
                </a:solidFill>
                <a:latin typeface="Microsoft JhengHei"/>
              </a:defRPr>
            </a:pPr>
            <a:r>
              <a:t>原方案已否決：建置端不能直接碰正式主機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000" y="2095500"/>
            <a:ext cx="5334000" cy="33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8000" y="2095500"/>
            <a:ext cx="5334000" cy="431800"/>
          </a:xfrm>
          <a:prstGeom prst="rect">
            <a:avLst/>
          </a:prstGeom>
          <a:solidFill>
            <a:srgbClr val="E4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400" y="2146300"/>
            <a:ext cx="50292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42C42"/>
                </a:solidFill>
                <a:latin typeface="Microsoft JhengHei"/>
              </a:defRPr>
            </a:pPr>
            <a:r>
              <a:t>開發部門：建置候選版本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13500" y="2095500"/>
            <a:ext cx="5270500" cy="330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13500" y="2095500"/>
            <a:ext cx="5270500" cy="431800"/>
          </a:xfrm>
          <a:prstGeom prst="rect">
            <a:avLst/>
          </a:prstGeom>
          <a:solidFill>
            <a:srgbClr val="E4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900" y="2146300"/>
            <a:ext cx="49657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42C42"/>
                </a:solidFill>
                <a:latin typeface="Microsoft JhengHei"/>
              </a:defRPr>
            </a:pPr>
            <a:r>
              <a:t>正式環境：僅指定部門可存取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21000" y="3810000"/>
            <a:ext cx="444500" cy="0"/>
          </a:xfrm>
          <a:prstGeom prst="line">
            <a:avLst/>
          </a:prstGeom>
          <a:ln w="2540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588000" y="3810000"/>
            <a:ext cx="1968500" cy="0"/>
          </a:xfrm>
          <a:prstGeom prst="line">
            <a:avLst/>
          </a:prstGeom>
          <a:ln w="25400">
            <a:solidFill>
              <a:srgbClr val="A6303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 descr="開發人員&#10;提交程式碼"/>
          <p:cNvSpPr/>
          <p:nvPr/>
        </p:nvSpPr>
        <p:spPr>
          <a:xfrm>
            <a:off x="762000" y="3302000"/>
            <a:ext cx="2159000" cy="1016000"/>
          </a:xfrm>
          <a:prstGeom prst="roundRect">
            <a:avLst>
              <a:gd name="adj" fmla="val 8000"/>
            </a:avLst>
          </a:prstGeom>
          <a:solidFill>
            <a:srgbClr val="FFF1DA"/>
          </a:solidFill>
          <a:ln w="10160">
            <a:solidFill>
              <a:srgbClr val="C57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1700" y="3454400"/>
            <a:ext cx="18796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519"/>
                </a:solidFill>
                <a:latin typeface="Microsoft JhengHei"/>
              </a:defRPr>
            </a:pPr>
            <a:r>
              <a:t>開發人員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519"/>
                </a:solidFill>
                <a:latin typeface="Microsoft JhengHei"/>
              </a:defRPr>
            </a:pPr>
            <a:r>
              <a:t>提交程式碼</a:t>
            </a:r>
          </a:p>
        </p:txBody>
      </p:sp>
      <p:sp>
        <p:nvSpPr>
          <p:cNvPr id="17" name="Rounded Rectangle 16" descr="GitLab Runner&#10;建置／測試"/>
          <p:cNvSpPr/>
          <p:nvPr/>
        </p:nvSpPr>
        <p:spPr>
          <a:xfrm>
            <a:off x="3365500" y="3302000"/>
            <a:ext cx="2222500" cy="1016000"/>
          </a:xfrm>
          <a:prstGeom prst="roundRect">
            <a:avLst>
              <a:gd name="adj" fmla="val 8000"/>
            </a:avLst>
          </a:prstGeom>
          <a:solidFill>
            <a:srgbClr val="142C42"/>
          </a:solidFill>
          <a:ln w="10160">
            <a:solidFill>
              <a:srgbClr val="142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05200" y="3454400"/>
            <a:ext cx="19431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GitLab Runner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建置／測試</a:t>
            </a:r>
          </a:p>
        </p:txBody>
      </p:sp>
      <p:sp>
        <p:nvSpPr>
          <p:cNvPr id="19" name="Rounded Rectangle 18" descr="Production 主機&#10;送檔也算存取"/>
          <p:cNvSpPr/>
          <p:nvPr/>
        </p:nvSpPr>
        <p:spPr>
          <a:xfrm>
            <a:off x="7556500" y="3302000"/>
            <a:ext cx="3746500" cy="101600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 w="10160">
            <a:solidFill>
              <a:srgbClr val="A6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6200" y="3454400"/>
            <a:ext cx="34671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922A2A"/>
                </a:solidFill>
                <a:latin typeface="Microsoft JhengHei"/>
              </a:defRPr>
            </a:pPr>
            <a:r>
              <a:t>Production 主機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922A2A"/>
                </a:solidFill>
                <a:latin typeface="Microsoft JhengHei"/>
              </a:defRPr>
            </a:pPr>
            <a:r>
              <a:t>送檔也算存取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6100" y="2794000"/>
            <a:ext cx="1968500" cy="3429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6100" y="2794000"/>
            <a:ext cx="19685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922A2A"/>
                </a:solidFill>
                <a:latin typeface="Microsoft JhengHei"/>
              </a:defRPr>
            </a:pPr>
            <a:r>
              <a:t>禁止直接送檔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000" y="5867400"/>
            <a:ext cx="111760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384D"/>
                </a:solidFill>
                <a:latin typeface="Microsoft JhengHei"/>
              </a:defRPr>
            </a:pPr>
            <a:r>
              <a:t>保留建置自動化；檔案送入正式主機與換版，都改由授權流程執行。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8000" y="6527800"/>
            <a:ext cx="96520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77B"/>
                </a:solidFill>
                <a:latin typeface="Microsoft JhengHei"/>
              </a:defRPr>
            </a:pPr>
            <a:r>
              <a:t>v0.8  |  規劃提案 · 尚未完成實作／POC 驗證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09300" y="6527800"/>
            <a:ext cx="7747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77B"/>
                </a:solidFill>
                <a:latin typeface="Microsoft JhengHei"/>
              </a:defRPr>
            </a:pPr>
            <a: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317500"/>
            <a:ext cx="11176000" cy="231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F8C"/>
                </a:solidFill>
                <a:latin typeface="Microsoft JhengHei"/>
              </a:defRPr>
            </a:pPr>
            <a:r>
              <a:t>WINDOWS DEPLOYMENT  /  跨部門討論提案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787400"/>
            <a:ext cx="11176000" cy="574040"/>
          </a:xfrm>
        </p:spPr>
        <p:txBody>
          <a:bodyPr lIns="0" rIns="0" tIns="0" bIns="0" wrap="none" anchor="t"/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2C42"/>
                </a:solidFill>
                <a:latin typeface="Microsoft JhengHei"/>
              </a:defRPr>
            </a:pPr>
            <a:r>
              <a:t>本次提案狀態：需求已確認，做法仍待驗證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435100"/>
            <a:ext cx="11176000" cy="3854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2677B"/>
                </a:solidFill>
                <a:latin typeface="Microsoft JhengHei"/>
              </a:defRPr>
            </a:pPr>
            <a:r>
              <a:t>官方文件支持工具能力，不代表本案已完成整合或驗收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000" y="2413000"/>
            <a:ext cx="3572933" cy="368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8000" y="2413000"/>
            <a:ext cx="3572933" cy="508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1200" y="2641600"/>
            <a:ext cx="3166533" cy="3854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42C42"/>
                </a:solidFill>
                <a:latin typeface="Microsoft JhengHei"/>
              </a:defRPr>
            </a:pPr>
            <a:r>
              <a:t>已確認的需求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" y="3255645"/>
            <a:ext cx="152400" cy="402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255645"/>
            <a:ext cx="2988733" cy="1156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保留 GitLab 建置；正式</a:t>
            </a:r>
          </a:p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主機僅限指定部門存取</a:t>
            </a:r>
          </a:p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" y="4590415"/>
            <a:ext cx="152400" cy="402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000" y="4590415"/>
            <a:ext cx="2988733" cy="1156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正式部署須先選定版本</a:t>
            </a:r>
          </a:p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與目標、授權放行；送</a:t>
            </a:r>
          </a:p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檔也算存取。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9533" y="2413000"/>
            <a:ext cx="3572933" cy="368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09533" y="2413000"/>
            <a:ext cx="3572933" cy="508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2733" y="2641600"/>
            <a:ext cx="3166533" cy="3854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42C42"/>
                </a:solidFill>
                <a:latin typeface="Microsoft JhengHei"/>
              </a:defRPr>
            </a:pPr>
            <a:r>
              <a:t>規劃中的做法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0033" y="3255645"/>
            <a:ext cx="152400" cy="3854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533" y="3255645"/>
            <a:ext cx="2988733" cy="11055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384D"/>
                </a:solidFill>
                <a:latin typeface="Microsoft JhengHei"/>
              </a:defRPr>
            </a:pPr>
            <a:r>
              <a:t>以 Azure DevOps Server</a:t>
            </a:r>
          </a:p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384D"/>
                </a:solidFill>
                <a:latin typeface="Microsoft JhengHei"/>
              </a:defRPr>
            </a:pPr>
            <a:r>
              <a:t>管理放行，由目標 Agent</a:t>
            </a:r>
          </a:p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384D"/>
                </a:solidFill>
                <a:latin typeface="Microsoft JhengHei"/>
              </a:defRPr>
            </a:pPr>
            <a:r>
              <a:t>執行受控腳本。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0033" y="4538980"/>
            <a:ext cx="152400" cy="3854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87F8C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533" y="4538980"/>
            <a:ext cx="2988733" cy="11055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384D"/>
                </a:solidFill>
                <a:latin typeface="Microsoft JhengHei"/>
              </a:defRPr>
            </a:pPr>
            <a:r>
              <a:t>納入備份、健康檢查與復</a:t>
            </a:r>
          </a:p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384D"/>
                </a:solidFill>
                <a:latin typeface="Microsoft JhengHei"/>
              </a:defRPr>
            </a:pPr>
            <a:r>
              <a:t>原；需另行實作，並非工</a:t>
            </a:r>
          </a:p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3384D"/>
                </a:solidFill>
                <a:latin typeface="Microsoft JhengHei"/>
              </a:defRPr>
            </a:pPr>
            <a:r>
              <a:t>具自帶完整機制。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1066" y="2413000"/>
            <a:ext cx="3572933" cy="368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11066" y="2413000"/>
            <a:ext cx="3572933" cy="50800"/>
          </a:xfrm>
          <a:prstGeom prst="rect">
            <a:avLst/>
          </a:prstGeom>
          <a:solidFill>
            <a:srgbClr val="C57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4266" y="2641600"/>
            <a:ext cx="3166533" cy="3854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42C42"/>
                </a:solidFill>
                <a:latin typeface="Microsoft JhengHei"/>
              </a:defRPr>
            </a:pPr>
            <a:r>
              <a:t>POC 待驗證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1566" y="3255645"/>
            <a:ext cx="152400" cy="402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92066" y="3255645"/>
            <a:ext cx="2988733" cy="779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GitLab 串接、Agent 權</a:t>
            </a:r>
          </a:p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限與放行前禁止送檔。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1566" y="4213225"/>
            <a:ext cx="152400" cy="402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87F8C"/>
                </a:solidFill>
                <a:latin typeface="Microsoft JhengHei"/>
              </a:defRPr>
            </a:pPr>
            <a: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92066" y="4213225"/>
            <a:ext cx="2988733" cy="11569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F5 隔離、人工確認、備</a:t>
            </a:r>
          </a:p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份還原及失敗停止；含</a:t>
            </a:r>
          </a:p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23384D"/>
                </a:solidFill>
                <a:latin typeface="Microsoft JhengHei"/>
              </a:defRPr>
            </a:pPr>
            <a:r>
              <a:t>失聯例外。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8000" y="6527800"/>
            <a:ext cx="96520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77B"/>
                </a:solidFill>
                <a:latin typeface="Microsoft JhengHei"/>
              </a:defRPr>
            </a:pPr>
            <a:r>
              <a:t>v0.8  |  規劃提案 · 尚未完成實作／POC 驗證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09300" y="6527800"/>
            <a:ext cx="7747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77B"/>
                </a:solidFill>
                <a:latin typeface="Microsoft JhengHei"/>
              </a:defRPr>
            </a:pPr>
            <a: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規劃架構：從提交程式碼到多機換版與復原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indows 正式部署端到端架構：開發人員提交 GitLab，Runner 建置測試；成功後透過串接通知 ADO，管理側下載並保存可選版本，部署人員選版、選目標並放行，由多台 Windows Target 的 Agent 執行；下方展開 F5 換版與復原流程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317500"/>
            <a:ext cx="11176000" cy="231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F8C"/>
                </a:solidFill>
                <a:latin typeface="Microsoft JhengHei"/>
              </a:defRPr>
            </a:pPr>
            <a:r>
              <a:t>WINDOWS DEPLOYMENT  /  跨部門討論提案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787400"/>
            <a:ext cx="11176000" cy="574040"/>
          </a:xfrm>
        </p:spPr>
        <p:txBody>
          <a:bodyPr lIns="0" rIns="0" tIns="0" bIns="0" wrap="none" anchor="t"/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2C42"/>
                </a:solidFill>
                <a:latin typeface="Microsoft JhengHei"/>
              </a:defRPr>
            </a:pPr>
            <a:r>
              <a:t>規劃做法：不同分支可有不同 CI/CD 與換版方式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435100"/>
            <a:ext cx="11176000" cy="3854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2677B"/>
                </a:solidFill>
                <a:latin typeface="Microsoft JhengHei"/>
              </a:defRPr>
            </a:pPr>
            <a:r>
              <a:t>規劃示意／待 POC：來源分支 → 對應 pipeline → 部署策略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699000" y="2508250"/>
            <a:ext cx="571500" cy="0"/>
          </a:xfrm>
          <a:prstGeom prst="line">
            <a:avLst/>
          </a:prstGeom>
          <a:ln w="2540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128000" y="2508250"/>
            <a:ext cx="571500" cy="0"/>
          </a:xfrm>
          <a:prstGeom prst="line">
            <a:avLst/>
          </a:prstGeom>
          <a:ln w="2540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99000" y="3587750"/>
            <a:ext cx="571500" cy="0"/>
          </a:xfrm>
          <a:prstGeom prst="line">
            <a:avLst/>
          </a:prstGeom>
          <a:ln w="2540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128000" y="3587750"/>
            <a:ext cx="571500" cy="0"/>
          </a:xfrm>
          <a:prstGeom prst="line">
            <a:avLst/>
          </a:prstGeom>
          <a:ln w="2540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99000" y="4953000"/>
            <a:ext cx="571500" cy="0"/>
          </a:xfrm>
          <a:prstGeom prst="line">
            <a:avLst/>
          </a:prstGeom>
          <a:ln w="2540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28000" y="4953000"/>
            <a:ext cx="571500" cy="0"/>
          </a:xfrm>
          <a:prstGeom prst="line">
            <a:avLst/>
          </a:prstGeom>
          <a:ln w="2540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 descr="master"/>
          <p:cNvSpPr/>
          <p:nvPr/>
        </p:nvSpPr>
        <p:spPr>
          <a:xfrm>
            <a:off x="508000" y="2095500"/>
            <a:ext cx="4191000" cy="825500"/>
          </a:xfrm>
          <a:prstGeom prst="roundRect">
            <a:avLst>
              <a:gd name="adj" fmla="val 8000"/>
            </a:avLst>
          </a:prstGeom>
          <a:solidFill>
            <a:srgbClr val="142C42"/>
          </a:solidFill>
          <a:ln w="10160">
            <a:solidFill>
              <a:srgbClr val="142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" y="2324100"/>
            <a:ext cx="39116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master</a:t>
            </a:r>
          </a:p>
        </p:txBody>
      </p:sp>
      <p:sp>
        <p:nvSpPr>
          <p:cNvPr id="15" name="Rounded Rectangle 14" descr="pre-production"/>
          <p:cNvSpPr/>
          <p:nvPr/>
        </p:nvSpPr>
        <p:spPr>
          <a:xfrm>
            <a:off x="508000" y="3175000"/>
            <a:ext cx="4191000" cy="825500"/>
          </a:xfrm>
          <a:prstGeom prst="roundRect">
            <a:avLst>
              <a:gd name="adj" fmla="val 8000"/>
            </a:avLst>
          </a:prstGeom>
          <a:solidFill>
            <a:srgbClr val="142C42"/>
          </a:solidFill>
          <a:ln w="10160">
            <a:solidFill>
              <a:srgbClr val="142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700" y="3403600"/>
            <a:ext cx="39116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pre-production</a:t>
            </a:r>
          </a:p>
        </p:txBody>
      </p:sp>
      <p:sp>
        <p:nvSpPr>
          <p:cNvPr id="17" name="Rounded Rectangle 16" descr="production / production-bq1&#10;production-bq2 / production-nh&#10;…（正式分支示例）"/>
          <p:cNvSpPr/>
          <p:nvPr/>
        </p:nvSpPr>
        <p:spPr>
          <a:xfrm>
            <a:off x="508000" y="4254500"/>
            <a:ext cx="4191000" cy="1397000"/>
          </a:xfrm>
          <a:prstGeom prst="roundRect">
            <a:avLst>
              <a:gd name="adj" fmla="val 8000"/>
            </a:avLst>
          </a:prstGeom>
          <a:solidFill>
            <a:srgbClr val="142C42"/>
          </a:solidFill>
          <a:ln w="10160">
            <a:solidFill>
              <a:srgbClr val="142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700" y="4438808"/>
            <a:ext cx="3911600" cy="10283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FFFFFF"/>
                </a:solidFill>
                <a:latin typeface="Microsoft JhengHei"/>
              </a:defRPr>
            </a:pPr>
            <a:r>
              <a:t>production / production-bq1</a:t>
            </a:r>
          </a:p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FFFFFF"/>
                </a:solidFill>
                <a:latin typeface="Microsoft JhengHei"/>
              </a:defRPr>
            </a:pPr>
            <a:r>
              <a:t>production-bq2 / production-nh</a:t>
            </a:r>
          </a:p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FFFFFF"/>
                </a:solidFill>
                <a:latin typeface="Microsoft JhengHei"/>
              </a:defRPr>
            </a:pPr>
            <a:r>
              <a:t>…（正式分支示例）</a:t>
            </a:r>
          </a:p>
        </p:txBody>
      </p:sp>
      <p:sp>
        <p:nvSpPr>
          <p:cNvPr id="19" name="Rounded Rectangle 18" descr="SIT pipeline"/>
          <p:cNvSpPr/>
          <p:nvPr/>
        </p:nvSpPr>
        <p:spPr>
          <a:xfrm>
            <a:off x="5270500" y="2095500"/>
            <a:ext cx="2857500" cy="825500"/>
          </a:xfrm>
          <a:prstGeom prst="roundRect">
            <a:avLst>
              <a:gd name="adj" fmla="val 8000"/>
            </a:avLst>
          </a:prstGeom>
          <a:solidFill>
            <a:srgbClr val="142C42"/>
          </a:solidFill>
          <a:ln w="10160">
            <a:solidFill>
              <a:srgbClr val="142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10200" y="2324100"/>
            <a:ext cx="25781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SIT pipeline</a:t>
            </a:r>
          </a:p>
        </p:txBody>
      </p:sp>
      <p:sp>
        <p:nvSpPr>
          <p:cNvPr id="21" name="Rounded Rectangle 20" descr="UAT pipeline"/>
          <p:cNvSpPr/>
          <p:nvPr/>
        </p:nvSpPr>
        <p:spPr>
          <a:xfrm>
            <a:off x="5270500" y="3175000"/>
            <a:ext cx="2857500" cy="825500"/>
          </a:xfrm>
          <a:prstGeom prst="roundRect">
            <a:avLst>
              <a:gd name="adj" fmla="val 8000"/>
            </a:avLst>
          </a:prstGeom>
          <a:solidFill>
            <a:srgbClr val="142C42"/>
          </a:solidFill>
          <a:ln w="10160">
            <a:solidFill>
              <a:srgbClr val="142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10200" y="3403600"/>
            <a:ext cx="25781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UAT pipeline</a:t>
            </a:r>
          </a:p>
        </p:txBody>
      </p:sp>
      <p:sp>
        <p:nvSpPr>
          <p:cNvPr id="23" name="Rounded Rectangle 22" descr="各正式分支&#10;對應的 pipeline"/>
          <p:cNvSpPr/>
          <p:nvPr/>
        </p:nvSpPr>
        <p:spPr>
          <a:xfrm>
            <a:off x="5270500" y="4254500"/>
            <a:ext cx="2857500" cy="1397000"/>
          </a:xfrm>
          <a:prstGeom prst="roundRect">
            <a:avLst>
              <a:gd name="adj" fmla="val 8000"/>
            </a:avLst>
          </a:prstGeom>
          <a:solidFill>
            <a:srgbClr val="142C42"/>
          </a:solidFill>
          <a:ln w="10160">
            <a:solidFill>
              <a:srgbClr val="142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10200" y="4597400"/>
            <a:ext cx="25781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各正式分支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對應的 pipeline</a:t>
            </a:r>
          </a:p>
        </p:txBody>
      </p:sp>
      <p:sp>
        <p:nvSpPr>
          <p:cNvPr id="25" name="Rounded Rectangle 24" descr="SIT｜可自動換版"/>
          <p:cNvSpPr/>
          <p:nvPr/>
        </p:nvSpPr>
        <p:spPr>
          <a:xfrm>
            <a:off x="8699500" y="2095500"/>
            <a:ext cx="2984500" cy="825500"/>
          </a:xfrm>
          <a:prstGeom prst="roundRect">
            <a:avLst>
              <a:gd name="adj" fmla="val 8000"/>
            </a:avLst>
          </a:prstGeom>
          <a:solidFill>
            <a:srgbClr val="087F8C"/>
          </a:solidFill>
          <a:ln w="1016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39200" y="2324100"/>
            <a:ext cx="27051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SIT｜可自動換版</a:t>
            </a:r>
          </a:p>
        </p:txBody>
      </p:sp>
      <p:sp>
        <p:nvSpPr>
          <p:cNvPr id="27" name="Rounded Rectangle 26" descr="UAT｜可自動換版"/>
          <p:cNvSpPr/>
          <p:nvPr/>
        </p:nvSpPr>
        <p:spPr>
          <a:xfrm>
            <a:off x="8699500" y="3175000"/>
            <a:ext cx="2984500" cy="825500"/>
          </a:xfrm>
          <a:prstGeom prst="roundRect">
            <a:avLst>
              <a:gd name="adj" fmla="val 8000"/>
            </a:avLst>
          </a:prstGeom>
          <a:solidFill>
            <a:srgbClr val="087F8C"/>
          </a:solidFill>
          <a:ln w="1016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39200" y="3403600"/>
            <a:ext cx="27051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UAT｜可自動換版</a:t>
            </a:r>
          </a:p>
        </p:txBody>
      </p:sp>
      <p:sp>
        <p:nvSpPr>
          <p:cNvPr id="29" name="Rounded Rectangle 28" descr="正式｜授權後換版&#10;依目標採不同策略"/>
          <p:cNvSpPr/>
          <p:nvPr/>
        </p:nvSpPr>
        <p:spPr>
          <a:xfrm>
            <a:off x="8699500" y="4254500"/>
            <a:ext cx="2984500" cy="1397000"/>
          </a:xfrm>
          <a:prstGeom prst="roundRect">
            <a:avLst>
              <a:gd name="adj" fmla="val 8000"/>
            </a:avLst>
          </a:prstGeom>
          <a:solidFill>
            <a:srgbClr val="087F8C"/>
          </a:solidFill>
          <a:ln w="1016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39200" y="4597400"/>
            <a:ext cx="27051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正式｜授權後換版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依目標採不同策略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8000" y="5867400"/>
            <a:ext cx="111760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384D"/>
                </a:solidFill>
                <a:latin typeface="Microsoft JhengHei"/>
              </a:defRPr>
            </a:pPr>
            <a:r>
              <a:t>分支可採不同建置、測試、目標與換版機制；正式部署仍須授權。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8000" y="6527800"/>
            <a:ext cx="96520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77B"/>
                </a:solidFill>
                <a:latin typeface="Microsoft JhengHei"/>
              </a:defRPr>
            </a:pPr>
            <a:r>
              <a:t>v0.8  |  規劃提案 · 尚未完成實作／POC 驗證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09300" y="6527800"/>
            <a:ext cx="7747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77B"/>
                </a:solidFill>
                <a:latin typeface="Microsoft JhengHei"/>
              </a:defRPr>
            </a:pPr>
            <a: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317500"/>
            <a:ext cx="11176000" cy="231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F8C"/>
                </a:solidFill>
                <a:latin typeface="Microsoft JhengHei"/>
              </a:defRPr>
            </a:pPr>
            <a:r>
              <a:t>WINDOWS DEPLOYMENT  /  跨部門討論提案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787400"/>
            <a:ext cx="11176000" cy="574040"/>
          </a:xfrm>
        </p:spPr>
        <p:txBody>
          <a:bodyPr lIns="0" rIns="0" tIns="0" bIns="0" wrap="none" anchor="t"/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2C42"/>
                </a:solidFill>
                <a:latin typeface="Microsoft JhengHei"/>
              </a:defRPr>
            </a:pPr>
            <a:r>
              <a:t>規劃做法：放行後送檔，換版失敗嘗試復原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435100"/>
            <a:ext cx="11176000" cy="3854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2677B"/>
                </a:solidFill>
                <a:latin typeface="Microsoft JhengHei"/>
              </a:defRPr>
            </a:pPr>
            <a:r>
              <a:t>待 POC：Agent 執行、備份與復原腳本均須實作及演練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94000" y="3175000"/>
            <a:ext cx="508000" cy="0"/>
          </a:xfrm>
          <a:prstGeom prst="line">
            <a:avLst/>
          </a:prstGeom>
          <a:ln w="2540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588000" y="3175000"/>
            <a:ext cx="508000" cy="0"/>
          </a:xfrm>
          <a:prstGeom prst="line">
            <a:avLst/>
          </a:prstGeom>
          <a:ln w="2540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382000" y="3175000"/>
            <a:ext cx="889000" cy="0"/>
          </a:xfrm>
          <a:prstGeom prst="line">
            <a:avLst/>
          </a:prstGeom>
          <a:ln w="2540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477500" y="3810000"/>
            <a:ext cx="0" cy="825500"/>
          </a:xfrm>
          <a:prstGeom prst="line">
            <a:avLst/>
          </a:prstGeom>
          <a:ln w="2540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477500" y="3810000"/>
            <a:ext cx="0" cy="444500"/>
          </a:xfrm>
          <a:prstGeom prst="line">
            <a:avLst/>
          </a:prstGeom>
          <a:ln w="2540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493000" y="4254500"/>
            <a:ext cx="2984500" cy="0"/>
          </a:xfrm>
          <a:prstGeom prst="line">
            <a:avLst/>
          </a:prstGeom>
          <a:ln w="2540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93000" y="4254500"/>
            <a:ext cx="0" cy="381000"/>
          </a:xfrm>
          <a:prstGeom prst="line">
            <a:avLst/>
          </a:prstGeom>
          <a:ln w="2540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 descr="部署人員&#10;選版並放行"/>
          <p:cNvSpPr/>
          <p:nvPr/>
        </p:nvSpPr>
        <p:spPr>
          <a:xfrm>
            <a:off x="508000" y="260350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FF1DA"/>
          </a:solidFill>
          <a:ln w="10160">
            <a:solidFill>
              <a:srgbClr val="C57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700" y="2819400"/>
            <a:ext cx="20066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519"/>
                </a:solidFill>
                <a:latin typeface="Microsoft JhengHei"/>
              </a:defRPr>
            </a:pPr>
            <a:r>
              <a:t>部署人員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754519"/>
                </a:solidFill>
                <a:latin typeface="Microsoft JhengHei"/>
              </a:defRPr>
            </a:pPr>
            <a:r>
              <a:t>選版並放行</a:t>
            </a:r>
          </a:p>
        </p:txBody>
      </p:sp>
      <p:sp>
        <p:nvSpPr>
          <p:cNvPr id="16" name="Rounded Rectangle 15" descr="Agent 取檔&#10;驗證版本內容"/>
          <p:cNvSpPr/>
          <p:nvPr/>
        </p:nvSpPr>
        <p:spPr>
          <a:xfrm>
            <a:off x="3302000" y="260350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142C42"/>
          </a:solidFill>
          <a:ln w="10160">
            <a:solidFill>
              <a:srgbClr val="142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1700" y="2819400"/>
            <a:ext cx="20066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Agent 取檔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驗證版本內容</a:t>
            </a:r>
          </a:p>
        </p:txBody>
      </p:sp>
      <p:sp>
        <p:nvSpPr>
          <p:cNvPr id="18" name="Rounded Rectangle 17" descr="執行換版&#10;切換程式版本"/>
          <p:cNvSpPr/>
          <p:nvPr/>
        </p:nvSpPr>
        <p:spPr>
          <a:xfrm>
            <a:off x="6096000" y="260350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142C42"/>
          </a:solidFill>
          <a:ln w="10160">
            <a:solidFill>
              <a:srgbClr val="142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5700" y="2819400"/>
            <a:ext cx="20066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執行換版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切換程式版本</a:t>
            </a:r>
          </a:p>
        </p:txBody>
      </p:sp>
      <p:sp>
        <p:nvSpPr>
          <p:cNvPr id="20" name="Diamond 19" descr="健康檢查&#10;是否正常？"/>
          <p:cNvSpPr/>
          <p:nvPr/>
        </p:nvSpPr>
        <p:spPr>
          <a:xfrm>
            <a:off x="9271000" y="2540000"/>
            <a:ext cx="2413000" cy="1270000"/>
          </a:xfrm>
          <a:prstGeom prst="diamond">
            <a:avLst/>
          </a:prstGeom>
          <a:solidFill>
            <a:srgbClr val="142C42"/>
          </a:solidFill>
          <a:ln w="10160">
            <a:solidFill>
              <a:srgbClr val="142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32950" y="2819400"/>
            <a:ext cx="16891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健康檢查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是否正常？</a:t>
            </a:r>
          </a:p>
        </p:txBody>
      </p:sp>
      <p:sp>
        <p:nvSpPr>
          <p:cNvPr id="22" name="Rounded Rectangle 21" descr="換版完成&#10;留存執行紀錄"/>
          <p:cNvSpPr/>
          <p:nvPr/>
        </p:nvSpPr>
        <p:spPr>
          <a:xfrm>
            <a:off x="9588500" y="4635500"/>
            <a:ext cx="2095500" cy="889000"/>
          </a:xfrm>
          <a:prstGeom prst="roundRect">
            <a:avLst>
              <a:gd name="adj" fmla="val 8000"/>
            </a:avLst>
          </a:prstGeom>
          <a:solidFill>
            <a:srgbClr val="087F8C"/>
          </a:solidFill>
          <a:ln w="1016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8200" y="4724400"/>
            <a:ext cx="18161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換版完成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留存執行紀錄</a:t>
            </a:r>
          </a:p>
        </p:txBody>
      </p:sp>
      <p:sp>
        <p:nvSpPr>
          <p:cNvPr id="24" name="Rounded Rectangle 23" descr="回復前一版本&#10;檢查復原結果"/>
          <p:cNvSpPr/>
          <p:nvPr/>
        </p:nvSpPr>
        <p:spPr>
          <a:xfrm>
            <a:off x="6096000" y="4635500"/>
            <a:ext cx="2794000" cy="88900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 w="10160">
            <a:solidFill>
              <a:srgbClr val="A6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5700" y="4724400"/>
            <a:ext cx="25146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922A2A"/>
                </a:solidFill>
                <a:latin typeface="Microsoft JhengHei"/>
              </a:defRPr>
            </a:pPr>
            <a:r>
              <a:t>回復前一版本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922A2A"/>
                </a:solidFill>
                <a:latin typeface="Microsoft JhengHei"/>
              </a:defRPr>
            </a:pPr>
            <a:r>
              <a:t>檢查復原結果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29900" y="4038600"/>
            <a:ext cx="952500" cy="3429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29900" y="4038600"/>
            <a:ext cx="9525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JhengHei"/>
              </a:defRPr>
            </a:pPr>
            <a:r>
              <a:t>正常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75600" y="3848100"/>
            <a:ext cx="1143000" cy="3429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75600" y="3848100"/>
            <a:ext cx="1143000" cy="3340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87F8C"/>
                </a:solidFill>
                <a:latin typeface="Microsoft JhengHei"/>
              </a:defRPr>
            </a:pPr>
            <a:r>
              <a:t>異常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8000" y="5867400"/>
            <a:ext cx="111760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384D"/>
                </a:solidFill>
                <a:latin typeface="Microsoft JhengHei"/>
              </a:defRPr>
            </a:pPr>
            <a:r>
              <a:t>每台主機由部署 Agent 執行受控腳本；記錄人員、版本、目標與結果。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8000" y="6527800"/>
            <a:ext cx="96520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77B"/>
                </a:solidFill>
                <a:latin typeface="Microsoft JhengHei"/>
              </a:defRPr>
            </a:pPr>
            <a:r>
              <a:t>v0.8  |  規劃提案 · 尚未完成實作／POC 驗證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09300" y="6527800"/>
            <a:ext cx="7747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77B"/>
                </a:solidFill>
                <a:latin typeface="Microsoft JhengHei"/>
              </a:defRPr>
            </a:pPr>
            <a: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317500"/>
            <a:ext cx="11176000" cy="2311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F8C"/>
                </a:solidFill>
                <a:latin typeface="Microsoft JhengHei"/>
              </a:defRPr>
            </a:pPr>
            <a:r>
              <a:t>WINDOWS DEPLOYMENT  /  跨部門討論提案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787400"/>
            <a:ext cx="11176000" cy="574040"/>
          </a:xfrm>
        </p:spPr>
        <p:txBody>
          <a:bodyPr lIns="0" rIns="0" tIns="0" bIns="0" wrap="none" anchor="t"/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42C42"/>
                </a:solidFill>
                <a:latin typeface="Microsoft JhengHei"/>
              </a:defRPr>
            </a:pPr>
            <a:r>
              <a:t>建議以 12/31 為目標，逐關驗證後再正式上線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435100"/>
            <a:ext cx="11176000" cy="3854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52677B"/>
                </a:solidFill>
                <a:latin typeface="Microsoft JhengHei"/>
              </a:defRPr>
            </a:pPr>
            <a:r>
              <a:t>暫定里程碑順序；各階段日期與資源由相關部門共同確認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10000" y="2857500"/>
            <a:ext cx="635000" cy="0"/>
          </a:xfrm>
          <a:prstGeom prst="line">
            <a:avLst/>
          </a:prstGeom>
          <a:ln w="2540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747000" y="2857500"/>
            <a:ext cx="635000" cy="0"/>
          </a:xfrm>
          <a:prstGeom prst="line">
            <a:avLst/>
          </a:prstGeom>
          <a:ln w="2540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033000" y="3429000"/>
            <a:ext cx="0" cy="889000"/>
          </a:xfrm>
          <a:prstGeom prst="line">
            <a:avLst/>
          </a:prstGeom>
          <a:ln w="2540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747000" y="4889500"/>
            <a:ext cx="635000" cy="0"/>
          </a:xfrm>
          <a:prstGeom prst="line">
            <a:avLst/>
          </a:prstGeom>
          <a:ln w="2540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810000" y="4889500"/>
            <a:ext cx="635000" cy="0"/>
          </a:xfrm>
          <a:prstGeom prst="line">
            <a:avLst/>
          </a:prstGeom>
          <a:ln w="2540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 descr="01｜POC&#10;驗證通知與權限"/>
          <p:cNvSpPr/>
          <p:nvPr/>
        </p:nvSpPr>
        <p:spPr>
          <a:xfrm>
            <a:off x="508000" y="2286000"/>
            <a:ext cx="3302000" cy="1143000"/>
          </a:xfrm>
          <a:prstGeom prst="roundRect">
            <a:avLst>
              <a:gd name="adj" fmla="val 8000"/>
            </a:avLst>
          </a:prstGeom>
          <a:solidFill>
            <a:srgbClr val="142C42"/>
          </a:solidFill>
          <a:ln w="10160">
            <a:solidFill>
              <a:srgbClr val="142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700" y="2501900"/>
            <a:ext cx="30226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01｜POC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驗證通知與權限</a:t>
            </a:r>
          </a:p>
        </p:txBody>
      </p:sp>
      <p:sp>
        <p:nvSpPr>
          <p:cNvPr id="14" name="Rounded Rectangle 13" descr="02｜協調架構部門&#10;安裝／配置 ADO"/>
          <p:cNvSpPr/>
          <p:nvPr/>
        </p:nvSpPr>
        <p:spPr>
          <a:xfrm>
            <a:off x="4445000" y="2286000"/>
            <a:ext cx="3302000" cy="1143000"/>
          </a:xfrm>
          <a:prstGeom prst="roundRect">
            <a:avLst>
              <a:gd name="adj" fmla="val 8000"/>
            </a:avLst>
          </a:prstGeom>
          <a:solidFill>
            <a:srgbClr val="142C42"/>
          </a:solidFill>
          <a:ln w="10160">
            <a:solidFill>
              <a:srgbClr val="142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4700" y="2501900"/>
            <a:ext cx="30226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02｜協調架構部門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安裝／配置 ADO</a:t>
            </a:r>
          </a:p>
        </p:txBody>
      </p:sp>
      <p:sp>
        <p:nvSpPr>
          <p:cNvPr id="16" name="Rounded Rectangle 15" descr="03｜整合 GitLab&#10;串接通知與產物"/>
          <p:cNvSpPr/>
          <p:nvPr/>
        </p:nvSpPr>
        <p:spPr>
          <a:xfrm>
            <a:off x="8382000" y="2286000"/>
            <a:ext cx="3302000" cy="1143000"/>
          </a:xfrm>
          <a:prstGeom prst="roundRect">
            <a:avLst>
              <a:gd name="adj" fmla="val 8000"/>
            </a:avLst>
          </a:prstGeom>
          <a:solidFill>
            <a:srgbClr val="142C42"/>
          </a:solidFill>
          <a:ln w="10160">
            <a:solidFill>
              <a:srgbClr val="142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1700" y="2501900"/>
            <a:ext cx="30226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03｜整合 GitLab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串接通知與產物</a:t>
            </a:r>
          </a:p>
        </p:txBody>
      </p:sp>
      <p:sp>
        <p:nvSpPr>
          <p:cNvPr id="18" name="Rounded Rectangle 17" descr="04｜SIT&#10;整合與例外測試"/>
          <p:cNvSpPr/>
          <p:nvPr/>
        </p:nvSpPr>
        <p:spPr>
          <a:xfrm>
            <a:off x="8382000" y="4318000"/>
            <a:ext cx="3302000" cy="1143000"/>
          </a:xfrm>
          <a:prstGeom prst="roundRect">
            <a:avLst>
              <a:gd name="adj" fmla="val 8000"/>
            </a:avLst>
          </a:prstGeom>
          <a:solidFill>
            <a:srgbClr val="142C42"/>
          </a:solidFill>
          <a:ln w="10160">
            <a:solidFill>
              <a:srgbClr val="142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1700" y="4533900"/>
            <a:ext cx="30226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04｜SIT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整合與例外測試</a:t>
            </a:r>
          </a:p>
        </p:txBody>
      </p:sp>
      <p:sp>
        <p:nvSpPr>
          <p:cNvPr id="20" name="Rounded Rectangle 19" descr="05｜UAT&#10;驗收與復原演練"/>
          <p:cNvSpPr/>
          <p:nvPr/>
        </p:nvSpPr>
        <p:spPr>
          <a:xfrm>
            <a:off x="4445000" y="4318000"/>
            <a:ext cx="3302000" cy="1143000"/>
          </a:xfrm>
          <a:prstGeom prst="roundRect">
            <a:avLst>
              <a:gd name="adj" fmla="val 8000"/>
            </a:avLst>
          </a:prstGeom>
          <a:solidFill>
            <a:srgbClr val="142C42"/>
          </a:solidFill>
          <a:ln w="10160">
            <a:solidFill>
              <a:srgbClr val="142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4700" y="4533900"/>
            <a:ext cx="30226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05｜UAT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驗收與復原演練</a:t>
            </a:r>
          </a:p>
        </p:txBody>
      </p:sp>
      <p:sp>
        <p:nvSpPr>
          <p:cNvPr id="22" name="Rounded Rectangle 21" descr="06｜Production&#10;目標 12/31"/>
          <p:cNvSpPr/>
          <p:nvPr/>
        </p:nvSpPr>
        <p:spPr>
          <a:xfrm>
            <a:off x="508000" y="4318000"/>
            <a:ext cx="3302000" cy="1143000"/>
          </a:xfrm>
          <a:prstGeom prst="roundRect">
            <a:avLst>
              <a:gd name="adj" fmla="val 8000"/>
            </a:avLst>
          </a:prstGeom>
          <a:solidFill>
            <a:srgbClr val="087F8C"/>
          </a:solidFill>
          <a:ln w="1016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700" y="4533900"/>
            <a:ext cx="30226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06｜Production</a:t>
            </a:r>
          </a:p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icrosoft JhengHei"/>
              </a:defRPr>
            </a:pPr>
            <a:r>
              <a:t>目標 12/31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000" y="5867400"/>
            <a:ext cx="11176000" cy="368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3384D"/>
                </a:solidFill>
                <a:latin typeface="Microsoft JhengHei"/>
              </a:defRPr>
            </a:pPr>
            <a:r>
              <a:t>POC 先證明「未放行不能送檔」；驗收與復原演練通過後，才申請正式上線。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8000" y="6413500"/>
            <a:ext cx="11176000" cy="12700"/>
          </a:xfrm>
          <a:prstGeom prst="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8000" y="6527800"/>
            <a:ext cx="96520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77B"/>
                </a:solidFill>
                <a:latin typeface="Microsoft JhengHei"/>
              </a:defRPr>
            </a:pPr>
            <a:r>
              <a:t>v0.8  |  規劃提案 · 尚未完成實作／POC 驗證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09300" y="6527800"/>
            <a:ext cx="774700" cy="196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77B"/>
                </a:solidFill>
                <a:latin typeface="Microsoft JhengHei"/>
              </a:defRPr>
            </a:pPr>
            <a: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正式部署治理計劃</dc:title>
  <dc:subject>跨部門可行性與合規討論；非正式上線核准</dc:subject>
  <dc:creator>Windows CD Governance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