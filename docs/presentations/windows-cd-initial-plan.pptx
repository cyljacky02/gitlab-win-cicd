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頁，不增加重複圖頁或動畫頁；第 4 頁上半部以 ①～⑧ 說明交付架構，下半部展開單台換版與復原。圖的組織區域、人員與工具分開呈現，詳細閱讀可放大獨立 PDF／draw.io。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 v0.7 改為完整架構圖圖片，PPTX 中是高解析圖片，可編輯節點、容器與連線的原檔為 docs/presentations/diagrams/windows-deployment-map.drawio；獨立 PDF 可放大閱讀。圖內主架構與單台換版流程是兩個明確分隔的視圖，不是假裝一張純網路拓樸。圖面研究見 docs/research/end-to-end-architecture-diagram-design.md。</a:t>
            </a:r>
          </a:p>
          <a:p>
            <a:r>
              <a:t>使用者確認：替換第 4 頁；「下 F5／上 F5」分別表示將目標服務退出／恢復負載平衡流量。具體 pool/member、Disabled 或 Forced Offline、連線等待／逾時、F5 操作位置與身分仍待網路及主機團隊確認。不能從圖推論每台 Agent 持有 F5 管理權；實作時需接上受保護、可稽核的維護操作。F5 流量線指向應用，不是 Agent；一台主機可能有多個 pool members，須確認完整範圍。</a:t>
            </a:r>
          </a:p>
          <a:p>
            <a:r>
              <a:t>上半部是交付架構：開發人員 push GitLab CE；GitLab 編排 CI，GitLab Runner 建置／測試並上傳 artifact。GitLab pipeline 成功事件通知受保護接收器，接收器驗證、耐久入列、API 複核後，以 Queue Build REST API 排入固定 importer。接收器與驗證／去重邏輯需實作，不是原生 GitLab artifact connector，也不需要新增 GitLab Runner。</a:t>
            </a:r>
          </a:p>
          <a:p>
            <a:r>
              <a:t>ADO 管理區的 self-hosted Build Agent 重驗專案、pipeline、ref、SHA 與必要品質 jobs，按確切 project/pipeline/job ID 下載 GitLab 產物，驗 ZIP／hash 並保存 manifest，以 PublishBuildArtifacts@1 發布 Server Build Artifacts。不能抓 latest 或使用 Services-only Pipeline Artifacts。GitLab 唯讀憑證只留管理區；管理 Agent、接收器和 CI 都無 Production 存取權。</a:t>
            </a:r>
          </a:p>
          <a:p>
            <a:r>
              <a:t>ADO 全名 Azure DevOps Server；Express 為 POC 起點，Server 2022／REST 7.0 作文件基線。ADO 控制面、版本庫、管理 Agent 是邏輯元件，不等於必須各有一台 VM。這是文件支持的目標設計，不是現況或實機測通的證明。</a:t>
            </a:r>
          </a:p>
          <a:p>
            <a:r>
              <a:t>Production 關閉 artifact 自動 release trigger，授權人員選確切 importer build、應用與目標建立 Classic Release，stage 設 Manual only 與具名 pre-deployment approval；允許同一人發起與放行。任何版本／目標變更須重新放行。SIT/UAT 的三分支分流留下一頁說明。</a:t>
            </a:r>
          </a:p>
          <a:p>
            <a:r>
              <a:t>放行後，各 Windows Target 上的專用 Deployment Group Agent 才取指定工作與產物，在本機執行受保護的部署腳本。Agent 主動連 ADO 取工作；派工箭頭不代表 Server 主動登入 Windows。放行前不得預拷，包含 Production Agent 工作目錄。管理 Agent 與目標 Agent 必須隔離帳號、pool／Deployment Group、主機與憑證，不能執行開發者提供的特權部署腳本。</a:t>
            </a:r>
          </a:p>
          <a:p>
            <a:r>
              <a:t>Production 圖示 01、02、…、N，可涵蓋數十台主機；不代表所有主機同時換版，也不是 Agent 互相傳檔。暫建議逐台或受控分批，健康後繼續，任一失敗停止後續目標；批次大小、最低容量、先前成功目標是否回復仍待確認。不承諾零停機或跨主機原子交易。</a:t>
            </a:r>
          </a:p>
          <a:p>
            <a:r>
              <a:t>下半部對每個核准目標重複：放行後下載／驗證、部署鎖與前置檢查 → 下 F5 並確認流量隔離條件 → 停止服務 → 備份目前版本 → 執行換版 → 重啟服務 → 檢查狀態。正常才上 F5，確認恢復成功後記錄新版本完成。</a:t>
            </a:r>
          </a:p>
          <a:p>
            <a:r>
              <a:t>換版、啟動或健康檢查失敗時，保持隔離，依受控腳本停止失敗版本、回復有效備份、重啟，再做復原健康檢查；正常才上 F5 並記錄「換版失敗、復原成功」，不能記為新版本部署成功。復原不健康或無可用備份時，保持隔離、停止後續換版、告警並交人員處理。</a:t>
            </a:r>
          </a:p>
          <a:p>
            <a:r>
              <a:t>下 F5／隔離確認失敗時不能繼續停止服務；停止或備份失敗時不能覆寫版本，由受控復原／人工程序決定後續。上 F5 操作或確認失敗不能算完成。檔案備份不等於資料庫回復，資料相容與復原另行設計。服務停止／重啟需依 IIS／Windows Service 細化。備份與復原腳本必須演練，ADO／Agent 不自動提供完整應用復原。</a:t>
            </a:r>
          </a:p>
          <a:p>
            <a:r>
              <a:t>安全與可靠性驗收：測試 PAT／definition ACL／群組繼承、queue 參數與來源覆寫、build service／OS 身分、特權腳本保護；測試事件偽造、重送、晚到舊版本、Queue 回應遺失、產物到期、零預拷、拒絕或復原失敗時不恢復流量。版本、人員、目標、hash 與結果可追溯。</a:t>
            </a:r>
          </a:p>
          <a:p>
            <a:r>
              <a:t>完整串接依據：docs/research/gitlab-ado-event-trigger.md。</a:t>
            </a:r>
          </a:p>
          <a:p>
            <a:r>
              <a:t>https://c4model.com/diagrams/notation</a:t>
            </a:r>
          </a:p>
          <a:p>
            <a:r>
              <a:t>https://learn.microsoft.com/en-us/azure/well-architected/architect-role/design-diagrams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https://learn.microsoft.com/en-us/azure/devops/pipelines/release/deployment-groups/?view=azure-devops-2022</a:t>
            </a:r>
          </a:p>
          <a:p>
            <a:r>
              <a:t>https://techdocs.f5.com/kb/en-us/products/big-ip_ltm/manuals/product/big-ip-local-traffic-management-basics-14-0-0/05.html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保留舊版第 5 頁的三分支映射。三個分支各自建置，不主張同一份內容由 UAT 晉升 Production。接收器與 importer 用 GitLab API 複核固定專案、精確 ref、pipeline source=push、非 tag、SHA、成功狀態與必要 jobs，再路由到三組固定 importer＋單環境 Classic Release。Webhook 與 queue 參數只是提示，不是可信任的環境判斷。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本頁是換版與復原概覽；完整的下 F5、停服務、備份、換版、重啟、健康檢查、恢復流量及復原失敗分支已展開於第 4 頁。復原健康才回池，復原成功仍屬換版失敗，不記新版本部署完成。保留並調整舊版第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03｜三分支、三環境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正式部署：從提交程式碼到多機換版與復原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ndows 正式部署端到端架構：開發人員提交 GitLab，Runner 建置測試，成功事件通知受控接收器，ADO 管理 Agent 匯入固定產物，授權部署人員放行，由多台 Windows Target 的 Agent 換版；下方展開退出 F5、停服務、備份、換版、重啟、健康檢查與退版分支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三分支各自建置；正式環境多一道人工放行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master → SIT；pre-production → UAT；production → Production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4500" y="3778250"/>
            <a:ext cx="698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96000" y="3771900"/>
            <a:ext cx="508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6604000" y="2565400"/>
            <a:ext cx="0" cy="1206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604000" y="2565400"/>
            <a:ext cx="952500" cy="635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6000" y="3778250"/>
            <a:ext cx="1460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6096000" y="3771900"/>
            <a:ext cx="254000" cy="635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350000" y="3771900"/>
            <a:ext cx="0" cy="12446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50000" y="50165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52000" y="50165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 descr="GitLab CI&#10;建置固定版本"/>
          <p:cNvSpPr/>
          <p:nvPr/>
        </p:nvSpPr>
        <p:spPr>
          <a:xfrm>
            <a:off x="508000" y="3238500"/>
            <a:ext cx="2476500" cy="1079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" y="3422650"/>
            <a:ext cx="219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CI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建置固定版本</a:t>
            </a:r>
          </a:p>
        </p:txBody>
      </p:sp>
      <p:sp>
        <p:nvSpPr>
          <p:cNvPr id="18" name="Diamond 17" descr="來源分支&#10;驗證與分流"/>
          <p:cNvSpPr/>
          <p:nvPr/>
        </p:nvSpPr>
        <p:spPr>
          <a:xfrm>
            <a:off x="3683000" y="3175000"/>
            <a:ext cx="2413000" cy="12065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4950" y="342265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來源分支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驗證與分流</a:t>
            </a:r>
          </a:p>
        </p:txBody>
      </p:sp>
      <p:sp>
        <p:nvSpPr>
          <p:cNvPr id="20" name="Rounded Rectangle 19" descr="master → SIT&#10;匯入後自動換版"/>
          <p:cNvSpPr/>
          <p:nvPr/>
        </p:nvSpPr>
        <p:spPr>
          <a:xfrm>
            <a:off x="7556500" y="20955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6200" y="22161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 → 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2" name="Rounded Rectangle 21" descr="pre-production → UAT&#10;匯入後自動換版"/>
          <p:cNvSpPr/>
          <p:nvPr/>
        </p:nvSpPr>
        <p:spPr>
          <a:xfrm>
            <a:off x="7556500" y="3302000"/>
            <a:ext cx="4127500" cy="952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6200" y="3422650"/>
            <a:ext cx="384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 → 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匯入後自動換版</a:t>
            </a:r>
          </a:p>
        </p:txBody>
      </p:sp>
      <p:sp>
        <p:nvSpPr>
          <p:cNvPr id="24" name="Rounded Rectangle 23" descr="production&#10;部署人員選版放行"/>
          <p:cNvSpPr/>
          <p:nvPr/>
        </p:nvSpPr>
        <p:spPr>
          <a:xfrm>
            <a:off x="6921500" y="4508500"/>
            <a:ext cx="27305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1200" y="4660900"/>
            <a:ext cx="2451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部署人員選版放行</a:t>
            </a:r>
          </a:p>
        </p:txBody>
      </p:sp>
      <p:sp>
        <p:nvSpPr>
          <p:cNvPr id="26" name="Rounded Rectangle 25" descr="正式主機&#10;執行換版"/>
          <p:cNvSpPr/>
          <p:nvPr/>
        </p:nvSpPr>
        <p:spPr>
          <a:xfrm>
            <a:off x="10160000" y="4508500"/>
            <a:ext cx="1524000" cy="1016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9700" y="4660900"/>
            <a:ext cx="124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成功通知不是正式放行；正式放行綁定確切版本與目標。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