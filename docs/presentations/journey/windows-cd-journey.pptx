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共 9 頁：封面、議程、7 頁內容（含預期效益、需求與驗證狀態、最後的建議時程），無附錄。僅討論 Azure DevOps Server；Express 是 POC 起點，不代表最終採購決策。保留 GitLab CE 作版本控制與 CI。其他部門已有 ADO 運行先例，是使用者提供的背景，不是本案整合或合規已通過的證據。12/31 年份未指定，不自行補年份。產品能力依官方文件查證，尚未完成本架構的實機驗證。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先說明對維運、風險及跨專案複用的預期價值，再交代正式主機存取限制。以獨立狀態頁區分已確認需求、規劃做法及 POC 待驗證項目；技術架構與流程均非已完成成果。第 6 頁上半部以 ①～⑧ 說明交付架構，下半部展開單台換版與復原。詳細閱讀可放大獨立 PDF／draw.io。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為預期效益，不是已達成的成果；目前沒有導入前後量測數據，不承諾節省比例、復原時間或零停機。POC／試辦時記錄人工步驟、換版耗時、版本追查所需時間與復原演練結果，再與既有流程比較。備份與復原需實作及演練，不能因採用 ADO／Agent 就視為風險已消除。可複用的是治理與操作框架，不是將同一套腳本直接套用所有 Windows 專案；IIS／Windows Service、設定、資料相容及 F5 範圍須各別確認。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本頁合併舊版第 2、3 頁。只送檔、不執行換版的提案已被否決，原因是正式主機僅允許指定部門存取，複製檔案也屬存取；不是技術做不到，也不是宣稱 GitLab CE 沒有權限控制。虛線代表禁止路徑。現有 Container 鏈 GitLab → Harbor → Argo CD → OCP／Docker 可作責任分工類比，本案補上 Windows 的受控部署流程，不要求使用相同工具。建置端不能透過共用目錄、帳號或中繼腳本繞過 Production 邊界。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本頁為證據範圍說明，不是進度百分比。已確認需求來自本案討論；工具能力依官方文件查核，包含核准、指定版本產物、Deployment Group 與腳本執行。尚未完成本案 ADO／Agent 安裝整合、備份復原腳本或實機 POC 驗證，不將其他部門的運行先例視為本案成果。Express 僅是 POC 起點，正式版本、責任分工與資源待協調。POC 須驗證正向及負向情境，通過後才能宣稱對應控制已有效；測試證據應記錄環境、版本、案例及結果。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本頁管理區改以三段關係說明：「成功通知 → 取得並保存版本 → 人員選版／選目標、確認放行」。這是簡化的業務流程視圖，不是取消中間串接元件；ADO 管理側包含受保護接收器及管理 Build Agent，不能將平台標題誤讀成全部由 ADO Server 本機執行或已有原生 GitLab 直連。技術細節保留於以下備註及研究文件，不要求所有聽眾理解 API、Importer 或 hash。</a:t>
            </a:r>
          </a:p>
          <a:p>
            <a:r>
              <a:t>本頁採完整架構圖圖片，PPTX 中是高解析圖片，可編輯節點、容器與連線的原檔為 docs/presentations/diagrams/windows-deployment-map.drawio；獨立 PDF 可放大閱讀。圖內主架構與單台換版流程是兩個明確分隔的視圖，不是假裝一張純網路拓樸。圖面研究見 docs/research/end-to-end-architecture-diagram-design.md。</a:t>
            </a:r>
          </a:p>
          <a:p>
            <a:r>
              <a:t>使用者確認：替換原第 4 頁（現第 6 頁）；「下 F5／上 F5」分別表示將目標服務退出／恢復負載平衡流量。具體 pool/member、Disabled 或 Forced Offline、連線等待／逾時、F5 操作位置與身分仍待網路及主機團隊確認。不能從圖推論每台 Agent 持有 F5 管理權；實作時需接上受保護、可稽核的維護操作。F5 流量線指向應用，不是 Agent；一台主機可能有多個 pool members，須確認完整範圍。</a:t>
            </a:r>
          </a:p>
          <a:p>
            <a:r>
              <a:t>上半部是交付架構：開發人員 push GitLab CE；GitLab 編排 CI，GitLab Runner 建置／測試並上傳 artifact。GitLab pipeline 成功事件通知受保護接收器，接收器驗證、耐久入列、API 複核後，以 Queue Build REST API 排入固定 importer。接收器與驗證／去重邏輯需實作，不是原生 GitLab artifact connector，也不需要新增 GitLab Runner。</a:t>
            </a:r>
          </a:p>
          <a:p>
            <a:r>
              <a:t>ADO 管理區的 self-hosted Build Agent 重驗專案、pipeline、ref、SHA 與必要品質 jobs，按確切 project/pipeline/job ID 下載 GitLab 產物，驗 ZIP／hash 並保存 manifest，以 PublishBuildArtifacts@1 發布 Server Build Artifacts。不能抓 latest 或使用 Services-only Pipeline Artifacts。GitLab 唯讀憑證只留管理區；管理 Agent、接收器和 CI 都無 Production 存取權。</a:t>
            </a:r>
          </a:p>
          <a:p>
            <a:r>
              <a:t>ADO 全名 Azure DevOps Server；Express 為 POC 起點，Server 2022／REST 7.0 作文件基線。ADO 控制面、版本庫、管理 Agent 是邏輯元件，不等於必須各有一台 VM。這是文件支持的目標設計，不是現況或實機測通的證明。</a:t>
            </a:r>
          </a:p>
          <a:p>
            <a:r>
              <a:t>Production 關閉 artifact 自動 release trigger，授權人員選確切 importer build、應用與目標建立 Classic Release，stage 設 Manual only 與具名 pre-deployment approval；允許同一人發起與放行。任何版本／目標變更須重新放行。分支與部署策略留下一頁說明。</a:t>
            </a:r>
          </a:p>
          <a:p>
            <a:r>
              <a:t>放行後，各 Windows Target 上的專用 Deployment Group Agent 才取指定工作與產物，在本機執行受保護的部署腳本。Agent 主動連 ADO 取工作；派工箭頭不代表 Server 主動登入 Windows。放行前不得預拷，包含 Production Agent 工作目錄。管理 Agent 與目標 Agent 必須隔離帳號、pool／Deployment Group、主機與憑證，不能執行開發者提供的特權部署腳本。</a:t>
            </a:r>
          </a:p>
          <a:p>
            <a:r>
              <a:t>Production 圖示 01、02、…、N，可涵蓋數十台主機；不代表所有主機同時換版，也不是 Agent 互相傳檔。暫建議逐台或受控分批，健康後繼續，任一失敗停止後續目標；批次大小、最低容量、先前成功目標是否回復仍待確認。不承諾零停機或跨主機原子交易。</a:t>
            </a:r>
          </a:p>
          <a:p>
            <a:r>
              <a:t>下半部新增強制人工關卡：⑦ 僅檢查服務／排程是否正常啟動；新版與復原舊版兩條路徑，都須由部署人員在隔離狀態驗證功能正常、確認放行後，才能執行⑧ 上 F5。人工節點沿用部署人員橘色，非 Agent 自動判定。新版功能驗證不通過走退版；舊版功能不通過保持隔離並通知。未確認、拒絕或逾時均不得恢復流量；逾時不視為自動同意，也不必然等同功能測試失敗。驗證須透過核准的隔離測試入口／直連方式，不為測試而預先恢復正式流量；實際入口與驗證項目待確認。</a:t>
            </a:r>
          </a:p>
          <a:p>
            <a:r>
              <a:t>實作需把「部署／自動檢查」「人工功能驗證」「恢復流量」分成可強制等待與續行的控制步驟。初始 Release 的部署前核准不能代替此次中途關卡；需設計 Server Classic 支援的人工等待／分階段核准或受控外部編排，驗證成功續行、拒絕、逾時、Agent 失聯與回線對帳。人工決定綁定 release、target、版本及此次檢查結果，等待期間保留隔離與部署鎖；舊版復原也要有獨立確認，不可沿用新版確認。這是新增目標要求，尚未實作或實測。</a:t>
            </a:r>
          </a:p>
          <a:p>
            <a:r>
              <a:t>下半部更新為白話版並統一使用 ①～⑧ 圈號：① 取得已放行版本 → ② 下 F5 → ③ 停止服務 → ④ 備份舊版本 → ⑤ 安裝新版本 → ⑥ 重啟服務 → ⑦ 服務正常？ → ⑧ 上 F5。失敗路徑是還原舊版本、重啟與再檢查；成功恢復後仍記本次換版失敗。原本的鎖、前置閘門、有效備份、流量狀態核對與例外要求仍需實作，僅不放進主流程的長標籤。Agent／主機失聯不是同一個 Agent 能保證自動復原的情況，須另有監控及受控人工／獨立復原手段。</a:t>
            </a:r>
          </a:p>
          <a:p>
            <a:r>
              <a:t>下半部對每個核准目標重複：放行後下載／驗證、部署鎖與前置檢查 → 下 F5 並確認流量隔離條件 → 停止服務 → 備份目前版本 → 執行換版 → 重啟服務 → 檢查狀態。正常且部署人員確認功能正常，才上 F5，確認恢復成功後記錄新版本完成。</a:t>
            </a:r>
          </a:p>
          <a:p>
            <a:r>
              <a:t>換版、啟動或健康檢查失敗時，保持隔離，依受控腳本停止失敗版本、回復有效備份、重啟，再做復原健康檢查；正常且部署人員再次確認舊版功能正常，才上 F5 並記錄「換版失敗、復原成功」，不能記為新版本部署成功。復原不健康或無可用備份時，保持隔離、停止後續換版、告警並交人員處理。</a:t>
            </a:r>
          </a:p>
          <a:p>
            <a:r>
              <a:t>下 F5／隔離確認失敗時不能繼續停止服務；停止或備份失敗時不能覆寫版本，由受控復原／人工程序決定後續。上 F5 操作或確認失敗不能算完成。檔案備份不等於資料庫回復，資料相容與復原另行設計。服務停止／重啟需依 IIS／Windows Service 細化。備份與復原腳本必須演練，ADO／Agent 不自動提供完整應用復原。</a:t>
            </a:r>
          </a:p>
          <a:p>
            <a:r>
              <a:t>安全與可靠性驗收：測試 PAT／definition ACL／群組繼承、queue 參數與來源覆寫、build service／OS 身分、特權腳本保護；測試事件偽造、重送、晚到舊版本、Queue 回應遺失、產物到期、零預拷、拒絕或復原失敗時不恢復流量。版本、人員、目標、hash 與結果可追溯。</a:t>
            </a:r>
          </a:p>
          <a:p>
            <a:r>
              <a:t>完整串接依據：docs/research/gitlab-ado-event-trigger.md。</a:t>
            </a:r>
          </a:p>
          <a:p>
            <a:r>
              <a:t>換版／復原可行性查核：docs/research/windows-release-recovery-feasibility.md。官方支援核准、指定 Build Artifact、Deployment Group 與 PowerShell／失敗條件，但不內建本案完整 rollback。POC 建議受保護 PowerShell 控制腳本換版失敗時嘗試復原，復原成功也保留原部署 failed；不要在 finally 無條件上 F5。Agent／主機失聯時需獨立監控及復原手段。限制同時部署比例不等於保證失敗停止所有後續主機；初期採單台 canary，下一台另設成功相依／人工放行，正式 fail-stop 需驗證或受控編排。匯入完成後，部署與退版不必再回 GitLab 取 latest。上述為文件查證，未完成實機 POC。</a:t>
            </a:r>
          </a:p>
          <a:p>
            <a:r>
              <a:t>https://c4model.com/diagrams/notation</a:t>
            </a:r>
          </a:p>
          <a:p>
            <a:r>
              <a:t>https://learn.microsoft.com/en-us/azure/well-architected/architect-role/design-diagrams</a:t>
            </a:r>
          </a:p>
          <a:p>
            <a:r>
              <a:t>https://docs.gitlab.com/user/project/integrations/webhook_events/#pipeline-events</a:t>
            </a:r>
          </a:p>
          <a:p>
            <a:r>
              <a:t>https://learn.microsoft.com/en-us/rest/api/azure/devops/build/builds/queue?view=azure-devops-rest-7.0</a:t>
            </a:r>
          </a:p>
          <a:p>
            <a:r>
              <a:t>https://learn.microsoft.com/en-us/azure/devops/pipelines/release/deployment-groups/?view=azure-devops-2022</a:t>
            </a:r>
          </a:p>
          <a:p>
            <a:r>
              <a:t>https://techdocs.f5.com/kb/en-us/products/big-ip_ltm/manuals/product/big-ip-local-traffic-management-basics-14-0-0/05.html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本頁改以「分支 → 對應 CI/CD pipeline → 換版策略」說明，不再限制為固定三分支。保留 master／SIT、pre-production／UAT 的目前規劃；正式分支可能包括 production、production-bq1、production-bq2、production-nh 等。這些是平行分支名稱，不是 Git 分支內的子分支，不推定名稱所代表的地點。正式分支合併一列不代表共用同一個 pipeline；不同分支可有不同建置、測試、產物、目標集合、逐台／分批、F5／服務操作及復原程序，實際映射待確認。各分支各自建置，不宣稱同一產物跨環境晉升。</a:t>
            </a:r>
          </a:p>
          <a:p>
            <a:r>
              <a:t>圖為邏輯 CI/CD 流程，不宣稱 GitLab 原生編排 ADO，亦不要求每分支獨立 YAML。初版三組固定 importer／Release 是實作例，擴充分支須同步調整精確來源允許清單、受保護的目標與策略映射；不可自動信任任何 production 前綴。GitLab API 複核專案、精確 ref、pipeline source、SHA 及必要 jobs，不信任事件或參數自稱的環境。正式分支仍須指定人員選確切版本與目標放行。</a:t>
            </a:r>
          </a:p>
          <a:p>
            <a:r>
              <a:t>ADO importer 儲存串接程式的 repository branch（例如 main）不等於 GitLab 來源分支；不得以 ADO Build.SourceBranch 或原生 build branch filter 推論來源環境。SIT/UAT 自動觸發，Production 關閉 artifact 自動 release trigger，授權人員選固定 importer build 建立 release、手動 stage 並通過 pre-deployment approval。開發者不能編輯部署定義、批准者或 Agent 資源繞過控制；只限制手動 Deploy 按鈕並不足夠。單人放行並執行符合目前需求。</a:t>
            </a:r>
          </a:p>
          <a:p>
            <a:r>
              <a:t>https://learn.microsoft.com/en-us/azure/devops/pipelines/release/triggers?view=azure-devops-2022</a:t>
            </a:r>
          </a:p>
          <a:p>
            <a:r>
              <a:t>https://learn.microsoft.com/en-us/azure/devops/pipelines/release/approvals/approvals?view=azure-devops-2022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本頁是換版與復原概覽；完整的下 F5、停服務、備份、換版、重啟、健康檢查、恢復流量及復原失敗分支已展開於第 6 頁。復原健康才回池，復原成功仍屬換版失敗，不記新版本部署完成。保留並調整舊版第 9 頁。放行前產物只在管理區保存，不能預拷到 Production（包含 Agent 工作目錄）；放行後部署 Agent 取固定 importer build 的 artifact，重新核對內容 hash，保存目前版本與復原資料，再依 IIS／Windows Service 的需求停止或切換、套用環境設定、啟動及健康驗證。不承諾零停機或跨主機原子交易。</a:t>
            </a:r>
          </a:p>
          <a:p>
            <a:r>
              <a:t>換版或健康檢查失敗時，依事先驗證的腳本回復前一可用版本並檢查；復原失敗則停止並通知負責人，不能記為成功。資料庫／資料格式變更須另設相容與資料復原方案，不能把回復程式檔案等同資料回滾。多台逐台執行、失敗停止後續換版，是否回復已成功目標由授權人員依既定程序決定。部署鎖避免同一目標衝突，晚到舊版本不可自動降版；顯式授權的回復另留紀錄。Agent 與 ADO 不會自動提供應用程式專用的復原，腳本、資料保留及演練必須實作。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依使用者授權提出暫定階段，不是跨部門承諾。截止目標是 12/31，年份未指定，階段起迄日、工期、資源與正式核准均待共同確認。若必要驗收未通過，應調整範圍／資源或重新協調時程，不能因日期目標繞過上線門檻。</a:t>
            </a:r>
          </a:p>
          <a:p>
            <a:r>
              <a:t>01 POC：使用隔離的 Express 評估環境，驗證 success webhook、受控 importer、最小 ACL、Production 零預拷、三分支分流與失敗復原。此處先使用評估環境，02 才與主機／Server 團隊（架構部門）協調受管理的 ADO 安裝，不暗示尚未安裝就可跑 POC。</a:t>
            </a:r>
          </a:p>
          <a:p>
            <a:r>
              <a:t>02 協調：確認架構、主機、網路／TLS、服務帳號、管理責任、備份與監控；Express 僅為 POC 起點，正式版本另行確認。</a:t>
            </a:r>
          </a:p>
          <a:p>
            <a:r>
              <a:t>03 整合：完成受保護接收器、管理 Agent、固定 importer／Release、目標 Agents、產物保留與稽核串接。</a:t>
            </a:r>
          </a:p>
          <a:p>
            <a:r>
              <a:t>04 SIT：三環境路由、偽造事件拒絕、重送／亂序／中斷復原、版本一致性與權限負向測試。</a:t>
            </a:r>
          </a:p>
          <a:p>
            <a:r>
              <a:t>05 UAT：由授權部署人員驗收選版放行、操作紀錄與實際應用的回復演練。</a:t>
            </a:r>
          </a:p>
          <a:p>
            <a:r>
              <a:t>06 Production：依組織程序取得上線批准，先試辦再觀察；目標 12/31，不代表目前已批准。所有詳細 go/no-go 條件見 docs/research/gitlab-ado-event-trigger.md。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Windows 正式部署治理計劃"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"/>
          <p:cNvSpPr txBox="1"/>
          <p:nvPr/>
        </p:nvSpPr>
        <p:spPr>
          <a:xfrm>
            <a:off x="508000" y="355600"/>
            <a:ext cx="8890000" cy="2139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86F"/>
                </a:solidFill>
                <a:latin typeface="Microsoft JhengHei"/>
              </a:defRPr>
            </a:pPr>
            <a:r>
              <a:t>WINDOWS  /  DEPLOYMENT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80600" y="279400"/>
            <a:ext cx="1803400" cy="342900"/>
          </a:xfrm>
          <a:prstGeom prst="roundRect">
            <a:avLst>
              <a:gd name="adj" fmla="val 48148"/>
            </a:avLst>
          </a:prstGeom>
          <a:solidFill>
            <a:srgbClr val="EE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"/>
          <p:cNvSpPr txBox="1"/>
          <p:nvPr/>
        </p:nvSpPr>
        <p:spPr>
          <a:xfrm>
            <a:off x="9994900" y="342900"/>
            <a:ext cx="1574800" cy="2225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552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8394B"/>
                </a:solidFill>
                <a:latin typeface="Microsoft JhengHei"/>
              </a:defRPr>
            </a:pPr>
            <a:r>
              <a:t>另一種設計提案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08000" y="1358900"/>
            <a:ext cx="7493000" cy="1328420"/>
          </a:xfrm>
        </p:spPr>
        <p:txBody>
          <a:bodyPr lIns="0" rIns="0" tIns="0" bIns="0" wrap="none" anchor="t"/>
          <a:lstStyle/>
          <a:p>
            <a:pPr algn="l">
              <a:lnSpc>
                <a:spcPts val="513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18394B"/>
                </a:solidFill>
                <a:latin typeface="Microsoft JhengHei"/>
              </a:defRPr>
            </a:pPr>
            <a:r>
              <a:t>保留建置的效率，</a:t>
            </a:r>
          </a:p>
          <a:p>
            <a:pPr algn="l">
              <a:lnSpc>
                <a:spcPts val="513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18394B"/>
                </a:solidFill>
                <a:latin typeface="Microsoft JhengHei"/>
              </a:defRPr>
            </a:pPr>
            <a:r>
              <a:t>走向受控的正式部署。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508000" y="2819400"/>
            <a:ext cx="6985000" cy="4197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394B"/>
                </a:solidFill>
                <a:latin typeface="Microsoft JhengHei"/>
              </a:defRPr>
            </a:pPr>
            <a:r>
              <a:t>Windows 正式部署治理計劃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08000" y="3352800"/>
            <a:ext cx="8255000" cy="334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06B77"/>
                </a:solidFill>
                <a:latin typeface="Microsoft JhengHei"/>
              </a:defRPr>
            </a:pPr>
            <a:r>
              <a:t>GitLab 建置  →  Azure DevOps Server 管理放行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508000" y="3733800"/>
            <a:ext cx="7493000" cy="351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6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786F"/>
                </a:solidFill>
                <a:latin typeface="Microsoft JhengHei"/>
              </a:defRPr>
            </a:pPr>
            <a:r>
              <a:t>正式換版，由授權部門掌握。</a:t>
            </a:r>
          </a:p>
        </p:txBody>
      </p:sp>
      <p:sp>
        <p:nvSpPr>
          <p:cNvPr id="10" name="Freeform 9"/>
          <p:cNvSpPr/>
          <p:nvPr/>
        </p:nvSpPr>
        <p:spPr>
          <a:xfrm>
            <a:off x="660400" y="3213100"/>
            <a:ext cx="10591800" cy="1943100"/>
          </a:xfrm>
          <a:custGeom>
            <a:avLst/>
            <a:gdLst/>
            <a:ahLst/>
            <a:cxnLst/>
            <a:rect l="l" t="t" r="r" b="b"/>
            <a:pathLst>
              <a:path w="83400" h="15300">
                <a:moveTo>
                  <a:pt x="0" y="15300"/>
                </a:moveTo>
                <a:lnTo>
                  <a:pt x="1144" y="15300"/>
                </a:lnTo>
                <a:lnTo>
                  <a:pt x="2205" y="15300"/>
                </a:lnTo>
                <a:lnTo>
                  <a:pt x="3190" y="15300"/>
                </a:lnTo>
                <a:lnTo>
                  <a:pt x="4107" y="15300"/>
                </a:lnTo>
                <a:lnTo>
                  <a:pt x="4963" y="15300"/>
                </a:lnTo>
                <a:lnTo>
                  <a:pt x="5767" y="15300"/>
                </a:lnTo>
                <a:lnTo>
                  <a:pt x="6525" y="15300"/>
                </a:lnTo>
                <a:lnTo>
                  <a:pt x="7245" y="15300"/>
                </a:lnTo>
                <a:lnTo>
                  <a:pt x="7935" y="15300"/>
                </a:lnTo>
                <a:lnTo>
                  <a:pt x="8603" y="15300"/>
                </a:lnTo>
                <a:lnTo>
                  <a:pt x="9255" y="15300"/>
                </a:lnTo>
                <a:lnTo>
                  <a:pt x="9900" y="15300"/>
                </a:lnTo>
                <a:lnTo>
                  <a:pt x="10545" y="15300"/>
                </a:lnTo>
                <a:lnTo>
                  <a:pt x="11197" y="15300"/>
                </a:lnTo>
                <a:lnTo>
                  <a:pt x="11865" y="15300"/>
                </a:lnTo>
                <a:lnTo>
                  <a:pt x="12555" y="15300"/>
                </a:lnTo>
                <a:lnTo>
                  <a:pt x="13275" y="15300"/>
                </a:lnTo>
                <a:lnTo>
                  <a:pt x="14033" y="15300"/>
                </a:lnTo>
                <a:lnTo>
                  <a:pt x="14837" y="15300"/>
                </a:lnTo>
                <a:lnTo>
                  <a:pt x="15693" y="15300"/>
                </a:lnTo>
                <a:lnTo>
                  <a:pt x="16610" y="15300"/>
                </a:lnTo>
                <a:lnTo>
                  <a:pt x="17595" y="15300"/>
                </a:lnTo>
                <a:lnTo>
                  <a:pt x="18656" y="15300"/>
                </a:lnTo>
                <a:lnTo>
                  <a:pt x="19800" y="15300"/>
                </a:lnTo>
                <a:lnTo>
                  <a:pt x="20782" y="15283"/>
                </a:lnTo>
                <a:lnTo>
                  <a:pt x="21693" y="15233"/>
                </a:lnTo>
                <a:lnTo>
                  <a:pt x="22539" y="15154"/>
                </a:lnTo>
                <a:lnTo>
                  <a:pt x="23326" y="15048"/>
                </a:lnTo>
                <a:lnTo>
                  <a:pt x="24061" y="14919"/>
                </a:lnTo>
                <a:lnTo>
                  <a:pt x="24751" y="14769"/>
                </a:lnTo>
                <a:lnTo>
                  <a:pt x="25402" y="14601"/>
                </a:lnTo>
                <a:lnTo>
                  <a:pt x="26021" y="14419"/>
                </a:lnTo>
                <a:lnTo>
                  <a:pt x="26613" y="14224"/>
                </a:lnTo>
                <a:lnTo>
                  <a:pt x="27186" y="14021"/>
                </a:lnTo>
                <a:lnTo>
                  <a:pt x="27746" y="13812"/>
                </a:lnTo>
                <a:lnTo>
                  <a:pt x="28300" y="13600"/>
                </a:lnTo>
                <a:lnTo>
                  <a:pt x="28854" y="13388"/>
                </a:lnTo>
                <a:lnTo>
                  <a:pt x="29414" y="13179"/>
                </a:lnTo>
                <a:lnTo>
                  <a:pt x="29987" y="12976"/>
                </a:lnTo>
                <a:lnTo>
                  <a:pt x="30579" y="12781"/>
                </a:lnTo>
                <a:lnTo>
                  <a:pt x="31198" y="12599"/>
                </a:lnTo>
                <a:lnTo>
                  <a:pt x="31849" y="12431"/>
                </a:lnTo>
                <a:lnTo>
                  <a:pt x="32539" y="12281"/>
                </a:lnTo>
                <a:lnTo>
                  <a:pt x="33274" y="12152"/>
                </a:lnTo>
                <a:lnTo>
                  <a:pt x="34061" y="12046"/>
                </a:lnTo>
                <a:lnTo>
                  <a:pt x="34907" y="11967"/>
                </a:lnTo>
                <a:lnTo>
                  <a:pt x="35818" y="11917"/>
                </a:lnTo>
                <a:lnTo>
                  <a:pt x="36800" y="11900"/>
                </a:lnTo>
                <a:lnTo>
                  <a:pt x="37898" y="11910"/>
                </a:lnTo>
                <a:lnTo>
                  <a:pt x="38916" y="11939"/>
                </a:lnTo>
                <a:lnTo>
                  <a:pt x="39861" y="11986"/>
                </a:lnTo>
                <a:lnTo>
                  <a:pt x="40741" y="12048"/>
                </a:lnTo>
                <a:lnTo>
                  <a:pt x="41563" y="12124"/>
                </a:lnTo>
                <a:lnTo>
                  <a:pt x="42334" y="12212"/>
                </a:lnTo>
                <a:lnTo>
                  <a:pt x="43061" y="12311"/>
                </a:lnTo>
                <a:lnTo>
                  <a:pt x="43753" y="12419"/>
                </a:lnTo>
                <a:lnTo>
                  <a:pt x="44415" y="12533"/>
                </a:lnTo>
                <a:lnTo>
                  <a:pt x="45055" y="12652"/>
                </a:lnTo>
                <a:lnTo>
                  <a:pt x="45681" y="12775"/>
                </a:lnTo>
                <a:lnTo>
                  <a:pt x="46300" y="12900"/>
                </a:lnTo>
                <a:lnTo>
                  <a:pt x="46919" y="13025"/>
                </a:lnTo>
                <a:lnTo>
                  <a:pt x="47545" y="13148"/>
                </a:lnTo>
                <a:lnTo>
                  <a:pt x="48185" y="13267"/>
                </a:lnTo>
                <a:lnTo>
                  <a:pt x="48847" y="13381"/>
                </a:lnTo>
                <a:lnTo>
                  <a:pt x="49539" y="13489"/>
                </a:lnTo>
                <a:lnTo>
                  <a:pt x="50266" y="13588"/>
                </a:lnTo>
                <a:lnTo>
                  <a:pt x="51037" y="13676"/>
                </a:lnTo>
                <a:lnTo>
                  <a:pt x="51859" y="13752"/>
                </a:lnTo>
                <a:lnTo>
                  <a:pt x="52739" y="13814"/>
                </a:lnTo>
                <a:lnTo>
                  <a:pt x="53684" y="13861"/>
                </a:lnTo>
                <a:lnTo>
                  <a:pt x="54702" y="13890"/>
                </a:lnTo>
                <a:lnTo>
                  <a:pt x="55800" y="13900"/>
                </a:lnTo>
                <a:lnTo>
                  <a:pt x="56580" y="13863"/>
                </a:lnTo>
                <a:lnTo>
                  <a:pt x="57303" y="13754"/>
                </a:lnTo>
                <a:lnTo>
                  <a:pt x="57975" y="13582"/>
                </a:lnTo>
                <a:lnTo>
                  <a:pt x="58600" y="13352"/>
                </a:lnTo>
                <a:lnTo>
                  <a:pt x="59184" y="13070"/>
                </a:lnTo>
                <a:lnTo>
                  <a:pt x="59732" y="12744"/>
                </a:lnTo>
                <a:lnTo>
                  <a:pt x="60249" y="12379"/>
                </a:lnTo>
                <a:lnTo>
                  <a:pt x="60740" y="11981"/>
                </a:lnTo>
                <a:lnTo>
                  <a:pt x="61211" y="11559"/>
                </a:lnTo>
                <a:lnTo>
                  <a:pt x="61666" y="11116"/>
                </a:lnTo>
                <a:lnTo>
                  <a:pt x="62110" y="10661"/>
                </a:lnTo>
                <a:lnTo>
                  <a:pt x="62550" y="10200"/>
                </a:lnTo>
                <a:lnTo>
                  <a:pt x="62990" y="9739"/>
                </a:lnTo>
                <a:lnTo>
                  <a:pt x="63434" y="9284"/>
                </a:lnTo>
                <a:lnTo>
                  <a:pt x="63889" y="8841"/>
                </a:lnTo>
                <a:lnTo>
                  <a:pt x="64360" y="8419"/>
                </a:lnTo>
                <a:lnTo>
                  <a:pt x="64851" y="8021"/>
                </a:lnTo>
                <a:lnTo>
                  <a:pt x="65368" y="7656"/>
                </a:lnTo>
                <a:lnTo>
                  <a:pt x="65916" y="7330"/>
                </a:lnTo>
                <a:lnTo>
                  <a:pt x="66500" y="7048"/>
                </a:lnTo>
                <a:lnTo>
                  <a:pt x="67125" y="6818"/>
                </a:lnTo>
                <a:lnTo>
                  <a:pt x="67797" y="6646"/>
                </a:lnTo>
                <a:lnTo>
                  <a:pt x="68520" y="6537"/>
                </a:lnTo>
                <a:lnTo>
                  <a:pt x="69300" y="6500"/>
                </a:lnTo>
                <a:lnTo>
                  <a:pt x="70115" y="6467"/>
                </a:lnTo>
                <a:lnTo>
                  <a:pt x="70870" y="6372"/>
                </a:lnTo>
                <a:lnTo>
                  <a:pt x="71571" y="6221"/>
                </a:lnTo>
                <a:lnTo>
                  <a:pt x="72224" y="6019"/>
                </a:lnTo>
                <a:lnTo>
                  <a:pt x="72834" y="5771"/>
                </a:lnTo>
                <a:lnTo>
                  <a:pt x="73407" y="5484"/>
                </a:lnTo>
                <a:lnTo>
                  <a:pt x="73947" y="5164"/>
                </a:lnTo>
                <a:lnTo>
                  <a:pt x="74460" y="4815"/>
                </a:lnTo>
                <a:lnTo>
                  <a:pt x="74951" y="4443"/>
                </a:lnTo>
                <a:lnTo>
                  <a:pt x="75426" y="4055"/>
                </a:lnTo>
                <a:lnTo>
                  <a:pt x="75891" y="3655"/>
                </a:lnTo>
                <a:lnTo>
                  <a:pt x="76350" y="3250"/>
                </a:lnTo>
                <a:lnTo>
                  <a:pt x="76809" y="2845"/>
                </a:lnTo>
                <a:lnTo>
                  <a:pt x="77274" y="2445"/>
                </a:lnTo>
                <a:lnTo>
                  <a:pt x="77749" y="2057"/>
                </a:lnTo>
                <a:lnTo>
                  <a:pt x="78240" y="1685"/>
                </a:lnTo>
                <a:lnTo>
                  <a:pt x="78753" y="1336"/>
                </a:lnTo>
                <a:lnTo>
                  <a:pt x="79293" y="1016"/>
                </a:lnTo>
                <a:lnTo>
                  <a:pt x="79866" y="729"/>
                </a:lnTo>
                <a:lnTo>
                  <a:pt x="80476" y="481"/>
                </a:lnTo>
                <a:lnTo>
                  <a:pt x="81129" y="279"/>
                </a:lnTo>
                <a:lnTo>
                  <a:pt x="81830" y="128"/>
                </a:lnTo>
                <a:lnTo>
                  <a:pt x="82585" y="33"/>
                </a:lnTo>
                <a:lnTo>
                  <a:pt x="83400" y="0"/>
                </a:lnTo>
              </a:path>
            </a:pathLst>
          </a:custGeom>
          <a:noFill/>
          <a:ln w="165100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660400" y="3213100"/>
            <a:ext cx="10591800" cy="1943100"/>
          </a:xfrm>
          <a:custGeom>
            <a:avLst/>
            <a:gdLst/>
            <a:ahLst/>
            <a:cxnLst/>
            <a:rect l="l" t="t" r="r" b="b"/>
            <a:pathLst>
              <a:path w="83400" h="15300">
                <a:moveTo>
                  <a:pt x="0" y="15300"/>
                </a:moveTo>
                <a:lnTo>
                  <a:pt x="1144" y="15300"/>
                </a:lnTo>
                <a:lnTo>
                  <a:pt x="2205" y="15300"/>
                </a:lnTo>
                <a:lnTo>
                  <a:pt x="3190" y="15300"/>
                </a:lnTo>
                <a:lnTo>
                  <a:pt x="4107" y="15300"/>
                </a:lnTo>
                <a:lnTo>
                  <a:pt x="4963" y="15300"/>
                </a:lnTo>
                <a:lnTo>
                  <a:pt x="5767" y="15300"/>
                </a:lnTo>
                <a:lnTo>
                  <a:pt x="6525" y="15300"/>
                </a:lnTo>
                <a:lnTo>
                  <a:pt x="7245" y="15300"/>
                </a:lnTo>
                <a:lnTo>
                  <a:pt x="7935" y="15300"/>
                </a:lnTo>
                <a:lnTo>
                  <a:pt x="8603" y="15300"/>
                </a:lnTo>
                <a:lnTo>
                  <a:pt x="9255" y="15300"/>
                </a:lnTo>
                <a:lnTo>
                  <a:pt x="9900" y="15300"/>
                </a:lnTo>
                <a:lnTo>
                  <a:pt x="10545" y="15300"/>
                </a:lnTo>
                <a:lnTo>
                  <a:pt x="11197" y="15300"/>
                </a:lnTo>
                <a:lnTo>
                  <a:pt x="11865" y="15300"/>
                </a:lnTo>
                <a:lnTo>
                  <a:pt x="12555" y="15300"/>
                </a:lnTo>
                <a:lnTo>
                  <a:pt x="13275" y="15300"/>
                </a:lnTo>
                <a:lnTo>
                  <a:pt x="14033" y="15300"/>
                </a:lnTo>
                <a:lnTo>
                  <a:pt x="14837" y="15300"/>
                </a:lnTo>
                <a:lnTo>
                  <a:pt x="15693" y="15300"/>
                </a:lnTo>
                <a:lnTo>
                  <a:pt x="16610" y="15300"/>
                </a:lnTo>
                <a:lnTo>
                  <a:pt x="17595" y="15300"/>
                </a:lnTo>
                <a:lnTo>
                  <a:pt x="18656" y="15300"/>
                </a:lnTo>
                <a:lnTo>
                  <a:pt x="19800" y="15300"/>
                </a:lnTo>
                <a:lnTo>
                  <a:pt x="20782" y="15283"/>
                </a:lnTo>
                <a:lnTo>
                  <a:pt x="21693" y="15233"/>
                </a:lnTo>
                <a:lnTo>
                  <a:pt x="22539" y="15154"/>
                </a:lnTo>
                <a:lnTo>
                  <a:pt x="23326" y="15048"/>
                </a:lnTo>
                <a:lnTo>
                  <a:pt x="24061" y="14919"/>
                </a:lnTo>
                <a:lnTo>
                  <a:pt x="24751" y="14769"/>
                </a:lnTo>
                <a:lnTo>
                  <a:pt x="25402" y="14601"/>
                </a:lnTo>
                <a:lnTo>
                  <a:pt x="26021" y="14419"/>
                </a:lnTo>
                <a:lnTo>
                  <a:pt x="26613" y="14224"/>
                </a:lnTo>
                <a:lnTo>
                  <a:pt x="27186" y="14021"/>
                </a:lnTo>
                <a:lnTo>
                  <a:pt x="27746" y="13812"/>
                </a:lnTo>
                <a:lnTo>
                  <a:pt x="28300" y="13600"/>
                </a:lnTo>
                <a:lnTo>
                  <a:pt x="28854" y="13388"/>
                </a:lnTo>
                <a:lnTo>
                  <a:pt x="29414" y="13179"/>
                </a:lnTo>
                <a:lnTo>
                  <a:pt x="29987" y="12976"/>
                </a:lnTo>
                <a:lnTo>
                  <a:pt x="30579" y="12781"/>
                </a:lnTo>
                <a:lnTo>
                  <a:pt x="31198" y="12599"/>
                </a:lnTo>
                <a:lnTo>
                  <a:pt x="31849" y="12431"/>
                </a:lnTo>
                <a:lnTo>
                  <a:pt x="32539" y="12281"/>
                </a:lnTo>
                <a:lnTo>
                  <a:pt x="33274" y="12152"/>
                </a:lnTo>
                <a:lnTo>
                  <a:pt x="34061" y="12046"/>
                </a:lnTo>
                <a:lnTo>
                  <a:pt x="34907" y="11967"/>
                </a:lnTo>
                <a:lnTo>
                  <a:pt x="35818" y="11917"/>
                </a:lnTo>
                <a:lnTo>
                  <a:pt x="36800" y="11900"/>
                </a:lnTo>
                <a:lnTo>
                  <a:pt x="37898" y="11910"/>
                </a:lnTo>
                <a:lnTo>
                  <a:pt x="38916" y="11939"/>
                </a:lnTo>
                <a:lnTo>
                  <a:pt x="39861" y="11986"/>
                </a:lnTo>
                <a:lnTo>
                  <a:pt x="40741" y="12048"/>
                </a:lnTo>
                <a:lnTo>
                  <a:pt x="41563" y="12124"/>
                </a:lnTo>
                <a:lnTo>
                  <a:pt x="42334" y="12212"/>
                </a:lnTo>
                <a:lnTo>
                  <a:pt x="43061" y="12311"/>
                </a:lnTo>
                <a:lnTo>
                  <a:pt x="43753" y="12419"/>
                </a:lnTo>
                <a:lnTo>
                  <a:pt x="44415" y="12533"/>
                </a:lnTo>
                <a:lnTo>
                  <a:pt x="45055" y="12652"/>
                </a:lnTo>
                <a:lnTo>
                  <a:pt x="45681" y="12775"/>
                </a:lnTo>
                <a:lnTo>
                  <a:pt x="46300" y="12900"/>
                </a:lnTo>
                <a:lnTo>
                  <a:pt x="46919" y="13025"/>
                </a:lnTo>
                <a:lnTo>
                  <a:pt x="47545" y="13148"/>
                </a:lnTo>
                <a:lnTo>
                  <a:pt x="48185" y="13267"/>
                </a:lnTo>
                <a:lnTo>
                  <a:pt x="48847" y="13381"/>
                </a:lnTo>
                <a:lnTo>
                  <a:pt x="49539" y="13489"/>
                </a:lnTo>
                <a:lnTo>
                  <a:pt x="50266" y="13588"/>
                </a:lnTo>
                <a:lnTo>
                  <a:pt x="51037" y="13676"/>
                </a:lnTo>
                <a:lnTo>
                  <a:pt x="51859" y="13752"/>
                </a:lnTo>
                <a:lnTo>
                  <a:pt x="52739" y="13814"/>
                </a:lnTo>
                <a:lnTo>
                  <a:pt x="53684" y="13861"/>
                </a:lnTo>
                <a:lnTo>
                  <a:pt x="54702" y="13890"/>
                </a:lnTo>
                <a:lnTo>
                  <a:pt x="55800" y="13900"/>
                </a:lnTo>
                <a:lnTo>
                  <a:pt x="56580" y="13863"/>
                </a:lnTo>
                <a:lnTo>
                  <a:pt x="57303" y="13754"/>
                </a:lnTo>
                <a:lnTo>
                  <a:pt x="57975" y="13582"/>
                </a:lnTo>
                <a:lnTo>
                  <a:pt x="58600" y="13352"/>
                </a:lnTo>
                <a:lnTo>
                  <a:pt x="59184" y="13070"/>
                </a:lnTo>
                <a:lnTo>
                  <a:pt x="59732" y="12744"/>
                </a:lnTo>
                <a:lnTo>
                  <a:pt x="60249" y="12379"/>
                </a:lnTo>
                <a:lnTo>
                  <a:pt x="60740" y="11981"/>
                </a:lnTo>
                <a:lnTo>
                  <a:pt x="61211" y="11559"/>
                </a:lnTo>
                <a:lnTo>
                  <a:pt x="61666" y="11116"/>
                </a:lnTo>
                <a:lnTo>
                  <a:pt x="62110" y="10661"/>
                </a:lnTo>
                <a:lnTo>
                  <a:pt x="62550" y="10200"/>
                </a:lnTo>
                <a:lnTo>
                  <a:pt x="62990" y="9739"/>
                </a:lnTo>
                <a:lnTo>
                  <a:pt x="63434" y="9284"/>
                </a:lnTo>
                <a:lnTo>
                  <a:pt x="63889" y="8841"/>
                </a:lnTo>
                <a:lnTo>
                  <a:pt x="64360" y="8419"/>
                </a:lnTo>
                <a:lnTo>
                  <a:pt x="64851" y="8021"/>
                </a:lnTo>
                <a:lnTo>
                  <a:pt x="65368" y="7656"/>
                </a:lnTo>
                <a:lnTo>
                  <a:pt x="65916" y="7330"/>
                </a:lnTo>
                <a:lnTo>
                  <a:pt x="66500" y="7048"/>
                </a:lnTo>
                <a:lnTo>
                  <a:pt x="67125" y="6818"/>
                </a:lnTo>
                <a:lnTo>
                  <a:pt x="67797" y="6646"/>
                </a:lnTo>
                <a:lnTo>
                  <a:pt x="68520" y="6537"/>
                </a:lnTo>
                <a:lnTo>
                  <a:pt x="69300" y="6500"/>
                </a:lnTo>
                <a:lnTo>
                  <a:pt x="70115" y="6467"/>
                </a:lnTo>
                <a:lnTo>
                  <a:pt x="70870" y="6372"/>
                </a:lnTo>
                <a:lnTo>
                  <a:pt x="71571" y="6221"/>
                </a:lnTo>
                <a:lnTo>
                  <a:pt x="72224" y="6019"/>
                </a:lnTo>
                <a:lnTo>
                  <a:pt x="72834" y="5771"/>
                </a:lnTo>
                <a:lnTo>
                  <a:pt x="73407" y="5484"/>
                </a:lnTo>
                <a:lnTo>
                  <a:pt x="73947" y="5164"/>
                </a:lnTo>
                <a:lnTo>
                  <a:pt x="74460" y="4815"/>
                </a:lnTo>
                <a:lnTo>
                  <a:pt x="74951" y="4443"/>
                </a:lnTo>
                <a:lnTo>
                  <a:pt x="75426" y="4055"/>
                </a:lnTo>
                <a:lnTo>
                  <a:pt x="75891" y="3655"/>
                </a:lnTo>
                <a:lnTo>
                  <a:pt x="76350" y="3250"/>
                </a:lnTo>
                <a:lnTo>
                  <a:pt x="76809" y="2845"/>
                </a:lnTo>
                <a:lnTo>
                  <a:pt x="77274" y="2445"/>
                </a:lnTo>
                <a:lnTo>
                  <a:pt x="77749" y="2057"/>
                </a:lnTo>
                <a:lnTo>
                  <a:pt x="78240" y="1685"/>
                </a:lnTo>
                <a:lnTo>
                  <a:pt x="78753" y="1336"/>
                </a:lnTo>
                <a:lnTo>
                  <a:pt x="79293" y="1016"/>
                </a:lnTo>
                <a:lnTo>
                  <a:pt x="79866" y="729"/>
                </a:lnTo>
                <a:lnTo>
                  <a:pt x="80476" y="481"/>
                </a:lnTo>
                <a:lnTo>
                  <a:pt x="81129" y="279"/>
                </a:lnTo>
                <a:lnTo>
                  <a:pt x="81830" y="128"/>
                </a:lnTo>
                <a:lnTo>
                  <a:pt x="82585" y="33"/>
                </a:lnTo>
                <a:lnTo>
                  <a:pt x="83400" y="0"/>
                </a:lnTo>
              </a:path>
            </a:pathLst>
          </a:custGeom>
          <a:noFill/>
          <a:ln w="13970" cap="rnd">
            <a:solidFill>
              <a:srgbClr val="FFFF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7747000" y="3213100"/>
            <a:ext cx="3505200" cy="1765300"/>
          </a:xfrm>
          <a:custGeom>
            <a:avLst/>
            <a:gdLst/>
            <a:ahLst/>
            <a:cxnLst/>
            <a:rect l="l" t="t" r="r" b="b"/>
            <a:pathLst>
              <a:path w="27600" h="13900">
                <a:moveTo>
                  <a:pt x="0" y="13900"/>
                </a:moveTo>
                <a:lnTo>
                  <a:pt x="780" y="13863"/>
                </a:lnTo>
                <a:lnTo>
                  <a:pt x="1503" y="13754"/>
                </a:lnTo>
                <a:lnTo>
                  <a:pt x="2175" y="13582"/>
                </a:lnTo>
                <a:lnTo>
                  <a:pt x="2800" y="13352"/>
                </a:lnTo>
                <a:lnTo>
                  <a:pt x="3384" y="13070"/>
                </a:lnTo>
                <a:lnTo>
                  <a:pt x="3932" y="12744"/>
                </a:lnTo>
                <a:lnTo>
                  <a:pt x="4449" y="12379"/>
                </a:lnTo>
                <a:lnTo>
                  <a:pt x="4940" y="11981"/>
                </a:lnTo>
                <a:lnTo>
                  <a:pt x="5411" y="11559"/>
                </a:lnTo>
                <a:lnTo>
                  <a:pt x="5866" y="11116"/>
                </a:lnTo>
                <a:lnTo>
                  <a:pt x="6310" y="10661"/>
                </a:lnTo>
                <a:lnTo>
                  <a:pt x="6750" y="10200"/>
                </a:lnTo>
                <a:lnTo>
                  <a:pt x="7190" y="9739"/>
                </a:lnTo>
                <a:lnTo>
                  <a:pt x="7634" y="9284"/>
                </a:lnTo>
                <a:lnTo>
                  <a:pt x="8089" y="8841"/>
                </a:lnTo>
                <a:lnTo>
                  <a:pt x="8560" y="8419"/>
                </a:lnTo>
                <a:lnTo>
                  <a:pt x="9051" y="8021"/>
                </a:lnTo>
                <a:lnTo>
                  <a:pt x="9568" y="7656"/>
                </a:lnTo>
                <a:lnTo>
                  <a:pt x="10116" y="7330"/>
                </a:lnTo>
                <a:lnTo>
                  <a:pt x="10700" y="7048"/>
                </a:lnTo>
                <a:lnTo>
                  <a:pt x="11325" y="6818"/>
                </a:lnTo>
                <a:lnTo>
                  <a:pt x="11997" y="6646"/>
                </a:lnTo>
                <a:lnTo>
                  <a:pt x="12720" y="6537"/>
                </a:lnTo>
                <a:lnTo>
                  <a:pt x="13500" y="6500"/>
                </a:lnTo>
                <a:lnTo>
                  <a:pt x="14315" y="6467"/>
                </a:lnTo>
                <a:lnTo>
                  <a:pt x="15070" y="6372"/>
                </a:lnTo>
                <a:lnTo>
                  <a:pt x="15771" y="6221"/>
                </a:lnTo>
                <a:lnTo>
                  <a:pt x="16424" y="6019"/>
                </a:lnTo>
                <a:lnTo>
                  <a:pt x="17034" y="5771"/>
                </a:lnTo>
                <a:lnTo>
                  <a:pt x="17607" y="5484"/>
                </a:lnTo>
                <a:lnTo>
                  <a:pt x="18147" y="5164"/>
                </a:lnTo>
                <a:lnTo>
                  <a:pt x="18660" y="4815"/>
                </a:lnTo>
                <a:lnTo>
                  <a:pt x="19151" y="4443"/>
                </a:lnTo>
                <a:lnTo>
                  <a:pt x="19626" y="4055"/>
                </a:lnTo>
                <a:lnTo>
                  <a:pt x="20091" y="3655"/>
                </a:lnTo>
                <a:lnTo>
                  <a:pt x="20550" y="3250"/>
                </a:lnTo>
                <a:lnTo>
                  <a:pt x="21009" y="2845"/>
                </a:lnTo>
                <a:lnTo>
                  <a:pt x="21474" y="2445"/>
                </a:lnTo>
                <a:lnTo>
                  <a:pt x="21949" y="2057"/>
                </a:lnTo>
                <a:lnTo>
                  <a:pt x="22440" y="1685"/>
                </a:lnTo>
                <a:lnTo>
                  <a:pt x="22953" y="1336"/>
                </a:lnTo>
                <a:lnTo>
                  <a:pt x="23493" y="1016"/>
                </a:lnTo>
                <a:lnTo>
                  <a:pt x="24066" y="729"/>
                </a:lnTo>
                <a:lnTo>
                  <a:pt x="24676" y="481"/>
                </a:lnTo>
                <a:lnTo>
                  <a:pt x="25329" y="279"/>
                </a:lnTo>
                <a:lnTo>
                  <a:pt x="26030" y="128"/>
                </a:lnTo>
                <a:lnTo>
                  <a:pt x="26785" y="33"/>
                </a:lnTo>
                <a:lnTo>
                  <a:pt x="27600" y="0"/>
                </a:lnTo>
              </a:path>
            </a:pathLst>
          </a:custGeom>
          <a:noFill/>
          <a:ln w="165100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7747000" y="3213100"/>
            <a:ext cx="3505200" cy="1765300"/>
          </a:xfrm>
          <a:custGeom>
            <a:avLst/>
            <a:gdLst/>
            <a:ahLst/>
            <a:cxnLst/>
            <a:rect l="l" t="t" r="r" b="b"/>
            <a:pathLst>
              <a:path w="27600" h="13900">
                <a:moveTo>
                  <a:pt x="0" y="13900"/>
                </a:moveTo>
                <a:lnTo>
                  <a:pt x="780" y="13863"/>
                </a:lnTo>
                <a:lnTo>
                  <a:pt x="1503" y="13754"/>
                </a:lnTo>
                <a:lnTo>
                  <a:pt x="2175" y="13582"/>
                </a:lnTo>
                <a:lnTo>
                  <a:pt x="2800" y="13352"/>
                </a:lnTo>
                <a:lnTo>
                  <a:pt x="3384" y="13070"/>
                </a:lnTo>
                <a:lnTo>
                  <a:pt x="3932" y="12744"/>
                </a:lnTo>
                <a:lnTo>
                  <a:pt x="4449" y="12379"/>
                </a:lnTo>
                <a:lnTo>
                  <a:pt x="4940" y="11981"/>
                </a:lnTo>
                <a:lnTo>
                  <a:pt x="5411" y="11559"/>
                </a:lnTo>
                <a:lnTo>
                  <a:pt x="5866" y="11116"/>
                </a:lnTo>
                <a:lnTo>
                  <a:pt x="6310" y="10661"/>
                </a:lnTo>
                <a:lnTo>
                  <a:pt x="6750" y="10200"/>
                </a:lnTo>
                <a:lnTo>
                  <a:pt x="7190" y="9739"/>
                </a:lnTo>
                <a:lnTo>
                  <a:pt x="7634" y="9284"/>
                </a:lnTo>
                <a:lnTo>
                  <a:pt x="8089" y="8841"/>
                </a:lnTo>
                <a:lnTo>
                  <a:pt x="8560" y="8419"/>
                </a:lnTo>
                <a:lnTo>
                  <a:pt x="9051" y="8021"/>
                </a:lnTo>
                <a:lnTo>
                  <a:pt x="9568" y="7656"/>
                </a:lnTo>
                <a:lnTo>
                  <a:pt x="10116" y="7330"/>
                </a:lnTo>
                <a:lnTo>
                  <a:pt x="10700" y="7048"/>
                </a:lnTo>
                <a:lnTo>
                  <a:pt x="11325" y="6818"/>
                </a:lnTo>
                <a:lnTo>
                  <a:pt x="11997" y="6646"/>
                </a:lnTo>
                <a:lnTo>
                  <a:pt x="12720" y="6537"/>
                </a:lnTo>
                <a:lnTo>
                  <a:pt x="13500" y="6500"/>
                </a:lnTo>
                <a:lnTo>
                  <a:pt x="14315" y="6467"/>
                </a:lnTo>
                <a:lnTo>
                  <a:pt x="15070" y="6372"/>
                </a:lnTo>
                <a:lnTo>
                  <a:pt x="15771" y="6221"/>
                </a:lnTo>
                <a:lnTo>
                  <a:pt x="16424" y="6019"/>
                </a:lnTo>
                <a:lnTo>
                  <a:pt x="17034" y="5771"/>
                </a:lnTo>
                <a:lnTo>
                  <a:pt x="17607" y="5484"/>
                </a:lnTo>
                <a:lnTo>
                  <a:pt x="18147" y="5164"/>
                </a:lnTo>
                <a:lnTo>
                  <a:pt x="18660" y="4815"/>
                </a:lnTo>
                <a:lnTo>
                  <a:pt x="19151" y="4443"/>
                </a:lnTo>
                <a:lnTo>
                  <a:pt x="19626" y="4055"/>
                </a:lnTo>
                <a:lnTo>
                  <a:pt x="20091" y="3655"/>
                </a:lnTo>
                <a:lnTo>
                  <a:pt x="20550" y="3250"/>
                </a:lnTo>
                <a:lnTo>
                  <a:pt x="21009" y="2845"/>
                </a:lnTo>
                <a:lnTo>
                  <a:pt x="21474" y="2445"/>
                </a:lnTo>
                <a:lnTo>
                  <a:pt x="21949" y="2057"/>
                </a:lnTo>
                <a:lnTo>
                  <a:pt x="22440" y="1685"/>
                </a:lnTo>
                <a:lnTo>
                  <a:pt x="22953" y="1336"/>
                </a:lnTo>
                <a:lnTo>
                  <a:pt x="23493" y="1016"/>
                </a:lnTo>
                <a:lnTo>
                  <a:pt x="24066" y="729"/>
                </a:lnTo>
                <a:lnTo>
                  <a:pt x="24676" y="481"/>
                </a:lnTo>
                <a:lnTo>
                  <a:pt x="25329" y="279"/>
                </a:lnTo>
                <a:lnTo>
                  <a:pt x="26030" y="128"/>
                </a:lnTo>
                <a:lnTo>
                  <a:pt x="26785" y="33"/>
                </a:lnTo>
                <a:lnTo>
                  <a:pt x="27600" y="0"/>
                </a:lnTo>
              </a:path>
            </a:pathLst>
          </a:custGeom>
          <a:noFill/>
          <a:ln w="13970" cap="rnd">
            <a:solidFill>
              <a:srgbClr val="FFFF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04900" y="5003800"/>
            <a:ext cx="381000" cy="381000"/>
          </a:xfrm>
          <a:prstGeom prst="ellipse">
            <a:avLst/>
          </a:prstGeom>
          <a:solidFill>
            <a:srgbClr val="DD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4900" y="4965700"/>
            <a:ext cx="381000" cy="3810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6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5700" y="5016500"/>
            <a:ext cx="279400" cy="279400"/>
          </a:xfrm>
          <a:prstGeom prst="ellipse">
            <a:avLst/>
          </a:prstGeom>
          <a:solidFill>
            <a:srgbClr val="126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"/>
          <p:cNvSpPr txBox="1"/>
          <p:nvPr/>
        </p:nvSpPr>
        <p:spPr>
          <a:xfrm>
            <a:off x="1104900" y="5067300"/>
            <a:ext cx="3810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01</a:t>
            </a:r>
          </a:p>
        </p:txBody>
      </p:sp>
      <p:sp>
        <p:nvSpPr>
          <p:cNvPr id="18" name="Oval 17"/>
          <p:cNvSpPr/>
          <p:nvPr/>
        </p:nvSpPr>
        <p:spPr>
          <a:xfrm>
            <a:off x="5143500" y="4572000"/>
            <a:ext cx="381000" cy="381000"/>
          </a:xfrm>
          <a:prstGeom prst="ellipse">
            <a:avLst/>
          </a:prstGeom>
          <a:solidFill>
            <a:srgbClr val="DD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43500" y="4533900"/>
            <a:ext cx="381000" cy="3810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94300" y="4584700"/>
            <a:ext cx="279400" cy="279400"/>
          </a:xfrm>
          <a:prstGeom prst="ellipse">
            <a:avLst/>
          </a:prstGeom>
          <a:solidFill>
            <a:srgbClr val="AC4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"/>
          <p:cNvSpPr txBox="1"/>
          <p:nvPr/>
        </p:nvSpPr>
        <p:spPr>
          <a:xfrm>
            <a:off x="5143500" y="4635500"/>
            <a:ext cx="3810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02</a:t>
            </a:r>
          </a:p>
        </p:txBody>
      </p:sp>
      <p:sp>
        <p:nvSpPr>
          <p:cNvPr id="22" name="Oval 21"/>
          <p:cNvSpPr/>
          <p:nvPr/>
        </p:nvSpPr>
        <p:spPr>
          <a:xfrm>
            <a:off x="9271000" y="3886200"/>
            <a:ext cx="381000" cy="381000"/>
          </a:xfrm>
          <a:prstGeom prst="ellipse">
            <a:avLst/>
          </a:prstGeom>
          <a:solidFill>
            <a:srgbClr val="DD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71000" y="3848100"/>
            <a:ext cx="381000" cy="3810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1800" y="3898900"/>
            <a:ext cx="279400" cy="279400"/>
          </a:xfrm>
          <a:prstGeom prst="ellipse">
            <a:avLst/>
          </a:prstGeom>
          <a:solidFill>
            <a:srgbClr val="007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"/>
          <p:cNvSpPr txBox="1"/>
          <p:nvPr/>
        </p:nvSpPr>
        <p:spPr>
          <a:xfrm>
            <a:off x="9271000" y="3949700"/>
            <a:ext cx="3810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03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3775" y="4387850"/>
            <a:ext cx="577850" cy="440266"/>
          </a:xfrm>
          <a:prstGeom prst="roundRect">
            <a:avLst>
              <a:gd name="adj" fmla="val 12500"/>
            </a:avLst>
          </a:prstGeom>
          <a:solidFill>
            <a:srgbClr val="EAF3FC"/>
          </a:solidFill>
          <a:ln w="15240">
            <a:solidFill>
              <a:srgbClr val="16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993775" y="4497959"/>
            <a:ext cx="577850" cy="0"/>
          </a:xfrm>
          <a:custGeom>
            <a:avLst/>
            <a:gdLst/>
            <a:ahLst/>
            <a:cxnLst/>
            <a:rect l="l" t="t" r="r" b="b"/>
            <a:pathLst>
              <a:path w="4550" h="0">
                <a:moveTo>
                  <a:pt x="0" y="0"/>
                </a:moveTo>
                <a:lnTo>
                  <a:pt x="4550" y="0"/>
                </a:lnTo>
              </a:path>
            </a:pathLst>
          </a:custGeom>
          <a:noFill/>
          <a:ln w="27516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48808" y="4429125"/>
            <a:ext cx="27516" cy="27516"/>
          </a:xfrm>
          <a:prstGeom prst="ellipse">
            <a:avLst/>
          </a:prstGeom>
          <a:solidFill>
            <a:srgbClr val="167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17600" y="4429125"/>
            <a:ext cx="27516" cy="27516"/>
          </a:xfrm>
          <a:prstGeom prst="ellipse">
            <a:avLst/>
          </a:prstGeom>
          <a:solidFill>
            <a:srgbClr val="167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86391" y="4429125"/>
            <a:ext cx="27516" cy="27516"/>
          </a:xfrm>
          <a:prstGeom prst="ellipse">
            <a:avLst/>
          </a:prstGeom>
          <a:solidFill>
            <a:srgbClr val="167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1117600" y="4580509"/>
            <a:ext cx="82550" cy="137541"/>
          </a:xfrm>
          <a:custGeom>
            <a:avLst/>
            <a:gdLst/>
            <a:ahLst/>
            <a:cxnLst/>
            <a:rect l="l" t="t" r="r" b="b"/>
            <a:pathLst>
              <a:path w="650" h="1083">
                <a:moveTo>
                  <a:pt x="650" y="0"/>
                </a:moveTo>
                <a:lnTo>
                  <a:pt x="0" y="541"/>
                </a:lnTo>
                <a:lnTo>
                  <a:pt x="650" y="1083"/>
                </a:lnTo>
              </a:path>
            </a:pathLst>
          </a:custGeom>
          <a:noFill/>
          <a:ln w="27516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1365250" y="4580509"/>
            <a:ext cx="82550" cy="137541"/>
          </a:xfrm>
          <a:custGeom>
            <a:avLst/>
            <a:gdLst/>
            <a:ahLst/>
            <a:cxnLst/>
            <a:rect l="l" t="t" r="r" b="b"/>
            <a:pathLst>
              <a:path w="650" h="1083">
                <a:moveTo>
                  <a:pt x="0" y="0"/>
                </a:moveTo>
                <a:lnTo>
                  <a:pt x="650" y="541"/>
                </a:lnTo>
                <a:lnTo>
                  <a:pt x="0" y="1083"/>
                </a:lnTo>
              </a:path>
            </a:pathLst>
          </a:custGeom>
          <a:noFill/>
          <a:ln w="27516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1255141" y="4552950"/>
            <a:ext cx="55118" cy="206375"/>
          </a:xfrm>
          <a:custGeom>
            <a:avLst/>
            <a:gdLst/>
            <a:ahLst/>
            <a:cxnLst/>
            <a:rect l="l" t="t" r="r" b="b"/>
            <a:pathLst>
              <a:path w="434" h="1625">
                <a:moveTo>
                  <a:pt x="434" y="0"/>
                </a:moveTo>
                <a:lnTo>
                  <a:pt x="0" y="1625"/>
                </a:lnTo>
              </a:path>
            </a:pathLst>
          </a:custGeom>
          <a:noFill/>
          <a:ln w="27516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1186434" y="4896866"/>
            <a:ext cx="192532" cy="0"/>
          </a:xfrm>
          <a:custGeom>
            <a:avLst/>
            <a:gdLst/>
            <a:ahLst/>
            <a:cxnLst/>
            <a:rect l="l" t="t" r="r" b="b"/>
            <a:pathLst>
              <a:path w="1516" h="0">
                <a:moveTo>
                  <a:pt x="0" y="0"/>
                </a:moveTo>
                <a:lnTo>
                  <a:pt x="1516" y="0"/>
                </a:lnTo>
              </a:path>
            </a:pathLst>
          </a:custGeom>
          <a:noFill/>
          <a:ln w="27516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092700" y="4191000"/>
            <a:ext cx="148166" cy="311150"/>
          </a:xfrm>
          <a:prstGeom prst="roundRect">
            <a:avLst>
              <a:gd name="adj" fmla="val 40000"/>
            </a:avLst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107516" y="4116916"/>
            <a:ext cx="118533" cy="88900"/>
          </a:xfrm>
          <a:prstGeom prst="roundRect">
            <a:avLst>
              <a:gd name="adj" fmla="val 50000"/>
            </a:avLst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5166741" y="3953891"/>
            <a:ext cx="414909" cy="237109"/>
          </a:xfrm>
          <a:custGeom>
            <a:avLst/>
            <a:gdLst/>
            <a:ahLst/>
            <a:cxnLst/>
            <a:rect l="l" t="t" r="r" b="b"/>
            <a:pathLst>
              <a:path w="3267" h="1867">
                <a:moveTo>
                  <a:pt x="0" y="1867"/>
                </a:moveTo>
                <a:lnTo>
                  <a:pt x="3267" y="0"/>
                </a:lnTo>
              </a:path>
            </a:pathLst>
          </a:custGeom>
          <a:noFill/>
          <a:ln w="74083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5314950" y="4072509"/>
            <a:ext cx="44450" cy="74041"/>
          </a:xfrm>
          <a:custGeom>
            <a:avLst/>
            <a:gdLst/>
            <a:ahLst/>
            <a:cxnLst/>
            <a:rect l="l" t="t" r="r" b="b"/>
            <a:pathLst>
              <a:path w="350" h="583">
                <a:moveTo>
                  <a:pt x="0" y="0"/>
                </a:moveTo>
                <a:lnTo>
                  <a:pt x="350" y="583"/>
                </a:lnTo>
              </a:path>
            </a:pathLst>
          </a:custGeom>
          <a:noFill/>
          <a:ln w="37041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5448300" y="3998341"/>
            <a:ext cx="44450" cy="74168"/>
          </a:xfrm>
          <a:custGeom>
            <a:avLst/>
            <a:gdLst/>
            <a:ahLst/>
            <a:cxnLst/>
            <a:rect l="l" t="t" r="r" b="b"/>
            <a:pathLst>
              <a:path w="350" h="584">
                <a:moveTo>
                  <a:pt x="0" y="0"/>
                </a:moveTo>
                <a:lnTo>
                  <a:pt x="350" y="584"/>
                </a:lnTo>
              </a:path>
            </a:pathLst>
          </a:custGeom>
          <a:noFill/>
          <a:ln w="37041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137150" y="4235450"/>
            <a:ext cx="59266" cy="5926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5477891" y="4191000"/>
            <a:ext cx="192659" cy="148209"/>
          </a:xfrm>
          <a:custGeom>
            <a:avLst/>
            <a:gdLst/>
            <a:ahLst/>
            <a:cxnLst/>
            <a:rect l="l" t="t" r="r" b="b"/>
            <a:pathLst>
              <a:path w="1517" h="1167">
                <a:moveTo>
                  <a:pt x="0" y="583"/>
                </a:moveTo>
                <a:lnTo>
                  <a:pt x="584" y="1167"/>
                </a:lnTo>
                <a:lnTo>
                  <a:pt x="1517" y="0"/>
                </a:lnTo>
              </a:path>
            </a:pathLst>
          </a:custGeom>
          <a:noFill/>
          <a:ln w="37041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179050" y="2597150"/>
            <a:ext cx="342900" cy="657225"/>
          </a:xfrm>
          <a:prstGeom prst="roundRect">
            <a:avLst>
              <a:gd name="adj" fmla="val 33333"/>
            </a:avLst>
          </a:prstGeom>
          <a:solidFill>
            <a:srgbClr val="E6F4ED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10264775" y="2740025"/>
            <a:ext cx="171450" cy="0"/>
          </a:xfrm>
          <a:custGeom>
            <a:avLst/>
            <a:gdLst/>
            <a:ahLst/>
            <a:cxnLst/>
            <a:rect l="l" t="t" r="r" b="b"/>
            <a:pathLst>
              <a:path w="1350" h="0">
                <a:moveTo>
                  <a:pt x="0" y="0"/>
                </a:moveTo>
                <a:lnTo>
                  <a:pt x="1350" y="0"/>
                </a:lnTo>
              </a:path>
            </a:pathLst>
          </a:custGeom>
          <a:noFill/>
          <a:ln w="28575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10264775" y="2940050"/>
            <a:ext cx="171450" cy="0"/>
          </a:xfrm>
          <a:custGeom>
            <a:avLst/>
            <a:gdLst/>
            <a:ahLst/>
            <a:cxnLst/>
            <a:rect l="l" t="t" r="r" b="b"/>
            <a:pathLst>
              <a:path w="1350" h="0">
                <a:moveTo>
                  <a:pt x="0" y="0"/>
                </a:moveTo>
                <a:lnTo>
                  <a:pt x="1350" y="0"/>
                </a:lnTo>
              </a:path>
            </a:pathLst>
          </a:custGeom>
          <a:noFill/>
          <a:ln w="28575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10264775" y="3140075"/>
            <a:ext cx="171450" cy="0"/>
          </a:xfrm>
          <a:custGeom>
            <a:avLst/>
            <a:gdLst/>
            <a:ahLst/>
            <a:cxnLst/>
            <a:rect l="l" t="t" r="r" b="b"/>
            <a:pathLst>
              <a:path w="1350" h="0">
                <a:moveTo>
                  <a:pt x="0" y="0"/>
                </a:moveTo>
                <a:lnTo>
                  <a:pt x="1350" y="0"/>
                </a:lnTo>
              </a:path>
            </a:pathLst>
          </a:custGeom>
          <a:noFill/>
          <a:ln w="28575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636250" y="2111375"/>
            <a:ext cx="400050" cy="1143000"/>
          </a:xfrm>
          <a:prstGeom prst="roundRect">
            <a:avLst>
              <a:gd name="adj" fmla="val 28571"/>
            </a:avLst>
          </a:prstGeom>
          <a:solidFill>
            <a:srgbClr val="E6F4ED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10721975" y="2254250"/>
            <a:ext cx="228600" cy="0"/>
          </a:xfrm>
          <a:custGeom>
            <a:avLst/>
            <a:gdLst/>
            <a:ahLst/>
            <a:cxnLst/>
            <a:rect l="l" t="t" r="r" b="b"/>
            <a:pathLst>
              <a:path w="1800" h="0">
                <a:moveTo>
                  <a:pt x="0" y="0"/>
                </a:moveTo>
                <a:lnTo>
                  <a:pt x="1800" y="0"/>
                </a:lnTo>
              </a:path>
            </a:pathLst>
          </a:custGeom>
          <a:noFill/>
          <a:ln w="28575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10721975" y="2454275"/>
            <a:ext cx="228600" cy="0"/>
          </a:xfrm>
          <a:custGeom>
            <a:avLst/>
            <a:gdLst/>
            <a:ahLst/>
            <a:cxnLst/>
            <a:rect l="l" t="t" r="r" b="b"/>
            <a:pathLst>
              <a:path w="1800" h="0">
                <a:moveTo>
                  <a:pt x="0" y="0"/>
                </a:moveTo>
                <a:lnTo>
                  <a:pt x="1800" y="0"/>
                </a:lnTo>
              </a:path>
            </a:pathLst>
          </a:custGeom>
          <a:noFill/>
          <a:ln w="28575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10721975" y="2654300"/>
            <a:ext cx="228600" cy="0"/>
          </a:xfrm>
          <a:custGeom>
            <a:avLst/>
            <a:gdLst/>
            <a:ahLst/>
            <a:cxnLst/>
            <a:rect l="l" t="t" r="r" b="b"/>
            <a:pathLst>
              <a:path w="1800" h="0">
                <a:moveTo>
                  <a:pt x="0" y="0"/>
                </a:moveTo>
                <a:lnTo>
                  <a:pt x="1800" y="0"/>
                </a:lnTo>
              </a:path>
            </a:pathLst>
          </a:custGeom>
          <a:noFill/>
          <a:ln w="28575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10721975" y="2854325"/>
            <a:ext cx="228600" cy="0"/>
          </a:xfrm>
          <a:custGeom>
            <a:avLst/>
            <a:gdLst/>
            <a:ahLst/>
            <a:cxnLst/>
            <a:rect l="l" t="t" r="r" b="b"/>
            <a:pathLst>
              <a:path w="1800" h="0">
                <a:moveTo>
                  <a:pt x="0" y="0"/>
                </a:moveTo>
                <a:lnTo>
                  <a:pt x="1800" y="0"/>
                </a:lnTo>
              </a:path>
            </a:pathLst>
          </a:custGeom>
          <a:noFill/>
          <a:ln w="28575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10721975" y="3054350"/>
            <a:ext cx="228600" cy="0"/>
          </a:xfrm>
          <a:custGeom>
            <a:avLst/>
            <a:gdLst/>
            <a:ahLst/>
            <a:cxnLst/>
            <a:rect l="l" t="t" r="r" b="b"/>
            <a:pathLst>
              <a:path w="1800" h="0">
                <a:moveTo>
                  <a:pt x="0" y="0"/>
                </a:moveTo>
                <a:lnTo>
                  <a:pt x="1800" y="0"/>
                </a:lnTo>
              </a:path>
            </a:pathLst>
          </a:custGeom>
          <a:noFill/>
          <a:ln w="28575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1150600" y="2368550"/>
            <a:ext cx="285750" cy="885825"/>
          </a:xfrm>
          <a:prstGeom prst="roundRect">
            <a:avLst>
              <a:gd name="adj" fmla="val 40000"/>
            </a:avLst>
          </a:prstGeom>
          <a:solidFill>
            <a:srgbClr val="E6F4ED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11236325" y="2511425"/>
            <a:ext cx="114300" cy="0"/>
          </a:xfrm>
          <a:custGeom>
            <a:avLst/>
            <a:gdLst/>
            <a:ahLst/>
            <a:cxnLst/>
            <a:rect l="l" t="t" r="r" b="b"/>
            <a:pathLst>
              <a:path w="900" h="0">
                <a:moveTo>
                  <a:pt x="0" y="0"/>
                </a:moveTo>
                <a:lnTo>
                  <a:pt x="900" y="0"/>
                </a:lnTo>
              </a:path>
            </a:pathLst>
          </a:custGeom>
          <a:noFill/>
          <a:ln w="28575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11236325" y="2711450"/>
            <a:ext cx="114300" cy="0"/>
          </a:xfrm>
          <a:custGeom>
            <a:avLst/>
            <a:gdLst/>
            <a:ahLst/>
            <a:cxnLst/>
            <a:rect l="l" t="t" r="r" b="b"/>
            <a:pathLst>
              <a:path w="900" h="0">
                <a:moveTo>
                  <a:pt x="0" y="0"/>
                </a:moveTo>
                <a:lnTo>
                  <a:pt x="900" y="0"/>
                </a:lnTo>
              </a:path>
            </a:pathLst>
          </a:custGeom>
          <a:noFill/>
          <a:ln w="28575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11236325" y="2911475"/>
            <a:ext cx="114300" cy="0"/>
          </a:xfrm>
          <a:custGeom>
            <a:avLst/>
            <a:gdLst/>
            <a:ahLst/>
            <a:cxnLst/>
            <a:rect l="l" t="t" r="r" b="b"/>
            <a:pathLst>
              <a:path w="900" h="0">
                <a:moveTo>
                  <a:pt x="0" y="0"/>
                </a:moveTo>
                <a:lnTo>
                  <a:pt x="900" y="0"/>
                </a:lnTo>
              </a:path>
            </a:pathLst>
          </a:custGeom>
          <a:noFill/>
          <a:ln w="28575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1236325" y="3111500"/>
            <a:ext cx="114300" cy="0"/>
          </a:xfrm>
          <a:custGeom>
            <a:avLst/>
            <a:gdLst/>
            <a:ahLst/>
            <a:cxnLst/>
            <a:rect l="l" t="t" r="r" b="b"/>
            <a:pathLst>
              <a:path w="900" h="0">
                <a:moveTo>
                  <a:pt x="0" y="0"/>
                </a:moveTo>
                <a:lnTo>
                  <a:pt x="900" y="0"/>
                </a:lnTo>
              </a:path>
            </a:pathLst>
          </a:custGeom>
          <a:noFill/>
          <a:ln w="28575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121900" y="3282950"/>
            <a:ext cx="1371600" cy="0"/>
          </a:xfrm>
          <a:custGeom>
            <a:avLst/>
            <a:gdLst/>
            <a:ahLst/>
            <a:cxnLst/>
            <a:rect l="l" t="t" r="r" b="b"/>
            <a:pathLst>
              <a:path w="10800" h="0">
                <a:moveTo>
                  <a:pt x="0" y="0"/>
                </a:moveTo>
                <a:lnTo>
                  <a:pt x="10800" y="0"/>
                </a:lnTo>
              </a:path>
            </a:pathLst>
          </a:custGeom>
          <a:noFill/>
          <a:ln w="57150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"/>
          <p:cNvSpPr txBox="1"/>
          <p:nvPr/>
        </p:nvSpPr>
        <p:spPr>
          <a:xfrm>
            <a:off x="673100" y="5486400"/>
            <a:ext cx="22860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26DB5"/>
                </a:solidFill>
                <a:latin typeface="Microsoft JhengHei"/>
              </a:defRPr>
            </a:pPr>
            <a:r>
              <a:t>建置候選版本</a:t>
            </a:r>
          </a:p>
        </p:txBody>
      </p:sp>
      <p:sp>
        <p:nvSpPr>
          <p:cNvPr id="59" name="Text"/>
          <p:cNvSpPr txBox="1"/>
          <p:nvPr/>
        </p:nvSpPr>
        <p:spPr>
          <a:xfrm>
            <a:off x="4749800" y="5130800"/>
            <a:ext cx="22860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C4E16"/>
                </a:solidFill>
                <a:latin typeface="Microsoft JhengHei"/>
              </a:defRPr>
            </a:pPr>
            <a:r>
              <a:t>選版與授權</a:t>
            </a:r>
          </a:p>
        </p:txBody>
      </p:sp>
      <p:sp>
        <p:nvSpPr>
          <p:cNvPr id="60" name="Text"/>
          <p:cNvSpPr txBox="1"/>
          <p:nvPr/>
        </p:nvSpPr>
        <p:spPr>
          <a:xfrm>
            <a:off x="8953500" y="4406900"/>
            <a:ext cx="22860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786F"/>
                </a:solidFill>
                <a:latin typeface="Microsoft JhengHei"/>
              </a:defRPr>
            </a:pPr>
            <a:r>
              <a:t>受控換版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08000" y="5969000"/>
            <a:ext cx="2514600" cy="342900"/>
          </a:xfrm>
          <a:prstGeom prst="roundRect">
            <a:avLst>
              <a:gd name="adj" fmla="val 48148"/>
            </a:avLst>
          </a:prstGeom>
          <a:solidFill>
            <a:srgbClr val="EA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"/>
          <p:cNvSpPr txBox="1"/>
          <p:nvPr/>
        </p:nvSpPr>
        <p:spPr>
          <a:xfrm>
            <a:off x="622300" y="6032500"/>
            <a:ext cx="2286000" cy="2225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552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26DB5"/>
                </a:solidFill>
                <a:latin typeface="Microsoft JhengHei"/>
              </a:defRPr>
            </a:pPr>
            <a:r>
              <a:t>Express 作為 POC 起點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200400" y="5969000"/>
            <a:ext cx="2857500" cy="342900"/>
          </a:xfrm>
          <a:prstGeom prst="roundRect">
            <a:avLst>
              <a:gd name="adj" fmla="val 48148"/>
            </a:avLst>
          </a:prstGeom>
          <a:solidFill>
            <a:srgbClr val="FF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"/>
          <p:cNvSpPr txBox="1"/>
          <p:nvPr/>
        </p:nvSpPr>
        <p:spPr>
          <a:xfrm>
            <a:off x="3314700" y="6032500"/>
            <a:ext cx="2628900" cy="2225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552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AC4E16"/>
                </a:solidFill>
                <a:latin typeface="Microsoft JhengHei"/>
              </a:defRPr>
            </a:pPr>
            <a:r>
              <a:t>目標 12/31 · 待共同確認</a:t>
            </a:r>
          </a:p>
        </p:txBody>
      </p:sp>
      <p:sp>
        <p:nvSpPr>
          <p:cNvPr id="65" name="Freeform 64"/>
          <p:cNvSpPr/>
          <p:nvPr/>
        </p:nvSpPr>
        <p:spPr>
          <a:xfrm>
            <a:off x="457200" y="6413500"/>
            <a:ext cx="11277600" cy="0"/>
          </a:xfrm>
          <a:custGeom>
            <a:avLst/>
            <a:gdLst/>
            <a:ahLst/>
            <a:cxnLst/>
            <a:rect l="l" t="t" r="r" b="b"/>
            <a:pathLst>
              <a:path w="88800" h="0">
                <a:moveTo>
                  <a:pt x="0" y="0"/>
                </a:moveTo>
                <a:lnTo>
                  <a:pt x="88800" y="0"/>
                </a:lnTo>
              </a:path>
            </a:pathLst>
          </a:custGeom>
          <a:noFill/>
          <a:ln w="10160" cap="rnd">
            <a:solidFill>
              <a:srgbClr val="DCE4E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"/>
          <p:cNvSpPr txBox="1"/>
          <p:nvPr/>
        </p:nvSpPr>
        <p:spPr>
          <a:xfrm>
            <a:off x="457200" y="6553200"/>
            <a:ext cx="10033000" cy="188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82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506B77"/>
                </a:solidFill>
                <a:latin typeface="Microsoft JhengHei"/>
              </a:defRPr>
            </a:pPr>
            <a:r>
              <a:t>JOURNEY EDITION  /  規劃提案 · 尚未完成實作／POC 驗證</a:t>
            </a:r>
          </a:p>
        </p:txBody>
      </p:sp>
      <p:sp>
        <p:nvSpPr>
          <p:cNvPr id="67" name="Text"/>
          <p:cNvSpPr txBox="1"/>
          <p:nvPr/>
        </p:nvSpPr>
        <p:spPr>
          <a:xfrm>
            <a:off x="10972800" y="6527800"/>
            <a:ext cx="762000" cy="2139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06B77"/>
                </a:solidFill>
                <a:latin typeface="Microsoft JhengHei"/>
              </a:defRPr>
            </a:pPr>
            <a:r>
              <a:t>01 /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今天看六件事：效益、邊界、架構、環境、換版與時程"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"/>
          <p:cNvSpPr txBox="1"/>
          <p:nvPr/>
        </p:nvSpPr>
        <p:spPr>
          <a:xfrm>
            <a:off x="457200" y="241300"/>
            <a:ext cx="7810500" cy="2054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0786F"/>
                </a:solidFill>
                <a:latin typeface="Microsoft JhengHei"/>
              </a:defRPr>
            </a:pPr>
            <a:r>
              <a:t>WINDOWS  /  DEPLOYMENT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28200" y="190500"/>
            <a:ext cx="2006600" cy="342900"/>
          </a:xfrm>
          <a:prstGeom prst="roundRect">
            <a:avLst>
              <a:gd name="adj" fmla="val 48148"/>
            </a:avLst>
          </a:prstGeom>
          <a:solidFill>
            <a:srgbClr val="EE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"/>
          <p:cNvSpPr txBox="1"/>
          <p:nvPr/>
        </p:nvSpPr>
        <p:spPr>
          <a:xfrm>
            <a:off x="9842500" y="254000"/>
            <a:ext cx="1778000" cy="2225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552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8394B"/>
                </a:solidFill>
                <a:latin typeface="Microsoft JhengHei"/>
              </a:defRPr>
            </a:pPr>
            <a:r>
              <a:t>01  /  今天的路線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749300"/>
            <a:ext cx="11277600" cy="522605"/>
          </a:xfrm>
        </p:spPr>
        <p:txBody>
          <a:bodyPr lIns="0" rIns="0" tIns="0" bIns="0" wrap="none" anchor="t"/>
          <a:lstStyle/>
          <a:p>
            <a:pPr algn="l">
              <a:lnSpc>
                <a:spcPts val="391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94B"/>
                </a:solidFill>
                <a:latin typeface="Microsoft JhengHei"/>
              </a:defRPr>
            </a:pPr>
            <a:r>
              <a:t>六個問題，一條清楚的導入路線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457200" y="1320800"/>
            <a:ext cx="11277600" cy="3082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506B77"/>
                </a:solidFill>
                <a:latin typeface="Microsoft JhengHei"/>
              </a:defRPr>
            </a:pPr>
            <a:r>
              <a:t>先說明預期價值，再區分需求、規劃與待驗證項目</a:t>
            </a:r>
          </a:p>
        </p:txBody>
      </p:sp>
      <p:sp>
        <p:nvSpPr>
          <p:cNvPr id="8" name="Freeform 7"/>
          <p:cNvSpPr/>
          <p:nvPr/>
        </p:nvSpPr>
        <p:spPr>
          <a:xfrm>
            <a:off x="457200" y="6413500"/>
            <a:ext cx="11277600" cy="0"/>
          </a:xfrm>
          <a:custGeom>
            <a:avLst/>
            <a:gdLst/>
            <a:ahLst/>
            <a:cxnLst/>
            <a:rect l="l" t="t" r="r" b="b"/>
            <a:pathLst>
              <a:path w="88800" h="0">
                <a:moveTo>
                  <a:pt x="0" y="0"/>
                </a:moveTo>
                <a:lnTo>
                  <a:pt x="88800" y="0"/>
                </a:lnTo>
              </a:path>
            </a:pathLst>
          </a:custGeom>
          <a:noFill/>
          <a:ln w="10160" cap="rnd">
            <a:solidFill>
              <a:srgbClr val="DCE4E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457200" y="6553200"/>
            <a:ext cx="10033000" cy="188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82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506B77"/>
                </a:solidFill>
                <a:latin typeface="Microsoft JhengHei"/>
              </a:defRPr>
            </a:pPr>
            <a:r>
              <a:t>JOURNEY EDITION  /  規劃提案 · 尚未完成實作／POC 驗證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0972800" y="6527800"/>
            <a:ext cx="762000" cy="2139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06B77"/>
                </a:solidFill>
                <a:latin typeface="Microsoft JhengHei"/>
              </a:defRPr>
            </a:pPr>
            <a:r>
              <a:t>02 / 09</a:t>
            </a:r>
          </a:p>
        </p:txBody>
      </p:sp>
      <p:sp>
        <p:nvSpPr>
          <p:cNvPr id="11" name="Freeform 10"/>
          <p:cNvSpPr/>
          <p:nvPr/>
        </p:nvSpPr>
        <p:spPr>
          <a:xfrm>
            <a:off x="889000" y="4279900"/>
            <a:ext cx="10464800" cy="0"/>
          </a:xfrm>
          <a:custGeom>
            <a:avLst/>
            <a:gdLst/>
            <a:ahLst/>
            <a:cxnLst/>
            <a:rect l="l" t="t" r="r" b="b"/>
            <a:pathLst>
              <a:path w="82400" h="0">
                <a:moveTo>
                  <a:pt x="0" y="0"/>
                </a:moveTo>
                <a:lnTo>
                  <a:pt x="1415" y="0"/>
                </a:lnTo>
                <a:lnTo>
                  <a:pt x="2728" y="0"/>
                </a:lnTo>
                <a:lnTo>
                  <a:pt x="3947" y="0"/>
                </a:lnTo>
                <a:lnTo>
                  <a:pt x="5081" y="0"/>
                </a:lnTo>
                <a:lnTo>
                  <a:pt x="6141" y="0"/>
                </a:lnTo>
                <a:lnTo>
                  <a:pt x="7136" y="0"/>
                </a:lnTo>
                <a:lnTo>
                  <a:pt x="8074" y="0"/>
                </a:lnTo>
                <a:lnTo>
                  <a:pt x="8965" y="0"/>
                </a:lnTo>
                <a:lnTo>
                  <a:pt x="9819" y="0"/>
                </a:lnTo>
                <a:lnTo>
                  <a:pt x="10645" y="0"/>
                </a:lnTo>
                <a:lnTo>
                  <a:pt x="11452" y="0"/>
                </a:lnTo>
                <a:lnTo>
                  <a:pt x="12250" y="0"/>
                </a:lnTo>
                <a:lnTo>
                  <a:pt x="13048" y="0"/>
                </a:lnTo>
                <a:lnTo>
                  <a:pt x="13855" y="0"/>
                </a:lnTo>
                <a:lnTo>
                  <a:pt x="14681" y="0"/>
                </a:lnTo>
                <a:lnTo>
                  <a:pt x="15535" y="0"/>
                </a:lnTo>
                <a:lnTo>
                  <a:pt x="16426" y="0"/>
                </a:lnTo>
                <a:lnTo>
                  <a:pt x="17364" y="0"/>
                </a:lnTo>
                <a:lnTo>
                  <a:pt x="18359" y="0"/>
                </a:lnTo>
                <a:lnTo>
                  <a:pt x="19419" y="0"/>
                </a:lnTo>
                <a:lnTo>
                  <a:pt x="20553" y="0"/>
                </a:lnTo>
                <a:lnTo>
                  <a:pt x="21772" y="0"/>
                </a:lnTo>
                <a:lnTo>
                  <a:pt x="23085" y="0"/>
                </a:lnTo>
                <a:lnTo>
                  <a:pt x="24500" y="0"/>
                </a:lnTo>
                <a:lnTo>
                  <a:pt x="24991" y="0"/>
                </a:lnTo>
                <a:lnTo>
                  <a:pt x="25446" y="0"/>
                </a:lnTo>
                <a:lnTo>
                  <a:pt x="25869" y="0"/>
                </a:lnTo>
                <a:lnTo>
                  <a:pt x="26263" y="0"/>
                </a:lnTo>
                <a:lnTo>
                  <a:pt x="26631" y="0"/>
                </a:lnTo>
                <a:lnTo>
                  <a:pt x="26976" y="0"/>
                </a:lnTo>
                <a:lnTo>
                  <a:pt x="27301" y="0"/>
                </a:lnTo>
                <a:lnTo>
                  <a:pt x="27610" y="0"/>
                </a:lnTo>
                <a:lnTo>
                  <a:pt x="27907" y="0"/>
                </a:lnTo>
                <a:lnTo>
                  <a:pt x="28193" y="0"/>
                </a:lnTo>
                <a:lnTo>
                  <a:pt x="28473" y="0"/>
                </a:lnTo>
                <a:lnTo>
                  <a:pt x="28750" y="0"/>
                </a:lnTo>
                <a:lnTo>
                  <a:pt x="29027" y="0"/>
                </a:lnTo>
                <a:lnTo>
                  <a:pt x="29307" y="0"/>
                </a:lnTo>
                <a:lnTo>
                  <a:pt x="29593" y="0"/>
                </a:lnTo>
                <a:lnTo>
                  <a:pt x="29890" y="0"/>
                </a:lnTo>
                <a:lnTo>
                  <a:pt x="30199" y="0"/>
                </a:lnTo>
                <a:lnTo>
                  <a:pt x="30524" y="0"/>
                </a:lnTo>
                <a:lnTo>
                  <a:pt x="30869" y="0"/>
                </a:lnTo>
                <a:lnTo>
                  <a:pt x="31237" y="0"/>
                </a:lnTo>
                <a:lnTo>
                  <a:pt x="31631" y="0"/>
                </a:lnTo>
                <a:lnTo>
                  <a:pt x="32054" y="0"/>
                </a:lnTo>
                <a:lnTo>
                  <a:pt x="32509" y="0"/>
                </a:lnTo>
                <a:lnTo>
                  <a:pt x="33000" y="0"/>
                </a:lnTo>
                <a:lnTo>
                  <a:pt x="34184" y="0"/>
                </a:lnTo>
                <a:lnTo>
                  <a:pt x="35283" y="0"/>
                </a:lnTo>
                <a:lnTo>
                  <a:pt x="36302" y="0"/>
                </a:lnTo>
                <a:lnTo>
                  <a:pt x="37252" y="0"/>
                </a:lnTo>
                <a:lnTo>
                  <a:pt x="38139" y="0"/>
                </a:lnTo>
                <a:lnTo>
                  <a:pt x="38971" y="0"/>
                </a:lnTo>
                <a:lnTo>
                  <a:pt x="39756" y="0"/>
                </a:lnTo>
                <a:lnTo>
                  <a:pt x="40501" y="0"/>
                </a:lnTo>
                <a:lnTo>
                  <a:pt x="41216" y="0"/>
                </a:lnTo>
                <a:lnTo>
                  <a:pt x="41907" y="0"/>
                </a:lnTo>
                <a:lnTo>
                  <a:pt x="42582" y="0"/>
                </a:lnTo>
                <a:lnTo>
                  <a:pt x="43250" y="0"/>
                </a:lnTo>
                <a:lnTo>
                  <a:pt x="43918" y="0"/>
                </a:lnTo>
                <a:lnTo>
                  <a:pt x="44593" y="0"/>
                </a:lnTo>
                <a:lnTo>
                  <a:pt x="45284" y="0"/>
                </a:lnTo>
                <a:lnTo>
                  <a:pt x="45999" y="0"/>
                </a:lnTo>
                <a:lnTo>
                  <a:pt x="46744" y="0"/>
                </a:lnTo>
                <a:lnTo>
                  <a:pt x="47529" y="0"/>
                </a:lnTo>
                <a:lnTo>
                  <a:pt x="48361" y="0"/>
                </a:lnTo>
                <a:lnTo>
                  <a:pt x="49248" y="0"/>
                </a:lnTo>
                <a:lnTo>
                  <a:pt x="50198" y="0"/>
                </a:lnTo>
                <a:lnTo>
                  <a:pt x="51217" y="0"/>
                </a:lnTo>
                <a:lnTo>
                  <a:pt x="52316" y="0"/>
                </a:lnTo>
                <a:lnTo>
                  <a:pt x="53500" y="0"/>
                </a:lnTo>
                <a:lnTo>
                  <a:pt x="54078" y="0"/>
                </a:lnTo>
                <a:lnTo>
                  <a:pt x="54613" y="0"/>
                </a:lnTo>
                <a:lnTo>
                  <a:pt x="55111" y="0"/>
                </a:lnTo>
                <a:lnTo>
                  <a:pt x="55574" y="0"/>
                </a:lnTo>
                <a:lnTo>
                  <a:pt x="56007" y="0"/>
                </a:lnTo>
                <a:lnTo>
                  <a:pt x="56412" y="0"/>
                </a:lnTo>
                <a:lnTo>
                  <a:pt x="56795" y="0"/>
                </a:lnTo>
                <a:lnTo>
                  <a:pt x="57159" y="0"/>
                </a:lnTo>
                <a:lnTo>
                  <a:pt x="57508" y="0"/>
                </a:lnTo>
                <a:lnTo>
                  <a:pt x="57845" y="0"/>
                </a:lnTo>
                <a:lnTo>
                  <a:pt x="58174" y="0"/>
                </a:lnTo>
                <a:lnTo>
                  <a:pt x="58500" y="0"/>
                </a:lnTo>
                <a:lnTo>
                  <a:pt x="58826" y="0"/>
                </a:lnTo>
                <a:lnTo>
                  <a:pt x="59155" y="0"/>
                </a:lnTo>
                <a:lnTo>
                  <a:pt x="59492" y="0"/>
                </a:lnTo>
                <a:lnTo>
                  <a:pt x="59841" y="0"/>
                </a:lnTo>
                <a:lnTo>
                  <a:pt x="60205" y="0"/>
                </a:lnTo>
                <a:lnTo>
                  <a:pt x="60588" y="0"/>
                </a:lnTo>
                <a:lnTo>
                  <a:pt x="60993" y="0"/>
                </a:lnTo>
                <a:lnTo>
                  <a:pt x="61426" y="0"/>
                </a:lnTo>
                <a:lnTo>
                  <a:pt x="61889" y="0"/>
                </a:lnTo>
                <a:lnTo>
                  <a:pt x="62387" y="0"/>
                </a:lnTo>
                <a:lnTo>
                  <a:pt x="62922" y="0"/>
                </a:lnTo>
                <a:lnTo>
                  <a:pt x="63500" y="0"/>
                </a:lnTo>
                <a:lnTo>
                  <a:pt x="64592" y="0"/>
                </a:lnTo>
                <a:lnTo>
                  <a:pt x="65604" y="0"/>
                </a:lnTo>
                <a:lnTo>
                  <a:pt x="66545" y="0"/>
                </a:lnTo>
                <a:lnTo>
                  <a:pt x="67420" y="0"/>
                </a:lnTo>
                <a:lnTo>
                  <a:pt x="68238" y="0"/>
                </a:lnTo>
                <a:lnTo>
                  <a:pt x="69005" y="0"/>
                </a:lnTo>
                <a:lnTo>
                  <a:pt x="69728" y="0"/>
                </a:lnTo>
                <a:lnTo>
                  <a:pt x="70416" y="0"/>
                </a:lnTo>
                <a:lnTo>
                  <a:pt x="71075" y="0"/>
                </a:lnTo>
                <a:lnTo>
                  <a:pt x="71712" y="0"/>
                </a:lnTo>
                <a:lnTo>
                  <a:pt x="72335" y="0"/>
                </a:lnTo>
                <a:lnTo>
                  <a:pt x="72950" y="0"/>
                </a:lnTo>
                <a:lnTo>
                  <a:pt x="73565" y="0"/>
                </a:lnTo>
                <a:lnTo>
                  <a:pt x="74188" y="0"/>
                </a:lnTo>
                <a:lnTo>
                  <a:pt x="74825" y="0"/>
                </a:lnTo>
                <a:lnTo>
                  <a:pt x="75484" y="0"/>
                </a:lnTo>
                <a:lnTo>
                  <a:pt x="76172" y="0"/>
                </a:lnTo>
                <a:lnTo>
                  <a:pt x="76895" y="0"/>
                </a:lnTo>
                <a:lnTo>
                  <a:pt x="77662" y="0"/>
                </a:lnTo>
                <a:lnTo>
                  <a:pt x="78480" y="0"/>
                </a:lnTo>
                <a:lnTo>
                  <a:pt x="79355" y="0"/>
                </a:lnTo>
                <a:lnTo>
                  <a:pt x="80296" y="0"/>
                </a:lnTo>
                <a:lnTo>
                  <a:pt x="81308" y="0"/>
                </a:lnTo>
                <a:lnTo>
                  <a:pt x="82400" y="0"/>
                </a:lnTo>
              </a:path>
            </a:pathLst>
          </a:custGeom>
          <a:noFill/>
          <a:ln w="101600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4279900"/>
            <a:ext cx="10464800" cy="0"/>
          </a:xfrm>
          <a:custGeom>
            <a:avLst/>
            <a:gdLst/>
            <a:ahLst/>
            <a:cxnLst/>
            <a:rect l="l" t="t" r="r" b="b"/>
            <a:pathLst>
              <a:path w="82400" h="0">
                <a:moveTo>
                  <a:pt x="0" y="0"/>
                </a:moveTo>
                <a:lnTo>
                  <a:pt x="1415" y="0"/>
                </a:lnTo>
                <a:lnTo>
                  <a:pt x="2728" y="0"/>
                </a:lnTo>
                <a:lnTo>
                  <a:pt x="3947" y="0"/>
                </a:lnTo>
                <a:lnTo>
                  <a:pt x="5081" y="0"/>
                </a:lnTo>
                <a:lnTo>
                  <a:pt x="6141" y="0"/>
                </a:lnTo>
                <a:lnTo>
                  <a:pt x="7136" y="0"/>
                </a:lnTo>
                <a:lnTo>
                  <a:pt x="8074" y="0"/>
                </a:lnTo>
                <a:lnTo>
                  <a:pt x="8965" y="0"/>
                </a:lnTo>
                <a:lnTo>
                  <a:pt x="9819" y="0"/>
                </a:lnTo>
                <a:lnTo>
                  <a:pt x="10645" y="0"/>
                </a:lnTo>
                <a:lnTo>
                  <a:pt x="11452" y="0"/>
                </a:lnTo>
                <a:lnTo>
                  <a:pt x="12250" y="0"/>
                </a:lnTo>
                <a:lnTo>
                  <a:pt x="13048" y="0"/>
                </a:lnTo>
                <a:lnTo>
                  <a:pt x="13855" y="0"/>
                </a:lnTo>
                <a:lnTo>
                  <a:pt x="14681" y="0"/>
                </a:lnTo>
                <a:lnTo>
                  <a:pt x="15535" y="0"/>
                </a:lnTo>
                <a:lnTo>
                  <a:pt x="16426" y="0"/>
                </a:lnTo>
                <a:lnTo>
                  <a:pt x="17364" y="0"/>
                </a:lnTo>
                <a:lnTo>
                  <a:pt x="18359" y="0"/>
                </a:lnTo>
                <a:lnTo>
                  <a:pt x="19419" y="0"/>
                </a:lnTo>
                <a:lnTo>
                  <a:pt x="20553" y="0"/>
                </a:lnTo>
                <a:lnTo>
                  <a:pt x="21772" y="0"/>
                </a:lnTo>
                <a:lnTo>
                  <a:pt x="23085" y="0"/>
                </a:lnTo>
                <a:lnTo>
                  <a:pt x="24500" y="0"/>
                </a:lnTo>
                <a:lnTo>
                  <a:pt x="24991" y="0"/>
                </a:lnTo>
                <a:lnTo>
                  <a:pt x="25446" y="0"/>
                </a:lnTo>
                <a:lnTo>
                  <a:pt x="25869" y="0"/>
                </a:lnTo>
                <a:lnTo>
                  <a:pt x="26263" y="0"/>
                </a:lnTo>
                <a:lnTo>
                  <a:pt x="26631" y="0"/>
                </a:lnTo>
                <a:lnTo>
                  <a:pt x="26976" y="0"/>
                </a:lnTo>
                <a:lnTo>
                  <a:pt x="27301" y="0"/>
                </a:lnTo>
                <a:lnTo>
                  <a:pt x="27610" y="0"/>
                </a:lnTo>
                <a:lnTo>
                  <a:pt x="27907" y="0"/>
                </a:lnTo>
                <a:lnTo>
                  <a:pt x="28193" y="0"/>
                </a:lnTo>
                <a:lnTo>
                  <a:pt x="28473" y="0"/>
                </a:lnTo>
                <a:lnTo>
                  <a:pt x="28750" y="0"/>
                </a:lnTo>
                <a:lnTo>
                  <a:pt x="29027" y="0"/>
                </a:lnTo>
                <a:lnTo>
                  <a:pt x="29307" y="0"/>
                </a:lnTo>
                <a:lnTo>
                  <a:pt x="29593" y="0"/>
                </a:lnTo>
                <a:lnTo>
                  <a:pt x="29890" y="0"/>
                </a:lnTo>
                <a:lnTo>
                  <a:pt x="30199" y="0"/>
                </a:lnTo>
                <a:lnTo>
                  <a:pt x="30524" y="0"/>
                </a:lnTo>
                <a:lnTo>
                  <a:pt x="30869" y="0"/>
                </a:lnTo>
                <a:lnTo>
                  <a:pt x="31237" y="0"/>
                </a:lnTo>
                <a:lnTo>
                  <a:pt x="31631" y="0"/>
                </a:lnTo>
                <a:lnTo>
                  <a:pt x="32054" y="0"/>
                </a:lnTo>
                <a:lnTo>
                  <a:pt x="32509" y="0"/>
                </a:lnTo>
                <a:lnTo>
                  <a:pt x="33000" y="0"/>
                </a:lnTo>
                <a:lnTo>
                  <a:pt x="34184" y="0"/>
                </a:lnTo>
                <a:lnTo>
                  <a:pt x="35283" y="0"/>
                </a:lnTo>
                <a:lnTo>
                  <a:pt x="36302" y="0"/>
                </a:lnTo>
                <a:lnTo>
                  <a:pt x="37252" y="0"/>
                </a:lnTo>
                <a:lnTo>
                  <a:pt x="38139" y="0"/>
                </a:lnTo>
                <a:lnTo>
                  <a:pt x="38971" y="0"/>
                </a:lnTo>
                <a:lnTo>
                  <a:pt x="39756" y="0"/>
                </a:lnTo>
                <a:lnTo>
                  <a:pt x="40501" y="0"/>
                </a:lnTo>
                <a:lnTo>
                  <a:pt x="41216" y="0"/>
                </a:lnTo>
                <a:lnTo>
                  <a:pt x="41907" y="0"/>
                </a:lnTo>
                <a:lnTo>
                  <a:pt x="42582" y="0"/>
                </a:lnTo>
                <a:lnTo>
                  <a:pt x="43250" y="0"/>
                </a:lnTo>
                <a:lnTo>
                  <a:pt x="43918" y="0"/>
                </a:lnTo>
                <a:lnTo>
                  <a:pt x="44593" y="0"/>
                </a:lnTo>
                <a:lnTo>
                  <a:pt x="45284" y="0"/>
                </a:lnTo>
                <a:lnTo>
                  <a:pt x="45999" y="0"/>
                </a:lnTo>
                <a:lnTo>
                  <a:pt x="46744" y="0"/>
                </a:lnTo>
                <a:lnTo>
                  <a:pt x="47529" y="0"/>
                </a:lnTo>
                <a:lnTo>
                  <a:pt x="48361" y="0"/>
                </a:lnTo>
                <a:lnTo>
                  <a:pt x="49248" y="0"/>
                </a:lnTo>
                <a:lnTo>
                  <a:pt x="50198" y="0"/>
                </a:lnTo>
                <a:lnTo>
                  <a:pt x="51217" y="0"/>
                </a:lnTo>
                <a:lnTo>
                  <a:pt x="52316" y="0"/>
                </a:lnTo>
                <a:lnTo>
                  <a:pt x="53500" y="0"/>
                </a:lnTo>
                <a:lnTo>
                  <a:pt x="54078" y="0"/>
                </a:lnTo>
                <a:lnTo>
                  <a:pt x="54613" y="0"/>
                </a:lnTo>
                <a:lnTo>
                  <a:pt x="55111" y="0"/>
                </a:lnTo>
                <a:lnTo>
                  <a:pt x="55574" y="0"/>
                </a:lnTo>
                <a:lnTo>
                  <a:pt x="56007" y="0"/>
                </a:lnTo>
                <a:lnTo>
                  <a:pt x="56412" y="0"/>
                </a:lnTo>
                <a:lnTo>
                  <a:pt x="56795" y="0"/>
                </a:lnTo>
                <a:lnTo>
                  <a:pt x="57159" y="0"/>
                </a:lnTo>
                <a:lnTo>
                  <a:pt x="57508" y="0"/>
                </a:lnTo>
                <a:lnTo>
                  <a:pt x="57845" y="0"/>
                </a:lnTo>
                <a:lnTo>
                  <a:pt x="58174" y="0"/>
                </a:lnTo>
                <a:lnTo>
                  <a:pt x="58500" y="0"/>
                </a:lnTo>
                <a:lnTo>
                  <a:pt x="58826" y="0"/>
                </a:lnTo>
                <a:lnTo>
                  <a:pt x="59155" y="0"/>
                </a:lnTo>
                <a:lnTo>
                  <a:pt x="59492" y="0"/>
                </a:lnTo>
                <a:lnTo>
                  <a:pt x="59841" y="0"/>
                </a:lnTo>
                <a:lnTo>
                  <a:pt x="60205" y="0"/>
                </a:lnTo>
                <a:lnTo>
                  <a:pt x="60588" y="0"/>
                </a:lnTo>
                <a:lnTo>
                  <a:pt x="60993" y="0"/>
                </a:lnTo>
                <a:lnTo>
                  <a:pt x="61426" y="0"/>
                </a:lnTo>
                <a:lnTo>
                  <a:pt x="61889" y="0"/>
                </a:lnTo>
                <a:lnTo>
                  <a:pt x="62387" y="0"/>
                </a:lnTo>
                <a:lnTo>
                  <a:pt x="62922" y="0"/>
                </a:lnTo>
                <a:lnTo>
                  <a:pt x="63500" y="0"/>
                </a:lnTo>
                <a:lnTo>
                  <a:pt x="64592" y="0"/>
                </a:lnTo>
                <a:lnTo>
                  <a:pt x="65604" y="0"/>
                </a:lnTo>
                <a:lnTo>
                  <a:pt x="66545" y="0"/>
                </a:lnTo>
                <a:lnTo>
                  <a:pt x="67420" y="0"/>
                </a:lnTo>
                <a:lnTo>
                  <a:pt x="68238" y="0"/>
                </a:lnTo>
                <a:lnTo>
                  <a:pt x="69005" y="0"/>
                </a:lnTo>
                <a:lnTo>
                  <a:pt x="69728" y="0"/>
                </a:lnTo>
                <a:lnTo>
                  <a:pt x="70416" y="0"/>
                </a:lnTo>
                <a:lnTo>
                  <a:pt x="71075" y="0"/>
                </a:lnTo>
                <a:lnTo>
                  <a:pt x="71712" y="0"/>
                </a:lnTo>
                <a:lnTo>
                  <a:pt x="72335" y="0"/>
                </a:lnTo>
                <a:lnTo>
                  <a:pt x="72950" y="0"/>
                </a:lnTo>
                <a:lnTo>
                  <a:pt x="73565" y="0"/>
                </a:lnTo>
                <a:lnTo>
                  <a:pt x="74188" y="0"/>
                </a:lnTo>
                <a:lnTo>
                  <a:pt x="74825" y="0"/>
                </a:lnTo>
                <a:lnTo>
                  <a:pt x="75484" y="0"/>
                </a:lnTo>
                <a:lnTo>
                  <a:pt x="76172" y="0"/>
                </a:lnTo>
                <a:lnTo>
                  <a:pt x="76895" y="0"/>
                </a:lnTo>
                <a:lnTo>
                  <a:pt x="77662" y="0"/>
                </a:lnTo>
                <a:lnTo>
                  <a:pt x="78480" y="0"/>
                </a:lnTo>
                <a:lnTo>
                  <a:pt x="79355" y="0"/>
                </a:lnTo>
                <a:lnTo>
                  <a:pt x="80296" y="0"/>
                </a:lnTo>
                <a:lnTo>
                  <a:pt x="81308" y="0"/>
                </a:lnTo>
                <a:lnTo>
                  <a:pt x="82400" y="0"/>
                </a:lnTo>
              </a:path>
            </a:pathLst>
          </a:custGeom>
          <a:noFill/>
          <a:ln w="13970" cap="rnd">
            <a:solidFill>
              <a:srgbClr val="FFFF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8000" y="2133600"/>
            <a:ext cx="3530600" cy="1841500"/>
          </a:xfrm>
          <a:prstGeom prst="roundRect">
            <a:avLst>
              <a:gd name="adj" fmla="val 8275"/>
            </a:avLst>
          </a:prstGeom>
          <a:solidFill>
            <a:srgbClr val="EA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812800" y="2374900"/>
            <a:ext cx="457200" cy="520700"/>
          </a:xfrm>
          <a:custGeom>
            <a:avLst/>
            <a:gdLst/>
            <a:ahLst/>
            <a:cxnLst/>
            <a:rect l="l" t="t" r="r" b="b"/>
            <a:pathLst>
              <a:path w="3600" h="4100">
                <a:moveTo>
                  <a:pt x="1800" y="0"/>
                </a:moveTo>
                <a:lnTo>
                  <a:pt x="3600" y="700"/>
                </a:lnTo>
                <a:lnTo>
                  <a:pt x="3300" y="2600"/>
                </a:lnTo>
                <a:lnTo>
                  <a:pt x="2700" y="3500"/>
                </a:lnTo>
                <a:lnTo>
                  <a:pt x="1800" y="4100"/>
                </a:lnTo>
                <a:lnTo>
                  <a:pt x="900" y="3500"/>
                </a:lnTo>
                <a:lnTo>
                  <a:pt x="300" y="2600"/>
                </a:lnTo>
                <a:lnTo>
                  <a:pt x="0" y="700"/>
                </a:lnTo>
                <a:lnTo>
                  <a:pt x="1800" y="0"/>
                </a:lnTo>
              </a:path>
            </a:pathLst>
          </a:custGeom>
          <a:noFill/>
          <a:ln w="25400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927100" y="2540000"/>
            <a:ext cx="241300" cy="177800"/>
          </a:xfrm>
          <a:custGeom>
            <a:avLst/>
            <a:gdLst/>
            <a:ahLst/>
            <a:cxnLst/>
            <a:rect l="l" t="t" r="r" b="b"/>
            <a:pathLst>
              <a:path w="1900" h="1400">
                <a:moveTo>
                  <a:pt x="0" y="700"/>
                </a:moveTo>
                <a:lnTo>
                  <a:pt x="700" y="1400"/>
                </a:lnTo>
                <a:lnTo>
                  <a:pt x="1900" y="0"/>
                </a:lnTo>
              </a:path>
            </a:pathLst>
          </a:custGeom>
          <a:noFill/>
          <a:ln w="38100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"/>
          <p:cNvSpPr txBox="1"/>
          <p:nvPr/>
        </p:nvSpPr>
        <p:spPr>
          <a:xfrm>
            <a:off x="736600" y="3136900"/>
            <a:ext cx="3111500" cy="3854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394B"/>
                </a:solidFill>
                <a:latin typeface="Microsoft JhengHei"/>
              </a:defRPr>
            </a:pPr>
            <a:r>
              <a:t>先看價值與邊界</a:t>
            </a:r>
          </a:p>
        </p:txBody>
      </p:sp>
      <p:sp>
        <p:nvSpPr>
          <p:cNvPr id="17" name="Oval 16"/>
          <p:cNvSpPr/>
          <p:nvPr/>
        </p:nvSpPr>
        <p:spPr>
          <a:xfrm>
            <a:off x="698500" y="4152900"/>
            <a:ext cx="330200" cy="330200"/>
          </a:xfrm>
          <a:prstGeom prst="ellipse">
            <a:avLst/>
          </a:prstGeom>
          <a:solidFill>
            <a:srgbClr val="DD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8500" y="4114800"/>
            <a:ext cx="330200" cy="330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6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9300" y="4165600"/>
            <a:ext cx="228600" cy="228600"/>
          </a:xfrm>
          <a:prstGeom prst="ellipse">
            <a:avLst/>
          </a:prstGeom>
          <a:solidFill>
            <a:srgbClr val="126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"/>
          <p:cNvSpPr txBox="1"/>
          <p:nvPr/>
        </p:nvSpPr>
        <p:spPr>
          <a:xfrm>
            <a:off x="698500" y="4191000"/>
            <a:ext cx="3302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1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622300" y="4686300"/>
            <a:ext cx="3492500" cy="334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B"/>
                </a:solidFill>
                <a:latin typeface="Microsoft JhengHei"/>
              </a:defRPr>
            </a:pPr>
            <a:r>
              <a:t>01  預期效益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22300" y="5207000"/>
            <a:ext cx="3492500" cy="334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06B77"/>
                </a:solidFill>
                <a:latin typeface="Microsoft JhengHei"/>
              </a:defRPr>
            </a:pPr>
            <a:r>
              <a:t>02  正式主機存取邊界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30700" y="2133600"/>
            <a:ext cx="3530600" cy="1841500"/>
          </a:xfrm>
          <a:prstGeom prst="roundRect">
            <a:avLst>
              <a:gd name="adj" fmla="val 8275"/>
            </a:avLst>
          </a:prstGeom>
          <a:solidFill>
            <a:srgbClr val="E6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4711700" y="2425700"/>
            <a:ext cx="0" cy="406400"/>
          </a:xfrm>
          <a:custGeom>
            <a:avLst/>
            <a:gdLst/>
            <a:ahLst/>
            <a:cxnLst/>
            <a:rect l="l" t="t" r="r" b="b"/>
            <a:pathLst>
              <a:path w="0" h="3200">
                <a:moveTo>
                  <a:pt x="0" y="0"/>
                </a:moveTo>
                <a:lnTo>
                  <a:pt x="0" y="3200"/>
                </a:lnTo>
              </a:path>
            </a:pathLst>
          </a:custGeom>
          <a:noFill/>
          <a:ln w="25400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711700" y="2425700"/>
            <a:ext cx="304800" cy="254000"/>
          </a:xfrm>
          <a:custGeom>
            <a:avLst/>
            <a:gdLst/>
            <a:ahLst/>
            <a:cxnLst/>
            <a:rect l="l" t="t" r="r" b="b"/>
            <a:pathLst>
              <a:path w="2400" h="2000">
                <a:moveTo>
                  <a:pt x="0" y="2000"/>
                </a:moveTo>
                <a:lnTo>
                  <a:pt x="1600" y="2000"/>
                </a:lnTo>
                <a:lnTo>
                  <a:pt x="2400" y="1000"/>
                </a:lnTo>
                <a:lnTo>
                  <a:pt x="2400" y="0"/>
                </a:lnTo>
              </a:path>
            </a:pathLst>
          </a:custGeom>
          <a:noFill/>
          <a:ln w="25400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660900" y="2374900"/>
            <a:ext cx="101600" cy="101600"/>
          </a:xfrm>
          <a:prstGeom prst="ellipse">
            <a:avLst/>
          </a:prstGeom>
          <a:solidFill>
            <a:srgbClr val="E6F4ED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60900" y="2781300"/>
            <a:ext cx="101600" cy="101600"/>
          </a:xfrm>
          <a:prstGeom prst="ellipse">
            <a:avLst/>
          </a:prstGeom>
          <a:solidFill>
            <a:srgbClr val="E6F4ED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965700" y="2374900"/>
            <a:ext cx="101600" cy="101600"/>
          </a:xfrm>
          <a:prstGeom prst="ellipse">
            <a:avLst/>
          </a:prstGeom>
          <a:solidFill>
            <a:srgbClr val="E6F4ED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"/>
          <p:cNvSpPr txBox="1"/>
          <p:nvPr/>
        </p:nvSpPr>
        <p:spPr>
          <a:xfrm>
            <a:off x="4559300" y="3136900"/>
            <a:ext cx="3111500" cy="3854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394B"/>
                </a:solidFill>
                <a:latin typeface="Microsoft JhengHei"/>
              </a:defRPr>
            </a:pPr>
            <a:r>
              <a:t>再看設計與分工</a:t>
            </a:r>
          </a:p>
        </p:txBody>
      </p:sp>
      <p:sp>
        <p:nvSpPr>
          <p:cNvPr id="30" name="Oval 29"/>
          <p:cNvSpPr/>
          <p:nvPr/>
        </p:nvSpPr>
        <p:spPr>
          <a:xfrm>
            <a:off x="4521200" y="4152900"/>
            <a:ext cx="330200" cy="330200"/>
          </a:xfrm>
          <a:prstGeom prst="ellipse">
            <a:avLst/>
          </a:prstGeom>
          <a:solidFill>
            <a:srgbClr val="DD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21200" y="4114800"/>
            <a:ext cx="330200" cy="330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72000" y="4165600"/>
            <a:ext cx="228600" cy="228600"/>
          </a:xfrm>
          <a:prstGeom prst="ellipse">
            <a:avLst/>
          </a:prstGeom>
          <a:solidFill>
            <a:srgbClr val="007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"/>
          <p:cNvSpPr txBox="1"/>
          <p:nvPr/>
        </p:nvSpPr>
        <p:spPr>
          <a:xfrm>
            <a:off x="4521200" y="4191000"/>
            <a:ext cx="3302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2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4445000" y="4686300"/>
            <a:ext cx="3492500" cy="334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B"/>
                </a:solidFill>
                <a:latin typeface="Microsoft JhengHei"/>
              </a:defRPr>
            </a:pPr>
            <a:r>
              <a:t>03  需求狀態與目標架構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4445000" y="5207000"/>
            <a:ext cx="3492500" cy="334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06B77"/>
                </a:solidFill>
                <a:latin typeface="Microsoft JhengHei"/>
              </a:defRPr>
            </a:pPr>
            <a:r>
              <a:t>04  分支與部署策略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53400" y="2133600"/>
            <a:ext cx="3530600" cy="1841500"/>
          </a:xfrm>
          <a:prstGeom prst="roundRect">
            <a:avLst>
              <a:gd name="adj" fmla="val 8275"/>
            </a:avLst>
          </a:prstGeom>
          <a:solidFill>
            <a:srgbClr val="FF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8509000" y="2387600"/>
            <a:ext cx="0" cy="482600"/>
          </a:xfrm>
          <a:custGeom>
            <a:avLst/>
            <a:gdLst/>
            <a:ahLst/>
            <a:cxnLst/>
            <a:rect l="l" t="t" r="r" b="b"/>
            <a:pathLst>
              <a:path w="0" h="3800">
                <a:moveTo>
                  <a:pt x="0" y="3800"/>
                </a:moveTo>
                <a:lnTo>
                  <a:pt x="0" y="0"/>
                </a:lnTo>
              </a:path>
            </a:pathLst>
          </a:custGeom>
          <a:noFill/>
          <a:ln w="31750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8509000" y="2400300"/>
            <a:ext cx="381000" cy="203200"/>
          </a:xfrm>
          <a:custGeom>
            <a:avLst/>
            <a:gdLst/>
            <a:ahLst/>
            <a:cxnLst/>
            <a:rect l="l" t="t" r="r" b="b"/>
            <a:pathLst>
              <a:path w="3000" h="1600">
                <a:moveTo>
                  <a:pt x="0" y="0"/>
                </a:moveTo>
                <a:lnTo>
                  <a:pt x="1600" y="0"/>
                </a:lnTo>
                <a:lnTo>
                  <a:pt x="1600" y="600"/>
                </a:lnTo>
                <a:lnTo>
                  <a:pt x="3000" y="600"/>
                </a:lnTo>
                <a:lnTo>
                  <a:pt x="2400" y="1600"/>
                </a:lnTo>
                <a:lnTo>
                  <a:pt x="1200" y="1600"/>
                </a:lnTo>
                <a:lnTo>
                  <a:pt x="1200" y="1000"/>
                </a:lnTo>
                <a:lnTo>
                  <a:pt x="0" y="1000"/>
                </a:lnTo>
              </a:path>
            </a:pathLst>
          </a:custGeom>
          <a:noFill/>
          <a:ln w="25400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521700" y="2413000"/>
            <a:ext cx="177800" cy="101600"/>
          </a:xfrm>
          <a:prstGeom prst="rect">
            <a:avLst/>
          </a:prstGeom>
          <a:solidFill>
            <a:srgbClr val="FF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8432800" y="2870200"/>
            <a:ext cx="177800" cy="0"/>
          </a:xfrm>
          <a:custGeom>
            <a:avLst/>
            <a:gdLst/>
            <a:ahLst/>
            <a:cxnLst/>
            <a:rect l="l" t="t" r="r" b="b"/>
            <a:pathLst>
              <a:path w="1400" h="0">
                <a:moveTo>
                  <a:pt x="0" y="0"/>
                </a:moveTo>
                <a:lnTo>
                  <a:pt x="1400" y="0"/>
                </a:lnTo>
              </a:path>
            </a:pathLst>
          </a:custGeom>
          <a:noFill/>
          <a:ln w="25400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"/>
          <p:cNvSpPr txBox="1"/>
          <p:nvPr/>
        </p:nvSpPr>
        <p:spPr>
          <a:xfrm>
            <a:off x="8382000" y="3136900"/>
            <a:ext cx="3111500" cy="3854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394B"/>
                </a:solidFill>
                <a:latin typeface="Microsoft JhengHei"/>
              </a:defRPr>
            </a:pPr>
            <a:r>
              <a:t>最後走向落地</a:t>
            </a:r>
          </a:p>
        </p:txBody>
      </p:sp>
      <p:sp>
        <p:nvSpPr>
          <p:cNvPr id="42" name="Oval 41"/>
          <p:cNvSpPr/>
          <p:nvPr/>
        </p:nvSpPr>
        <p:spPr>
          <a:xfrm>
            <a:off x="8343900" y="4152900"/>
            <a:ext cx="330200" cy="330200"/>
          </a:xfrm>
          <a:prstGeom prst="ellipse">
            <a:avLst/>
          </a:prstGeom>
          <a:solidFill>
            <a:srgbClr val="DD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343900" y="4114800"/>
            <a:ext cx="330200" cy="330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394700" y="4165600"/>
            <a:ext cx="228600" cy="228600"/>
          </a:xfrm>
          <a:prstGeom prst="ellipse">
            <a:avLst/>
          </a:prstGeom>
          <a:solidFill>
            <a:srgbClr val="AC4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"/>
          <p:cNvSpPr txBox="1"/>
          <p:nvPr/>
        </p:nvSpPr>
        <p:spPr>
          <a:xfrm>
            <a:off x="8343900" y="4191000"/>
            <a:ext cx="3302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3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8267700" y="4686300"/>
            <a:ext cx="3492500" cy="334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B"/>
                </a:solidFill>
                <a:latin typeface="Microsoft JhengHei"/>
              </a:defRPr>
            </a:pPr>
            <a:r>
              <a:t>05  授權換版與復原設計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267700" y="5207000"/>
            <a:ext cx="3492500" cy="334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06B77"/>
                </a:solidFill>
                <a:latin typeface="Microsoft JhengHei"/>
              </a:defRPr>
            </a:pPr>
            <a:r>
              <a:t>06  POC 到正式上線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預期效益：維運更一致、風險可控、經驗可複用"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"/>
          <p:cNvSpPr txBox="1"/>
          <p:nvPr/>
        </p:nvSpPr>
        <p:spPr>
          <a:xfrm>
            <a:off x="457200" y="241300"/>
            <a:ext cx="7810500" cy="2054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0786F"/>
                </a:solidFill>
                <a:latin typeface="Microsoft JhengHei"/>
              </a:defRPr>
            </a:pPr>
            <a:r>
              <a:t>WINDOWS  /  DEPLOYMENT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28200" y="190500"/>
            <a:ext cx="2006600" cy="342900"/>
          </a:xfrm>
          <a:prstGeom prst="roundRect">
            <a:avLst>
              <a:gd name="adj" fmla="val 48148"/>
            </a:avLst>
          </a:prstGeom>
          <a:solidFill>
            <a:srgbClr val="EE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"/>
          <p:cNvSpPr txBox="1"/>
          <p:nvPr/>
        </p:nvSpPr>
        <p:spPr>
          <a:xfrm>
            <a:off x="9842500" y="254000"/>
            <a:ext cx="1778000" cy="2225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552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8394B"/>
                </a:solidFill>
                <a:latin typeface="Microsoft JhengHei"/>
              </a:defRPr>
            </a:pPr>
            <a:r>
              <a:t>02  /  預期效益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749300"/>
            <a:ext cx="11277600" cy="522605"/>
          </a:xfrm>
        </p:spPr>
        <p:txBody>
          <a:bodyPr lIns="0" rIns="0" tIns="0" bIns="0" wrap="none" anchor="t"/>
          <a:lstStyle/>
          <a:p>
            <a:pPr algn="l">
              <a:lnSpc>
                <a:spcPts val="391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94B"/>
                </a:solidFill>
                <a:latin typeface="Microsoft JhengHei"/>
              </a:defRPr>
            </a:pPr>
            <a:r>
              <a:t>讓換版不再每次重新摸索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457200" y="1320800"/>
            <a:ext cx="11277600" cy="3082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506B77"/>
                </a:solidFill>
                <a:latin typeface="Microsoft JhengHei"/>
              </a:defRPr>
            </a:pPr>
            <a:r>
              <a:t>完成導入並通過驗收後，預期帶來三項改善</a:t>
            </a:r>
          </a:p>
        </p:txBody>
      </p:sp>
      <p:sp>
        <p:nvSpPr>
          <p:cNvPr id="8" name="Freeform 7"/>
          <p:cNvSpPr/>
          <p:nvPr/>
        </p:nvSpPr>
        <p:spPr>
          <a:xfrm>
            <a:off x="457200" y="6413500"/>
            <a:ext cx="11277600" cy="0"/>
          </a:xfrm>
          <a:custGeom>
            <a:avLst/>
            <a:gdLst/>
            <a:ahLst/>
            <a:cxnLst/>
            <a:rect l="l" t="t" r="r" b="b"/>
            <a:pathLst>
              <a:path w="88800" h="0">
                <a:moveTo>
                  <a:pt x="0" y="0"/>
                </a:moveTo>
                <a:lnTo>
                  <a:pt x="88800" y="0"/>
                </a:lnTo>
              </a:path>
            </a:pathLst>
          </a:custGeom>
          <a:noFill/>
          <a:ln w="10160" cap="rnd">
            <a:solidFill>
              <a:srgbClr val="DCE4E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457200" y="6553200"/>
            <a:ext cx="10033000" cy="188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82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506B77"/>
                </a:solidFill>
                <a:latin typeface="Microsoft JhengHei"/>
              </a:defRPr>
            </a:pPr>
            <a:r>
              <a:t>JOURNEY EDITION  /  規劃提案 · 尚未完成實作／POC 驗證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0972800" y="6527800"/>
            <a:ext cx="762000" cy="2139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06B77"/>
                </a:solidFill>
                <a:latin typeface="Microsoft JhengHei"/>
              </a:defRPr>
            </a:pPr>
            <a:r>
              <a:t>03 / 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000" y="2146300"/>
            <a:ext cx="3530600" cy="351790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5240">
            <a:solidFill>
              <a:srgbClr val="DC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3900" y="2362200"/>
            <a:ext cx="889000" cy="889000"/>
          </a:xfrm>
          <a:prstGeom prst="roundRect">
            <a:avLst>
              <a:gd name="adj" fmla="val 17142"/>
            </a:avLst>
          </a:prstGeom>
          <a:solidFill>
            <a:srgbClr val="EA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2025" y="2599266"/>
            <a:ext cx="438150" cy="438150"/>
          </a:xfrm>
          <a:prstGeom prst="ellipse">
            <a:avLst/>
          </a:prstGeom>
          <a:solidFill>
            <a:srgbClr val="EAF3FC"/>
          </a:solidFill>
          <a:ln w="15240">
            <a:solidFill>
              <a:srgbClr val="16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181100" y="2672334"/>
            <a:ext cx="121666" cy="146050"/>
          </a:xfrm>
          <a:custGeom>
            <a:avLst/>
            <a:gdLst/>
            <a:ahLst/>
            <a:cxnLst/>
            <a:rect l="l" t="t" r="r" b="b"/>
            <a:pathLst>
              <a:path w="958" h="1150">
                <a:moveTo>
                  <a:pt x="0" y="0"/>
                </a:moveTo>
                <a:lnTo>
                  <a:pt x="0" y="1150"/>
                </a:lnTo>
                <a:lnTo>
                  <a:pt x="958" y="1150"/>
                </a:lnTo>
              </a:path>
            </a:pathLst>
          </a:custGeom>
          <a:noFill/>
          <a:ln w="24341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120267" y="2538476"/>
            <a:ext cx="121666" cy="0"/>
          </a:xfrm>
          <a:custGeom>
            <a:avLst/>
            <a:gdLst/>
            <a:ahLst/>
            <a:cxnLst/>
            <a:rect l="l" t="t" r="r" b="b"/>
            <a:pathLst>
              <a:path w="958" h="0">
                <a:moveTo>
                  <a:pt x="0" y="0"/>
                </a:moveTo>
                <a:lnTo>
                  <a:pt x="958" y="0"/>
                </a:lnTo>
              </a:path>
            </a:pathLst>
          </a:custGeom>
          <a:noFill/>
          <a:ln w="36512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181100" y="2538476"/>
            <a:ext cx="0" cy="48641"/>
          </a:xfrm>
          <a:custGeom>
            <a:avLst/>
            <a:gdLst/>
            <a:ahLst/>
            <a:cxnLst/>
            <a:rect l="l" t="t" r="r" b="b"/>
            <a:pathLst>
              <a:path w="0" h="383">
                <a:moveTo>
                  <a:pt x="0" y="0"/>
                </a:moveTo>
                <a:lnTo>
                  <a:pt x="0" y="383"/>
                </a:lnTo>
              </a:path>
            </a:pathLst>
          </a:custGeom>
          <a:noFill/>
          <a:ln w="24341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"/>
          <p:cNvSpPr txBox="1"/>
          <p:nvPr/>
        </p:nvSpPr>
        <p:spPr>
          <a:xfrm>
            <a:off x="3162300" y="2514600"/>
            <a:ext cx="596900" cy="4883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45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26DB5"/>
                </a:solidFill>
                <a:latin typeface="Microsoft JhengHei"/>
              </a:defRPr>
            </a:pPr>
            <a:r>
              <a:t>01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736600" y="3492500"/>
            <a:ext cx="3098800" cy="4197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394B"/>
                </a:solidFill>
                <a:latin typeface="Microsoft JhengHei"/>
              </a:defRPr>
            </a:pPr>
            <a:r>
              <a:t>維運更一致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736600" y="4064000"/>
            <a:ext cx="3098800" cy="334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94B"/>
                </a:solidFill>
                <a:latin typeface="Microsoft JhengHei"/>
              </a:defRPr>
            </a:pPr>
            <a:r>
              <a:t>一致流程，少搬檔、少漏步。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736600" y="4525010"/>
            <a:ext cx="3098800" cy="6083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06B77"/>
                </a:solidFill>
                <a:latin typeface="Microsoft JhengHei"/>
              </a:defRPr>
            </a:pPr>
            <a:r>
              <a:t>人員、時間、主機與版本</a:t>
            </a:r>
          </a:p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06B77"/>
                </a:solidFill>
                <a:latin typeface="Microsoft JhengHei"/>
              </a:defRPr>
            </a:pPr>
            <a:r>
              <a:t>可追查。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30700" y="2146300"/>
            <a:ext cx="3530600" cy="351790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5240">
            <a:solidFill>
              <a:srgbClr val="DC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46600" y="2362200"/>
            <a:ext cx="889000" cy="889000"/>
          </a:xfrm>
          <a:prstGeom prst="roundRect">
            <a:avLst>
              <a:gd name="adj" fmla="val 17142"/>
            </a:avLst>
          </a:prstGeom>
          <a:solidFill>
            <a:srgbClr val="E6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4784725" y="2550541"/>
            <a:ext cx="438150" cy="498983"/>
          </a:xfrm>
          <a:custGeom>
            <a:avLst/>
            <a:gdLst/>
            <a:ahLst/>
            <a:cxnLst/>
            <a:rect l="l" t="t" r="r" b="b"/>
            <a:pathLst>
              <a:path w="3450" h="3929">
                <a:moveTo>
                  <a:pt x="1725" y="0"/>
                </a:moveTo>
                <a:lnTo>
                  <a:pt x="3450" y="671"/>
                </a:lnTo>
                <a:lnTo>
                  <a:pt x="3163" y="2492"/>
                </a:lnTo>
                <a:lnTo>
                  <a:pt x="2587" y="3355"/>
                </a:lnTo>
                <a:lnTo>
                  <a:pt x="1725" y="3929"/>
                </a:lnTo>
                <a:lnTo>
                  <a:pt x="863" y="3355"/>
                </a:lnTo>
                <a:lnTo>
                  <a:pt x="287" y="2492"/>
                </a:lnTo>
                <a:lnTo>
                  <a:pt x="0" y="671"/>
                </a:lnTo>
                <a:lnTo>
                  <a:pt x="1725" y="0"/>
                </a:lnTo>
              </a:path>
            </a:pathLst>
          </a:custGeom>
          <a:noFill/>
          <a:ln w="24341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4894326" y="2708783"/>
            <a:ext cx="231140" cy="170434"/>
          </a:xfrm>
          <a:custGeom>
            <a:avLst/>
            <a:gdLst/>
            <a:ahLst/>
            <a:cxnLst/>
            <a:rect l="l" t="t" r="r" b="b"/>
            <a:pathLst>
              <a:path w="1820" h="1342">
                <a:moveTo>
                  <a:pt x="0" y="671"/>
                </a:moveTo>
                <a:lnTo>
                  <a:pt x="670" y="1342"/>
                </a:lnTo>
                <a:lnTo>
                  <a:pt x="1820" y="0"/>
                </a:lnTo>
              </a:path>
            </a:pathLst>
          </a:custGeom>
          <a:noFill/>
          <a:ln w="36512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"/>
          <p:cNvSpPr txBox="1"/>
          <p:nvPr/>
        </p:nvSpPr>
        <p:spPr>
          <a:xfrm>
            <a:off x="6985000" y="2514600"/>
            <a:ext cx="596900" cy="4883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45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786F"/>
                </a:solidFill>
                <a:latin typeface="Microsoft JhengHei"/>
              </a:defRPr>
            </a:pPr>
            <a:r>
              <a:t>02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4559300" y="3492500"/>
            <a:ext cx="3098800" cy="4197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394B"/>
                </a:solidFill>
                <a:latin typeface="Microsoft JhengHei"/>
              </a:defRPr>
            </a:pPr>
            <a:r>
              <a:t>降低操作風險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4559300" y="4064000"/>
            <a:ext cx="3098800" cy="334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94B"/>
                </a:solidFill>
                <a:latin typeface="Microsoft JhengHei"/>
              </a:defRPr>
            </a:pPr>
            <a:r>
              <a:t>版本與目標綁定放行。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4559300" y="4525010"/>
            <a:ext cx="3098800" cy="6083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06B77"/>
                </a:solidFill>
                <a:latin typeface="Microsoft JhengHei"/>
              </a:defRPr>
            </a:pPr>
            <a:r>
              <a:t>備份與復原演練，</a:t>
            </a:r>
          </a:p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06B77"/>
                </a:solidFill>
                <a:latin typeface="Microsoft JhengHei"/>
              </a:defRPr>
            </a:pPr>
            <a:r>
              <a:t>降低失敗影響。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53400" y="2146300"/>
            <a:ext cx="3530600" cy="351790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5240">
            <a:solidFill>
              <a:srgbClr val="DC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369300" y="2362200"/>
            <a:ext cx="889000" cy="889000"/>
          </a:xfrm>
          <a:prstGeom prst="roundRect">
            <a:avLst>
              <a:gd name="adj" fmla="val 17142"/>
            </a:avLst>
          </a:prstGeom>
          <a:solidFill>
            <a:srgbClr val="FF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558741" y="2769658"/>
            <a:ext cx="146050" cy="279929"/>
          </a:xfrm>
          <a:prstGeom prst="roundRect">
            <a:avLst>
              <a:gd name="adj" fmla="val 33333"/>
            </a:avLst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8595233" y="2830576"/>
            <a:ext cx="73025" cy="0"/>
          </a:xfrm>
          <a:custGeom>
            <a:avLst/>
            <a:gdLst/>
            <a:ahLst/>
            <a:cxnLst/>
            <a:rect l="l" t="t" r="r" b="b"/>
            <a:pathLst>
              <a:path w="575" h="0">
                <a:moveTo>
                  <a:pt x="0" y="0"/>
                </a:moveTo>
                <a:lnTo>
                  <a:pt x="575" y="0"/>
                </a:lnTo>
              </a:path>
            </a:pathLst>
          </a:custGeom>
          <a:noFill/>
          <a:ln w="12170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8595233" y="2915666"/>
            <a:ext cx="73025" cy="0"/>
          </a:xfrm>
          <a:custGeom>
            <a:avLst/>
            <a:gdLst/>
            <a:ahLst/>
            <a:cxnLst/>
            <a:rect l="l" t="t" r="r" b="b"/>
            <a:pathLst>
              <a:path w="575" h="0">
                <a:moveTo>
                  <a:pt x="0" y="0"/>
                </a:moveTo>
                <a:lnTo>
                  <a:pt x="575" y="0"/>
                </a:lnTo>
              </a:path>
            </a:pathLst>
          </a:custGeom>
          <a:noFill/>
          <a:ln w="12170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8595233" y="3000883"/>
            <a:ext cx="73025" cy="0"/>
          </a:xfrm>
          <a:custGeom>
            <a:avLst/>
            <a:gdLst/>
            <a:ahLst/>
            <a:cxnLst/>
            <a:rect l="l" t="t" r="r" b="b"/>
            <a:pathLst>
              <a:path w="575" h="0">
                <a:moveTo>
                  <a:pt x="0" y="0"/>
                </a:moveTo>
                <a:lnTo>
                  <a:pt x="575" y="0"/>
                </a:lnTo>
              </a:path>
            </a:pathLst>
          </a:custGeom>
          <a:noFill/>
          <a:ln w="12170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753475" y="2562754"/>
            <a:ext cx="170391" cy="486833"/>
          </a:xfrm>
          <a:prstGeom prst="roundRect">
            <a:avLst>
              <a:gd name="adj" fmla="val 28571"/>
            </a:avLst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8789924" y="2623566"/>
            <a:ext cx="97409" cy="0"/>
          </a:xfrm>
          <a:custGeom>
            <a:avLst/>
            <a:gdLst/>
            <a:ahLst/>
            <a:cxnLst/>
            <a:rect l="l" t="t" r="r" b="b"/>
            <a:pathLst>
              <a:path w="767" h="0">
                <a:moveTo>
                  <a:pt x="0" y="0"/>
                </a:moveTo>
                <a:lnTo>
                  <a:pt x="767" y="0"/>
                </a:lnTo>
              </a:path>
            </a:pathLst>
          </a:custGeom>
          <a:noFill/>
          <a:ln w="12170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8789924" y="2708783"/>
            <a:ext cx="97409" cy="0"/>
          </a:xfrm>
          <a:custGeom>
            <a:avLst/>
            <a:gdLst/>
            <a:ahLst/>
            <a:cxnLst/>
            <a:rect l="l" t="t" r="r" b="b"/>
            <a:pathLst>
              <a:path w="767" h="0">
                <a:moveTo>
                  <a:pt x="0" y="0"/>
                </a:moveTo>
                <a:lnTo>
                  <a:pt x="767" y="0"/>
                </a:lnTo>
              </a:path>
            </a:pathLst>
          </a:custGeom>
          <a:noFill/>
          <a:ln w="12170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8789924" y="2794000"/>
            <a:ext cx="97409" cy="0"/>
          </a:xfrm>
          <a:custGeom>
            <a:avLst/>
            <a:gdLst/>
            <a:ahLst/>
            <a:cxnLst/>
            <a:rect l="l" t="t" r="r" b="b"/>
            <a:pathLst>
              <a:path w="767" h="0">
                <a:moveTo>
                  <a:pt x="0" y="0"/>
                </a:moveTo>
                <a:lnTo>
                  <a:pt x="767" y="0"/>
                </a:lnTo>
              </a:path>
            </a:pathLst>
          </a:custGeom>
          <a:noFill/>
          <a:ln w="12170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8789924" y="2879217"/>
            <a:ext cx="97409" cy="0"/>
          </a:xfrm>
          <a:custGeom>
            <a:avLst/>
            <a:gdLst/>
            <a:ahLst/>
            <a:cxnLst/>
            <a:rect l="l" t="t" r="r" b="b"/>
            <a:pathLst>
              <a:path w="767" h="0">
                <a:moveTo>
                  <a:pt x="0" y="0"/>
                </a:moveTo>
                <a:lnTo>
                  <a:pt x="767" y="0"/>
                </a:lnTo>
              </a:path>
            </a:pathLst>
          </a:custGeom>
          <a:noFill/>
          <a:ln w="12170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8789924" y="2964434"/>
            <a:ext cx="97409" cy="0"/>
          </a:xfrm>
          <a:custGeom>
            <a:avLst/>
            <a:gdLst/>
            <a:ahLst/>
            <a:cxnLst/>
            <a:rect l="l" t="t" r="r" b="b"/>
            <a:pathLst>
              <a:path w="767" h="0">
                <a:moveTo>
                  <a:pt x="0" y="0"/>
                </a:moveTo>
                <a:lnTo>
                  <a:pt x="767" y="0"/>
                </a:lnTo>
              </a:path>
            </a:pathLst>
          </a:custGeom>
          <a:noFill/>
          <a:ln w="12170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972550" y="2672291"/>
            <a:ext cx="121708" cy="377295"/>
          </a:xfrm>
          <a:prstGeom prst="roundRect">
            <a:avLst>
              <a:gd name="adj" fmla="val 40000"/>
            </a:avLst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9009126" y="2733167"/>
            <a:ext cx="48641" cy="0"/>
          </a:xfrm>
          <a:custGeom>
            <a:avLst/>
            <a:gdLst/>
            <a:ahLst/>
            <a:cxnLst/>
            <a:rect l="l" t="t" r="r" b="b"/>
            <a:pathLst>
              <a:path w="383" h="0">
                <a:moveTo>
                  <a:pt x="0" y="0"/>
                </a:moveTo>
                <a:lnTo>
                  <a:pt x="383" y="0"/>
                </a:lnTo>
              </a:path>
            </a:pathLst>
          </a:custGeom>
          <a:noFill/>
          <a:ln w="12170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9009126" y="2818384"/>
            <a:ext cx="48641" cy="0"/>
          </a:xfrm>
          <a:custGeom>
            <a:avLst/>
            <a:gdLst/>
            <a:ahLst/>
            <a:cxnLst/>
            <a:rect l="l" t="t" r="r" b="b"/>
            <a:pathLst>
              <a:path w="383" h="0">
                <a:moveTo>
                  <a:pt x="0" y="0"/>
                </a:moveTo>
                <a:lnTo>
                  <a:pt x="383" y="0"/>
                </a:lnTo>
              </a:path>
            </a:pathLst>
          </a:custGeom>
          <a:noFill/>
          <a:ln w="12170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9009126" y="2903474"/>
            <a:ext cx="48641" cy="0"/>
          </a:xfrm>
          <a:custGeom>
            <a:avLst/>
            <a:gdLst/>
            <a:ahLst/>
            <a:cxnLst/>
            <a:rect l="l" t="t" r="r" b="b"/>
            <a:pathLst>
              <a:path w="383" h="0">
                <a:moveTo>
                  <a:pt x="0" y="0"/>
                </a:moveTo>
                <a:lnTo>
                  <a:pt x="383" y="0"/>
                </a:lnTo>
              </a:path>
            </a:pathLst>
          </a:custGeom>
          <a:noFill/>
          <a:ln w="12170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9009126" y="2988691"/>
            <a:ext cx="48641" cy="0"/>
          </a:xfrm>
          <a:custGeom>
            <a:avLst/>
            <a:gdLst/>
            <a:ahLst/>
            <a:cxnLst/>
            <a:rect l="l" t="t" r="r" b="b"/>
            <a:pathLst>
              <a:path w="383" h="0">
                <a:moveTo>
                  <a:pt x="0" y="0"/>
                </a:moveTo>
                <a:lnTo>
                  <a:pt x="383" y="0"/>
                </a:lnTo>
              </a:path>
            </a:pathLst>
          </a:custGeom>
          <a:noFill/>
          <a:ln w="12170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534400" y="3061716"/>
            <a:ext cx="584200" cy="0"/>
          </a:xfrm>
          <a:custGeom>
            <a:avLst/>
            <a:gdLst/>
            <a:ahLst/>
            <a:cxnLst/>
            <a:rect l="l" t="t" r="r" b="b"/>
            <a:pathLst>
              <a:path w="4600" h="0">
                <a:moveTo>
                  <a:pt x="0" y="0"/>
                </a:moveTo>
                <a:lnTo>
                  <a:pt x="4600" y="0"/>
                </a:lnTo>
              </a:path>
            </a:pathLst>
          </a:custGeom>
          <a:noFill/>
          <a:ln w="24341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"/>
          <p:cNvSpPr txBox="1"/>
          <p:nvPr/>
        </p:nvSpPr>
        <p:spPr>
          <a:xfrm>
            <a:off x="10807700" y="2514600"/>
            <a:ext cx="596900" cy="4883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45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AC4E16"/>
                </a:solidFill>
                <a:latin typeface="Microsoft JhengHei"/>
              </a:defRPr>
            </a:pPr>
            <a:r>
              <a:t>03</a:t>
            </a:r>
          </a:p>
        </p:txBody>
      </p:sp>
      <p:sp>
        <p:nvSpPr>
          <p:cNvPr id="48" name="Text"/>
          <p:cNvSpPr txBox="1"/>
          <p:nvPr/>
        </p:nvSpPr>
        <p:spPr>
          <a:xfrm>
            <a:off x="8382000" y="3492500"/>
            <a:ext cx="3098800" cy="4197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394B"/>
                </a:solidFill>
                <a:latin typeface="Microsoft JhengHei"/>
              </a:defRPr>
            </a:pPr>
            <a:r>
              <a:t>複用到其他專案</a:t>
            </a:r>
          </a:p>
        </p:txBody>
      </p:sp>
      <p:sp>
        <p:nvSpPr>
          <p:cNvPr id="49" name="Text"/>
          <p:cNvSpPr txBox="1"/>
          <p:nvPr/>
        </p:nvSpPr>
        <p:spPr>
          <a:xfrm>
            <a:off x="8382000" y="4064000"/>
            <a:ext cx="3098800" cy="334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94B"/>
                </a:solidFill>
                <a:latin typeface="Microsoft JhengHei"/>
              </a:defRPr>
            </a:pPr>
            <a:r>
              <a:t>留下治理與操作範本。</a:t>
            </a:r>
          </a:p>
        </p:txBody>
      </p:sp>
      <p:sp>
        <p:nvSpPr>
          <p:cNvPr id="50" name="Text"/>
          <p:cNvSpPr txBox="1"/>
          <p:nvPr/>
        </p:nvSpPr>
        <p:spPr>
          <a:xfrm>
            <a:off x="8382000" y="4525010"/>
            <a:ext cx="3098800" cy="6083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06B77"/>
                </a:solidFill>
                <a:latin typeface="Microsoft JhengHei"/>
              </a:defRPr>
            </a:pPr>
            <a:r>
              <a:t>各專案的服務與復原方式，</a:t>
            </a:r>
          </a:p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06B77"/>
                </a:solidFill>
                <a:latin typeface="Microsoft JhengHei"/>
              </a:defRPr>
            </a:pPr>
            <a:r>
              <a:t>仍需個別驗證。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508000" y="5930900"/>
            <a:ext cx="11176000" cy="3168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06B77"/>
                </a:solidFill>
                <a:latin typeface="Microsoft JhengHei"/>
              </a:defRPr>
            </a:pPr>
            <a:r>
              <a:t>預期改善，不是既有成果；POC／試辦後再以紀錄比較。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只送檔、不換版，仍然越過正式主機存取邊界"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"/>
          <p:cNvSpPr txBox="1"/>
          <p:nvPr/>
        </p:nvSpPr>
        <p:spPr>
          <a:xfrm>
            <a:off x="457200" y="241300"/>
            <a:ext cx="7810500" cy="2054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0786F"/>
                </a:solidFill>
                <a:latin typeface="Microsoft JhengHei"/>
              </a:defRPr>
            </a:pPr>
            <a:r>
              <a:t>WINDOWS  /  DEPLOYMENT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28200" y="190500"/>
            <a:ext cx="2006600" cy="342900"/>
          </a:xfrm>
          <a:prstGeom prst="roundRect">
            <a:avLst>
              <a:gd name="adj" fmla="val 48148"/>
            </a:avLst>
          </a:prstGeom>
          <a:solidFill>
            <a:srgbClr val="EE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"/>
          <p:cNvSpPr txBox="1"/>
          <p:nvPr/>
        </p:nvSpPr>
        <p:spPr>
          <a:xfrm>
            <a:off x="9842500" y="254000"/>
            <a:ext cx="1778000" cy="2225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552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8394B"/>
                </a:solidFill>
                <a:latin typeface="Microsoft JhengHei"/>
              </a:defRPr>
            </a:pPr>
            <a:r>
              <a:t>03  /  已確認的邊界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749300"/>
            <a:ext cx="11277600" cy="522605"/>
          </a:xfrm>
        </p:spPr>
        <p:txBody>
          <a:bodyPr lIns="0" rIns="0" tIns="0" bIns="0" wrap="none" anchor="t"/>
          <a:lstStyle/>
          <a:p>
            <a:pPr algn="l">
              <a:lnSpc>
                <a:spcPts val="391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94B"/>
                </a:solidFill>
                <a:latin typeface="Microsoft JhengHei"/>
              </a:defRPr>
            </a:pPr>
            <a:r>
              <a:t>只送檔，也已越過正式主機存取邊界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457200" y="1320800"/>
            <a:ext cx="11277600" cy="3082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506B77"/>
                </a:solidFill>
                <a:latin typeface="Microsoft JhengHei"/>
              </a:defRPr>
            </a:pPr>
            <a:r>
              <a:t>原方案已否決：建置端不能直接碰正式主機</a:t>
            </a:r>
          </a:p>
        </p:txBody>
      </p:sp>
      <p:sp>
        <p:nvSpPr>
          <p:cNvPr id="8" name="Freeform 7"/>
          <p:cNvSpPr/>
          <p:nvPr/>
        </p:nvSpPr>
        <p:spPr>
          <a:xfrm>
            <a:off x="457200" y="6413500"/>
            <a:ext cx="11277600" cy="0"/>
          </a:xfrm>
          <a:custGeom>
            <a:avLst/>
            <a:gdLst/>
            <a:ahLst/>
            <a:cxnLst/>
            <a:rect l="l" t="t" r="r" b="b"/>
            <a:pathLst>
              <a:path w="88800" h="0">
                <a:moveTo>
                  <a:pt x="0" y="0"/>
                </a:moveTo>
                <a:lnTo>
                  <a:pt x="88800" y="0"/>
                </a:lnTo>
              </a:path>
            </a:pathLst>
          </a:custGeom>
          <a:noFill/>
          <a:ln w="10160" cap="rnd">
            <a:solidFill>
              <a:srgbClr val="DCE4E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457200" y="6553200"/>
            <a:ext cx="10033000" cy="188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82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506B77"/>
                </a:solidFill>
                <a:latin typeface="Microsoft JhengHei"/>
              </a:defRPr>
            </a:pPr>
            <a:r>
              <a:t>JOURNEY EDITION  /  規劃提案 · 尚未完成實作／POC 驗證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0972800" y="6527800"/>
            <a:ext cx="762000" cy="2139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06B77"/>
                </a:solidFill>
                <a:latin typeface="Microsoft JhengHei"/>
              </a:defRPr>
            </a:pPr>
            <a:r>
              <a:t>04 / 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000" y="2044700"/>
            <a:ext cx="3403600" cy="2451100"/>
          </a:xfrm>
          <a:prstGeom prst="roundRect">
            <a:avLst>
              <a:gd name="adj" fmla="val 6217"/>
            </a:avLst>
          </a:prstGeom>
          <a:solidFill>
            <a:srgbClr val="EA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5493" y="2338387"/>
            <a:ext cx="544512" cy="414866"/>
          </a:xfrm>
          <a:prstGeom prst="roundRect">
            <a:avLst>
              <a:gd name="adj" fmla="val 12500"/>
            </a:avLst>
          </a:prstGeom>
          <a:solidFill>
            <a:srgbClr val="EAF3FC"/>
          </a:solidFill>
          <a:ln w="15240">
            <a:solidFill>
              <a:srgbClr val="16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775462" y="2442083"/>
            <a:ext cx="544576" cy="0"/>
          </a:xfrm>
          <a:custGeom>
            <a:avLst/>
            <a:gdLst/>
            <a:ahLst/>
            <a:cxnLst/>
            <a:rect l="l" t="t" r="r" b="b"/>
            <a:pathLst>
              <a:path w="4288" h="0">
                <a:moveTo>
                  <a:pt x="0" y="0"/>
                </a:moveTo>
                <a:lnTo>
                  <a:pt x="4288" y="0"/>
                </a:lnTo>
              </a:path>
            </a:pathLst>
          </a:custGeom>
          <a:noFill/>
          <a:ln w="25929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7352" y="2377281"/>
            <a:ext cx="25929" cy="25929"/>
          </a:xfrm>
          <a:prstGeom prst="ellipse">
            <a:avLst/>
          </a:prstGeom>
          <a:solidFill>
            <a:srgbClr val="167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2175" y="2377281"/>
            <a:ext cx="25929" cy="25929"/>
          </a:xfrm>
          <a:prstGeom prst="ellipse">
            <a:avLst/>
          </a:prstGeom>
          <a:solidFill>
            <a:srgbClr val="167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6997" y="2377281"/>
            <a:ext cx="25929" cy="25929"/>
          </a:xfrm>
          <a:prstGeom prst="ellipse">
            <a:avLst/>
          </a:prstGeom>
          <a:solidFill>
            <a:srgbClr val="167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892175" y="2519934"/>
            <a:ext cx="77851" cy="129540"/>
          </a:xfrm>
          <a:custGeom>
            <a:avLst/>
            <a:gdLst/>
            <a:ahLst/>
            <a:cxnLst/>
            <a:rect l="l" t="t" r="r" b="b"/>
            <a:pathLst>
              <a:path w="613" h="1020">
                <a:moveTo>
                  <a:pt x="613" y="0"/>
                </a:moveTo>
                <a:lnTo>
                  <a:pt x="0" y="510"/>
                </a:lnTo>
                <a:lnTo>
                  <a:pt x="613" y="1020"/>
                </a:lnTo>
              </a:path>
            </a:pathLst>
          </a:custGeom>
          <a:noFill/>
          <a:ln w="25929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125474" y="2519934"/>
            <a:ext cx="77851" cy="129540"/>
          </a:xfrm>
          <a:custGeom>
            <a:avLst/>
            <a:gdLst/>
            <a:ahLst/>
            <a:cxnLst/>
            <a:rect l="l" t="t" r="r" b="b"/>
            <a:pathLst>
              <a:path w="613" h="1020">
                <a:moveTo>
                  <a:pt x="0" y="0"/>
                </a:moveTo>
                <a:lnTo>
                  <a:pt x="613" y="510"/>
                </a:lnTo>
                <a:lnTo>
                  <a:pt x="0" y="1020"/>
                </a:lnTo>
              </a:path>
            </a:pathLst>
          </a:custGeom>
          <a:noFill/>
          <a:ln w="25929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1021842" y="2494026"/>
            <a:ext cx="51816" cy="194437"/>
          </a:xfrm>
          <a:custGeom>
            <a:avLst/>
            <a:gdLst/>
            <a:ahLst/>
            <a:cxnLst/>
            <a:rect l="l" t="t" r="r" b="b"/>
            <a:pathLst>
              <a:path w="408" h="1531">
                <a:moveTo>
                  <a:pt x="408" y="0"/>
                </a:moveTo>
                <a:lnTo>
                  <a:pt x="0" y="1531"/>
                </a:lnTo>
              </a:path>
            </a:pathLst>
          </a:custGeom>
          <a:noFill/>
          <a:ln w="25929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56945" y="2818130"/>
            <a:ext cx="181610" cy="0"/>
          </a:xfrm>
          <a:custGeom>
            <a:avLst/>
            <a:gdLst/>
            <a:ahLst/>
            <a:cxnLst/>
            <a:rect l="l" t="t" r="r" b="b"/>
            <a:pathLst>
              <a:path w="1430" h="0">
                <a:moveTo>
                  <a:pt x="0" y="0"/>
                </a:moveTo>
                <a:lnTo>
                  <a:pt x="1430" y="0"/>
                </a:lnTo>
              </a:path>
            </a:pathLst>
          </a:custGeom>
          <a:noFill/>
          <a:ln w="25929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"/>
          <p:cNvSpPr txBox="1"/>
          <p:nvPr/>
        </p:nvSpPr>
        <p:spPr>
          <a:xfrm>
            <a:off x="1574800" y="2387600"/>
            <a:ext cx="2184400" cy="402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26DB5"/>
                </a:solidFill>
                <a:latin typeface="Microsoft JhengHei"/>
              </a:defRPr>
            </a:pPr>
            <a:r>
              <a:t>開發／CI 區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762000" y="3187700"/>
            <a:ext cx="2908300" cy="6426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94B"/>
                </a:solidFill>
                <a:latin typeface="Microsoft JhengHei"/>
              </a:defRPr>
            </a:pPr>
            <a:r>
              <a:t>開發人員提交程式碼</a:t>
            </a:r>
          </a:p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94B"/>
                </a:solidFill>
                <a:latin typeface="Microsoft JhengHei"/>
              </a:defRPr>
            </a:pPr>
            <a:r>
              <a:t>GitLab Runner 建置／測試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55000" y="2044700"/>
            <a:ext cx="3429000" cy="2451100"/>
          </a:xfrm>
          <a:prstGeom prst="roundRect">
            <a:avLst>
              <a:gd name="adj" fmla="val 6217"/>
            </a:avLst>
          </a:prstGeom>
          <a:solidFill>
            <a:srgbClr val="E6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650816" y="2312722"/>
            <a:ext cx="414866" cy="129645"/>
          </a:xfrm>
          <a:prstGeom prst="roundRect">
            <a:avLst>
              <a:gd name="adj" fmla="val 40000"/>
            </a:avLst>
          </a:prstGeom>
          <a:solidFill>
            <a:srgbClr val="E6F4ED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96192" y="2358098"/>
            <a:ext cx="38893" cy="38893"/>
          </a:xfrm>
          <a:prstGeom prst="ellipse">
            <a:avLst/>
          </a:prstGeom>
          <a:solidFill>
            <a:srgbClr val="008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8884158" y="2377567"/>
            <a:ext cx="116713" cy="0"/>
          </a:xfrm>
          <a:custGeom>
            <a:avLst/>
            <a:gdLst/>
            <a:ahLst/>
            <a:cxnLst/>
            <a:rect l="l" t="t" r="r" b="b"/>
            <a:pathLst>
              <a:path w="919" h="0">
                <a:moveTo>
                  <a:pt x="0" y="0"/>
                </a:moveTo>
                <a:lnTo>
                  <a:pt x="919" y="0"/>
                </a:lnTo>
              </a:path>
            </a:pathLst>
          </a:custGeom>
          <a:noFill/>
          <a:ln w="19446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650816" y="2481262"/>
            <a:ext cx="414866" cy="129645"/>
          </a:xfrm>
          <a:prstGeom prst="roundRect">
            <a:avLst>
              <a:gd name="adj" fmla="val 40000"/>
            </a:avLst>
          </a:prstGeom>
          <a:solidFill>
            <a:srgbClr val="E6F4ED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696192" y="2526638"/>
            <a:ext cx="38893" cy="38893"/>
          </a:xfrm>
          <a:prstGeom prst="ellipse">
            <a:avLst/>
          </a:prstGeom>
          <a:solidFill>
            <a:srgbClr val="008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8884158" y="2546096"/>
            <a:ext cx="116713" cy="0"/>
          </a:xfrm>
          <a:custGeom>
            <a:avLst/>
            <a:gdLst/>
            <a:ahLst/>
            <a:cxnLst/>
            <a:rect l="l" t="t" r="r" b="b"/>
            <a:pathLst>
              <a:path w="919" h="0">
                <a:moveTo>
                  <a:pt x="0" y="0"/>
                </a:moveTo>
                <a:lnTo>
                  <a:pt x="919" y="0"/>
                </a:lnTo>
              </a:path>
            </a:pathLst>
          </a:custGeom>
          <a:noFill/>
          <a:ln w="19446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650816" y="2649802"/>
            <a:ext cx="414866" cy="129645"/>
          </a:xfrm>
          <a:prstGeom prst="roundRect">
            <a:avLst>
              <a:gd name="adj" fmla="val 40000"/>
            </a:avLst>
          </a:prstGeom>
          <a:solidFill>
            <a:srgbClr val="E6F4ED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696192" y="2695178"/>
            <a:ext cx="38893" cy="38893"/>
          </a:xfrm>
          <a:prstGeom prst="ellipse">
            <a:avLst/>
          </a:prstGeom>
          <a:solidFill>
            <a:srgbClr val="008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8884158" y="2714625"/>
            <a:ext cx="116713" cy="0"/>
          </a:xfrm>
          <a:custGeom>
            <a:avLst/>
            <a:gdLst/>
            <a:ahLst/>
            <a:cxnLst/>
            <a:rect l="l" t="t" r="r" b="b"/>
            <a:pathLst>
              <a:path w="919" h="0">
                <a:moveTo>
                  <a:pt x="0" y="0"/>
                </a:moveTo>
                <a:lnTo>
                  <a:pt x="919" y="0"/>
                </a:lnTo>
              </a:path>
            </a:pathLst>
          </a:custGeom>
          <a:noFill/>
          <a:ln w="19446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"/>
          <p:cNvSpPr txBox="1"/>
          <p:nvPr/>
        </p:nvSpPr>
        <p:spPr>
          <a:xfrm>
            <a:off x="9283700" y="2374900"/>
            <a:ext cx="2209800" cy="402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86F"/>
                </a:solidFill>
                <a:latin typeface="Microsoft JhengHei"/>
              </a:defRPr>
            </a:pPr>
            <a:r>
              <a:t>Production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8572500" y="3187700"/>
            <a:ext cx="28575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394B"/>
                </a:solidFill>
                <a:latin typeface="Microsoft JhengHei"/>
              </a:defRPr>
            </a:pPr>
            <a:r>
              <a:t>正式主機僅限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394B"/>
                </a:solidFill>
                <a:latin typeface="Microsoft JhengHei"/>
              </a:defRPr>
            </a:pPr>
            <a:r>
              <a:t>指定部門存取</a:t>
            </a:r>
          </a:p>
        </p:txBody>
      </p:sp>
      <p:sp>
        <p:nvSpPr>
          <p:cNvPr id="35" name="Freeform 34"/>
          <p:cNvSpPr/>
          <p:nvPr/>
        </p:nvSpPr>
        <p:spPr>
          <a:xfrm>
            <a:off x="4140200" y="3302000"/>
            <a:ext cx="3860800" cy="0"/>
          </a:xfrm>
          <a:custGeom>
            <a:avLst/>
            <a:gdLst/>
            <a:ahLst/>
            <a:cxnLst/>
            <a:rect l="l" t="t" r="r" b="b"/>
            <a:pathLst>
              <a:path w="30400" h="0">
                <a:moveTo>
                  <a:pt x="0" y="0"/>
                </a:moveTo>
                <a:lnTo>
                  <a:pt x="30400" y="0"/>
                </a:lnTo>
              </a:path>
            </a:pathLst>
          </a:custGeom>
          <a:noFill/>
          <a:ln w="38100" cap="rnd">
            <a:solidFill>
              <a:srgbClr val="B33F3F"/>
            </a:solidFill>
            <a:prstDash val="dash"/>
            <a:round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765800" y="2997200"/>
            <a:ext cx="609600" cy="609600"/>
          </a:xfrm>
          <a:prstGeom prst="ellipse">
            <a:avLst/>
          </a:prstGeom>
          <a:solidFill>
            <a:srgbClr val="FAECE7"/>
          </a:solidFill>
          <a:ln w="15240">
            <a:solidFill>
              <a:srgbClr val="B3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5943600" y="3175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000" h="2000">
                <a:moveTo>
                  <a:pt x="0" y="0"/>
                </a:moveTo>
                <a:lnTo>
                  <a:pt x="2000" y="2000"/>
                </a:lnTo>
              </a:path>
            </a:pathLst>
          </a:custGeom>
          <a:noFill/>
          <a:ln w="38100" cap="rnd">
            <a:solidFill>
              <a:srgbClr val="B33F3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5943600" y="3175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000" h="2000">
                <a:moveTo>
                  <a:pt x="2000" y="0"/>
                </a:moveTo>
                <a:lnTo>
                  <a:pt x="0" y="2000"/>
                </a:lnTo>
              </a:path>
            </a:pathLst>
          </a:custGeom>
          <a:noFill/>
          <a:ln w="38100" cap="rnd">
            <a:solidFill>
              <a:srgbClr val="B33F3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965700" y="2540000"/>
            <a:ext cx="2235200" cy="342900"/>
          </a:xfrm>
          <a:prstGeom prst="roundRect">
            <a:avLst>
              <a:gd name="adj" fmla="val 48148"/>
            </a:avLst>
          </a:prstGeom>
          <a:solidFill>
            <a:srgbClr val="FAE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"/>
          <p:cNvSpPr txBox="1"/>
          <p:nvPr/>
        </p:nvSpPr>
        <p:spPr>
          <a:xfrm>
            <a:off x="5080000" y="2603500"/>
            <a:ext cx="2006600" cy="2225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552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B33F3F"/>
                </a:solidFill>
                <a:latin typeface="Microsoft JhengHei"/>
              </a:defRPr>
            </a:pPr>
            <a:r>
              <a:t>禁止直接送檔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4521200" y="3860800"/>
            <a:ext cx="3238500" cy="351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56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B33F3F"/>
                </a:solidFill>
                <a:latin typeface="Microsoft JhengHei"/>
              </a:defRPr>
            </a:pPr>
            <a:r>
              <a:t>送檔 ≠ 尚未存取</a:t>
            </a:r>
          </a:p>
        </p:txBody>
      </p:sp>
      <p:sp>
        <p:nvSpPr>
          <p:cNvPr id="42" name="Freeform 41"/>
          <p:cNvSpPr/>
          <p:nvPr/>
        </p:nvSpPr>
        <p:spPr>
          <a:xfrm>
            <a:off x="2171700" y="4495800"/>
            <a:ext cx="7797800" cy="596900"/>
          </a:xfrm>
          <a:custGeom>
            <a:avLst/>
            <a:gdLst/>
            <a:ahLst/>
            <a:cxnLst/>
            <a:rect l="l" t="t" r="r" b="b"/>
            <a:pathLst>
              <a:path w="61400" h="4700">
                <a:moveTo>
                  <a:pt x="0" y="0"/>
                </a:moveTo>
                <a:lnTo>
                  <a:pt x="0" y="24"/>
                </a:lnTo>
                <a:lnTo>
                  <a:pt x="0" y="92"/>
                </a:lnTo>
                <a:lnTo>
                  <a:pt x="0" y="202"/>
                </a:lnTo>
                <a:lnTo>
                  <a:pt x="0" y="348"/>
                </a:lnTo>
                <a:lnTo>
                  <a:pt x="0" y="527"/>
                </a:lnTo>
                <a:lnTo>
                  <a:pt x="0" y="734"/>
                </a:lnTo>
                <a:lnTo>
                  <a:pt x="0" y="966"/>
                </a:lnTo>
                <a:lnTo>
                  <a:pt x="0" y="1219"/>
                </a:lnTo>
                <a:lnTo>
                  <a:pt x="0" y="1487"/>
                </a:lnTo>
                <a:lnTo>
                  <a:pt x="0" y="1768"/>
                </a:lnTo>
                <a:lnTo>
                  <a:pt x="0" y="2057"/>
                </a:lnTo>
                <a:lnTo>
                  <a:pt x="0" y="2350"/>
                </a:lnTo>
                <a:lnTo>
                  <a:pt x="0" y="2643"/>
                </a:lnTo>
                <a:lnTo>
                  <a:pt x="0" y="2932"/>
                </a:lnTo>
                <a:lnTo>
                  <a:pt x="0" y="3213"/>
                </a:lnTo>
                <a:lnTo>
                  <a:pt x="0" y="3481"/>
                </a:lnTo>
                <a:lnTo>
                  <a:pt x="0" y="3734"/>
                </a:lnTo>
                <a:lnTo>
                  <a:pt x="0" y="3966"/>
                </a:lnTo>
                <a:lnTo>
                  <a:pt x="0" y="4173"/>
                </a:lnTo>
                <a:lnTo>
                  <a:pt x="0" y="4352"/>
                </a:lnTo>
                <a:lnTo>
                  <a:pt x="0" y="4498"/>
                </a:lnTo>
                <a:lnTo>
                  <a:pt x="0" y="4608"/>
                </a:lnTo>
                <a:lnTo>
                  <a:pt x="0" y="4676"/>
                </a:lnTo>
                <a:lnTo>
                  <a:pt x="0" y="4700"/>
                </a:lnTo>
                <a:lnTo>
                  <a:pt x="1762" y="4700"/>
                </a:lnTo>
                <a:lnTo>
                  <a:pt x="3396" y="4700"/>
                </a:lnTo>
                <a:lnTo>
                  <a:pt x="4913" y="4700"/>
                </a:lnTo>
                <a:lnTo>
                  <a:pt x="6326" y="4700"/>
                </a:lnTo>
                <a:lnTo>
                  <a:pt x="7645" y="4700"/>
                </a:lnTo>
                <a:lnTo>
                  <a:pt x="8883" y="4700"/>
                </a:lnTo>
                <a:lnTo>
                  <a:pt x="10051" y="4700"/>
                </a:lnTo>
                <a:lnTo>
                  <a:pt x="11161" y="4700"/>
                </a:lnTo>
                <a:lnTo>
                  <a:pt x="12224" y="4700"/>
                </a:lnTo>
                <a:lnTo>
                  <a:pt x="13252" y="4700"/>
                </a:lnTo>
                <a:lnTo>
                  <a:pt x="14257" y="4700"/>
                </a:lnTo>
                <a:lnTo>
                  <a:pt x="15250" y="4700"/>
                </a:lnTo>
                <a:lnTo>
                  <a:pt x="16243" y="4700"/>
                </a:lnTo>
                <a:lnTo>
                  <a:pt x="17248" y="4700"/>
                </a:lnTo>
                <a:lnTo>
                  <a:pt x="18276" y="4700"/>
                </a:lnTo>
                <a:lnTo>
                  <a:pt x="19339" y="4700"/>
                </a:lnTo>
                <a:lnTo>
                  <a:pt x="20449" y="4700"/>
                </a:lnTo>
                <a:lnTo>
                  <a:pt x="21617" y="4700"/>
                </a:lnTo>
                <a:lnTo>
                  <a:pt x="22855" y="4700"/>
                </a:lnTo>
                <a:lnTo>
                  <a:pt x="24174" y="4700"/>
                </a:lnTo>
                <a:lnTo>
                  <a:pt x="25587" y="4700"/>
                </a:lnTo>
                <a:lnTo>
                  <a:pt x="27104" y="4700"/>
                </a:lnTo>
                <a:lnTo>
                  <a:pt x="28738" y="4700"/>
                </a:lnTo>
                <a:lnTo>
                  <a:pt x="30500" y="4700"/>
                </a:lnTo>
                <a:lnTo>
                  <a:pt x="32285" y="4700"/>
                </a:lnTo>
                <a:lnTo>
                  <a:pt x="33940" y="4700"/>
                </a:lnTo>
                <a:lnTo>
                  <a:pt x="35478" y="4700"/>
                </a:lnTo>
                <a:lnTo>
                  <a:pt x="36909" y="4700"/>
                </a:lnTo>
                <a:lnTo>
                  <a:pt x="38246" y="4700"/>
                </a:lnTo>
                <a:lnTo>
                  <a:pt x="39500" y="4700"/>
                </a:lnTo>
                <a:lnTo>
                  <a:pt x="40683" y="4700"/>
                </a:lnTo>
                <a:lnTo>
                  <a:pt x="41807" y="4700"/>
                </a:lnTo>
                <a:lnTo>
                  <a:pt x="42884" y="4700"/>
                </a:lnTo>
                <a:lnTo>
                  <a:pt x="43926" y="4700"/>
                </a:lnTo>
                <a:lnTo>
                  <a:pt x="44944" y="4700"/>
                </a:lnTo>
                <a:lnTo>
                  <a:pt x="45950" y="4700"/>
                </a:lnTo>
                <a:lnTo>
                  <a:pt x="46956" y="4700"/>
                </a:lnTo>
                <a:lnTo>
                  <a:pt x="47974" y="4700"/>
                </a:lnTo>
                <a:lnTo>
                  <a:pt x="49016" y="4700"/>
                </a:lnTo>
                <a:lnTo>
                  <a:pt x="50093" y="4700"/>
                </a:lnTo>
                <a:lnTo>
                  <a:pt x="51217" y="4700"/>
                </a:lnTo>
                <a:lnTo>
                  <a:pt x="52400" y="4700"/>
                </a:lnTo>
                <a:lnTo>
                  <a:pt x="53654" y="4700"/>
                </a:lnTo>
                <a:lnTo>
                  <a:pt x="54991" y="4700"/>
                </a:lnTo>
                <a:lnTo>
                  <a:pt x="56422" y="4700"/>
                </a:lnTo>
                <a:lnTo>
                  <a:pt x="57960" y="4700"/>
                </a:lnTo>
                <a:lnTo>
                  <a:pt x="59615" y="4700"/>
                </a:lnTo>
                <a:lnTo>
                  <a:pt x="61400" y="4700"/>
                </a:lnTo>
                <a:lnTo>
                  <a:pt x="61400" y="4676"/>
                </a:lnTo>
                <a:lnTo>
                  <a:pt x="61400" y="4608"/>
                </a:lnTo>
                <a:lnTo>
                  <a:pt x="61400" y="4498"/>
                </a:lnTo>
                <a:lnTo>
                  <a:pt x="61400" y="4352"/>
                </a:lnTo>
                <a:lnTo>
                  <a:pt x="61400" y="4173"/>
                </a:lnTo>
                <a:lnTo>
                  <a:pt x="61400" y="3966"/>
                </a:lnTo>
                <a:lnTo>
                  <a:pt x="61400" y="3734"/>
                </a:lnTo>
                <a:lnTo>
                  <a:pt x="61400" y="3481"/>
                </a:lnTo>
                <a:lnTo>
                  <a:pt x="61400" y="3213"/>
                </a:lnTo>
                <a:lnTo>
                  <a:pt x="61400" y="2932"/>
                </a:lnTo>
                <a:lnTo>
                  <a:pt x="61400" y="2643"/>
                </a:lnTo>
                <a:lnTo>
                  <a:pt x="61400" y="2350"/>
                </a:lnTo>
                <a:lnTo>
                  <a:pt x="61400" y="2057"/>
                </a:lnTo>
                <a:lnTo>
                  <a:pt x="61400" y="1768"/>
                </a:lnTo>
                <a:lnTo>
                  <a:pt x="61400" y="1487"/>
                </a:lnTo>
                <a:lnTo>
                  <a:pt x="61400" y="1219"/>
                </a:lnTo>
                <a:lnTo>
                  <a:pt x="61400" y="966"/>
                </a:lnTo>
                <a:lnTo>
                  <a:pt x="61400" y="734"/>
                </a:lnTo>
                <a:lnTo>
                  <a:pt x="61400" y="527"/>
                </a:lnTo>
                <a:lnTo>
                  <a:pt x="61400" y="348"/>
                </a:lnTo>
                <a:lnTo>
                  <a:pt x="61400" y="202"/>
                </a:lnTo>
                <a:lnTo>
                  <a:pt x="61400" y="92"/>
                </a:lnTo>
                <a:lnTo>
                  <a:pt x="61400" y="24"/>
                </a:lnTo>
                <a:lnTo>
                  <a:pt x="61400" y="0"/>
                </a:lnTo>
              </a:path>
            </a:pathLst>
          </a:custGeom>
          <a:noFill/>
          <a:ln w="88900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216400" y="4686300"/>
            <a:ext cx="3835400" cy="889000"/>
          </a:xfrm>
          <a:prstGeom prst="roundRect">
            <a:avLst>
              <a:gd name="adj" fmla="val 17142"/>
            </a:avLst>
          </a:prstGeom>
          <a:solidFill>
            <a:srgbClr val="FF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465637" y="5111750"/>
            <a:ext cx="119062" cy="250031"/>
          </a:xfrm>
          <a:prstGeom prst="roundRect">
            <a:avLst>
              <a:gd name="adj" fmla="val 40000"/>
            </a:avLst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477543" y="5052218"/>
            <a:ext cx="95250" cy="71437"/>
          </a:xfrm>
          <a:prstGeom prst="roundRect">
            <a:avLst>
              <a:gd name="adj" fmla="val 50000"/>
            </a:avLst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4525137" y="4921250"/>
            <a:ext cx="333375" cy="190500"/>
          </a:xfrm>
          <a:custGeom>
            <a:avLst/>
            <a:gdLst/>
            <a:ahLst/>
            <a:cxnLst/>
            <a:rect l="l" t="t" r="r" b="b"/>
            <a:pathLst>
              <a:path w="2625" h="1500">
                <a:moveTo>
                  <a:pt x="0" y="1500"/>
                </a:moveTo>
                <a:lnTo>
                  <a:pt x="2625" y="0"/>
                </a:lnTo>
              </a:path>
            </a:pathLst>
          </a:custGeom>
          <a:noFill/>
          <a:ln w="59531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4644263" y="5016500"/>
            <a:ext cx="35687" cy="59563"/>
          </a:xfrm>
          <a:custGeom>
            <a:avLst/>
            <a:gdLst/>
            <a:ahLst/>
            <a:cxnLst/>
            <a:rect l="l" t="t" r="r" b="b"/>
            <a:pathLst>
              <a:path w="281" h="469">
                <a:moveTo>
                  <a:pt x="0" y="0"/>
                </a:moveTo>
                <a:lnTo>
                  <a:pt x="281" y="469"/>
                </a:lnTo>
              </a:path>
            </a:pathLst>
          </a:custGeom>
          <a:noFill/>
          <a:ln w="29765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4751324" y="4956937"/>
            <a:ext cx="35814" cy="59563"/>
          </a:xfrm>
          <a:custGeom>
            <a:avLst/>
            <a:gdLst/>
            <a:ahLst/>
            <a:cxnLst/>
            <a:rect l="l" t="t" r="r" b="b"/>
            <a:pathLst>
              <a:path w="282" h="469">
                <a:moveTo>
                  <a:pt x="0" y="0"/>
                </a:moveTo>
                <a:lnTo>
                  <a:pt x="282" y="469"/>
                </a:lnTo>
              </a:path>
            </a:pathLst>
          </a:custGeom>
          <a:noFill/>
          <a:ln w="29765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501356" y="5147468"/>
            <a:ext cx="47625" cy="476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4775200" y="5111750"/>
            <a:ext cx="154813" cy="119126"/>
          </a:xfrm>
          <a:custGeom>
            <a:avLst/>
            <a:gdLst/>
            <a:ahLst/>
            <a:cxnLst/>
            <a:rect l="l" t="t" r="r" b="b"/>
            <a:pathLst>
              <a:path w="1219" h="938">
                <a:moveTo>
                  <a:pt x="0" y="469"/>
                </a:moveTo>
                <a:lnTo>
                  <a:pt x="469" y="938"/>
                </a:lnTo>
                <a:lnTo>
                  <a:pt x="1219" y="0"/>
                </a:lnTo>
              </a:path>
            </a:pathLst>
          </a:custGeom>
          <a:noFill/>
          <a:ln w="29765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"/>
          <p:cNvSpPr txBox="1"/>
          <p:nvPr/>
        </p:nvSpPr>
        <p:spPr>
          <a:xfrm>
            <a:off x="5118100" y="4914900"/>
            <a:ext cx="27813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394B"/>
                </a:solidFill>
                <a:latin typeface="Microsoft JhengHei"/>
              </a:defRPr>
            </a:pPr>
            <a:r>
              <a:t>授權流程：放行後交付與換版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508000" y="5943600"/>
            <a:ext cx="11176000" cy="3168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06B77"/>
                </a:solidFill>
                <a:latin typeface="Microsoft JhengHei"/>
              </a:defRPr>
            </a:pPr>
            <a:r>
              <a:t>保留建置自動化；不以共用目錄、帳號或中繼腳本繞過邊界。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本次提案狀態：需求已確認，做法仍待驗證"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"/>
          <p:cNvSpPr txBox="1"/>
          <p:nvPr/>
        </p:nvSpPr>
        <p:spPr>
          <a:xfrm>
            <a:off x="457200" y="241300"/>
            <a:ext cx="7810500" cy="2054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0786F"/>
                </a:solidFill>
                <a:latin typeface="Microsoft JhengHei"/>
              </a:defRPr>
            </a:pPr>
            <a:r>
              <a:t>WINDOWS  /  DEPLOYMENT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28200" y="190500"/>
            <a:ext cx="2006600" cy="342900"/>
          </a:xfrm>
          <a:prstGeom prst="roundRect">
            <a:avLst>
              <a:gd name="adj" fmla="val 48148"/>
            </a:avLst>
          </a:prstGeom>
          <a:solidFill>
            <a:srgbClr val="EE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"/>
          <p:cNvSpPr txBox="1"/>
          <p:nvPr/>
        </p:nvSpPr>
        <p:spPr>
          <a:xfrm>
            <a:off x="9842500" y="254000"/>
            <a:ext cx="1778000" cy="2225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552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8394B"/>
                </a:solidFill>
                <a:latin typeface="Microsoft JhengHei"/>
              </a:defRPr>
            </a:pPr>
            <a:r>
              <a:t>04  /  證據與狀態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749300"/>
            <a:ext cx="11277600" cy="522605"/>
          </a:xfrm>
        </p:spPr>
        <p:txBody>
          <a:bodyPr lIns="0" rIns="0" tIns="0" bIns="0" wrap="none" anchor="t"/>
          <a:lstStyle/>
          <a:p>
            <a:pPr algn="l">
              <a:lnSpc>
                <a:spcPts val="391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94B"/>
                </a:solidFill>
                <a:latin typeface="Microsoft JhengHei"/>
              </a:defRPr>
            </a:pPr>
            <a:r>
              <a:t>先把「需求」與「做得到」分開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457200" y="1320800"/>
            <a:ext cx="11277600" cy="3082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506B77"/>
                </a:solidFill>
                <a:latin typeface="Microsoft JhengHei"/>
              </a:defRPr>
            </a:pPr>
            <a:r>
              <a:t>官方文件支持工具能力，不代表本案已完成整合或驗收</a:t>
            </a:r>
          </a:p>
        </p:txBody>
      </p:sp>
      <p:sp>
        <p:nvSpPr>
          <p:cNvPr id="8" name="Freeform 7"/>
          <p:cNvSpPr/>
          <p:nvPr/>
        </p:nvSpPr>
        <p:spPr>
          <a:xfrm>
            <a:off x="457200" y="6413500"/>
            <a:ext cx="11277600" cy="0"/>
          </a:xfrm>
          <a:custGeom>
            <a:avLst/>
            <a:gdLst/>
            <a:ahLst/>
            <a:cxnLst/>
            <a:rect l="l" t="t" r="r" b="b"/>
            <a:pathLst>
              <a:path w="88800" h="0">
                <a:moveTo>
                  <a:pt x="0" y="0"/>
                </a:moveTo>
                <a:lnTo>
                  <a:pt x="88800" y="0"/>
                </a:lnTo>
              </a:path>
            </a:pathLst>
          </a:custGeom>
          <a:noFill/>
          <a:ln w="10160" cap="rnd">
            <a:solidFill>
              <a:srgbClr val="DCE4E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457200" y="6553200"/>
            <a:ext cx="10033000" cy="188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82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506B77"/>
                </a:solidFill>
                <a:latin typeface="Microsoft JhengHei"/>
              </a:defRPr>
            </a:pPr>
            <a:r>
              <a:t>JOURNEY EDITION  /  規劃提案 · 尚未完成實作／POC 驗證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0972800" y="6527800"/>
            <a:ext cx="762000" cy="2139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06B77"/>
                </a:solidFill>
                <a:latin typeface="Microsoft JhengHei"/>
              </a:defRPr>
            </a:pPr>
            <a:r>
              <a:t>05 / 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000" y="2108200"/>
            <a:ext cx="3530600" cy="3835400"/>
          </a:xfrm>
          <a:prstGeom prst="roundRect">
            <a:avLst>
              <a:gd name="adj" fmla="val 4316"/>
            </a:avLst>
          </a:prstGeom>
          <a:solidFill>
            <a:srgbClr val="FFFFFF"/>
          </a:solidFill>
          <a:ln w="15240">
            <a:solidFill>
              <a:srgbClr val="DC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8000" y="2108200"/>
            <a:ext cx="3530600" cy="88900"/>
          </a:xfrm>
          <a:prstGeom prst="rect">
            <a:avLst/>
          </a:prstGeom>
          <a:solidFill>
            <a:srgbClr val="167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804926" y="2471166"/>
            <a:ext cx="409448" cy="466471"/>
          </a:xfrm>
          <a:custGeom>
            <a:avLst/>
            <a:gdLst/>
            <a:ahLst/>
            <a:cxnLst/>
            <a:rect l="l" t="t" r="r" b="b"/>
            <a:pathLst>
              <a:path w="3224" h="3673">
                <a:moveTo>
                  <a:pt x="1612" y="0"/>
                </a:moveTo>
                <a:lnTo>
                  <a:pt x="3224" y="627"/>
                </a:lnTo>
                <a:lnTo>
                  <a:pt x="2956" y="2330"/>
                </a:lnTo>
                <a:lnTo>
                  <a:pt x="2418" y="3136"/>
                </a:lnTo>
                <a:lnTo>
                  <a:pt x="1612" y="3673"/>
                </a:lnTo>
                <a:lnTo>
                  <a:pt x="806" y="3136"/>
                </a:lnTo>
                <a:lnTo>
                  <a:pt x="268" y="2330"/>
                </a:lnTo>
                <a:lnTo>
                  <a:pt x="0" y="627"/>
                </a:lnTo>
                <a:lnTo>
                  <a:pt x="1612" y="0"/>
                </a:lnTo>
              </a:path>
            </a:pathLst>
          </a:custGeom>
          <a:noFill/>
          <a:ln w="22754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907288" y="2619121"/>
            <a:ext cx="216154" cy="159258"/>
          </a:xfrm>
          <a:custGeom>
            <a:avLst/>
            <a:gdLst/>
            <a:ahLst/>
            <a:cxnLst/>
            <a:rect l="l" t="t" r="r" b="b"/>
            <a:pathLst>
              <a:path w="1702" h="1254">
                <a:moveTo>
                  <a:pt x="0" y="627"/>
                </a:moveTo>
                <a:lnTo>
                  <a:pt x="627" y="1254"/>
                </a:lnTo>
                <a:lnTo>
                  <a:pt x="1702" y="0"/>
                </a:lnTo>
              </a:path>
            </a:pathLst>
          </a:custGeom>
          <a:noFill/>
          <a:ln w="34131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828800" y="2463800"/>
            <a:ext cx="1981200" cy="342900"/>
          </a:xfrm>
          <a:prstGeom prst="roundRect">
            <a:avLst>
              <a:gd name="adj" fmla="val 48148"/>
            </a:avLst>
          </a:prstGeom>
          <a:solidFill>
            <a:srgbClr val="EA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"/>
          <p:cNvSpPr txBox="1"/>
          <p:nvPr/>
        </p:nvSpPr>
        <p:spPr>
          <a:xfrm>
            <a:off x="1943100" y="2527300"/>
            <a:ext cx="1752600" cy="2225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552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26DB5"/>
                </a:solidFill>
                <a:latin typeface="Microsoft JhengHei"/>
              </a:defRPr>
            </a:pPr>
            <a:r>
              <a:t>需求已確認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736600" y="3225800"/>
            <a:ext cx="3098800" cy="402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8394B"/>
                </a:solidFill>
                <a:latin typeface="Microsoft JhengHei"/>
              </a:defRPr>
            </a:pPr>
            <a:r>
              <a:t>已確認的需求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736600" y="3848100"/>
            <a:ext cx="3073400" cy="6083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94B"/>
                </a:solidFill>
                <a:latin typeface="Microsoft JhengHei"/>
              </a:defRPr>
            </a:pPr>
            <a:r>
              <a:t>保留 GitLab 建置；正式主機僅</a:t>
            </a:r>
          </a:p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94B"/>
                </a:solidFill>
                <a:latin typeface="Microsoft JhengHei"/>
              </a:defRPr>
            </a:pPr>
            <a:r>
              <a:t>限指定部門存取。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736600" y="4659630"/>
            <a:ext cx="3073400" cy="6083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94B"/>
                </a:solidFill>
                <a:latin typeface="Microsoft JhengHei"/>
              </a:defRPr>
            </a:pPr>
            <a:r>
              <a:t>正式部署須先選定版本與目標、</a:t>
            </a:r>
          </a:p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94B"/>
                </a:solidFill>
                <a:latin typeface="Microsoft JhengHei"/>
              </a:defRPr>
            </a:pPr>
            <a:r>
              <a:t>授權放行；送檔也算存取。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30700" y="2108200"/>
            <a:ext cx="3530600" cy="3835400"/>
          </a:xfrm>
          <a:prstGeom prst="roundRect">
            <a:avLst>
              <a:gd name="adj" fmla="val 4316"/>
            </a:avLst>
          </a:prstGeom>
          <a:solidFill>
            <a:srgbClr val="FFFFFF"/>
          </a:solidFill>
          <a:ln w="15240">
            <a:solidFill>
              <a:srgbClr val="DC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30700" y="2108200"/>
            <a:ext cx="3530600" cy="88900"/>
          </a:xfrm>
          <a:prstGeom prst="rect">
            <a:avLst/>
          </a:prstGeom>
          <a:solidFill>
            <a:srgbClr val="008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650316" y="2482585"/>
            <a:ext cx="364066" cy="113770"/>
          </a:xfrm>
          <a:prstGeom prst="roundRect">
            <a:avLst>
              <a:gd name="adj" fmla="val 40000"/>
            </a:avLst>
          </a:prstGeom>
          <a:solidFill>
            <a:srgbClr val="E6F4ED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690136" y="2522405"/>
            <a:ext cx="34131" cy="34131"/>
          </a:xfrm>
          <a:prstGeom prst="ellipse">
            <a:avLst/>
          </a:prstGeom>
          <a:solidFill>
            <a:srgbClr val="008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4855083" y="2539492"/>
            <a:ext cx="102362" cy="0"/>
          </a:xfrm>
          <a:custGeom>
            <a:avLst/>
            <a:gdLst/>
            <a:ahLst/>
            <a:cxnLst/>
            <a:rect l="l" t="t" r="r" b="b"/>
            <a:pathLst>
              <a:path w="806" h="0">
                <a:moveTo>
                  <a:pt x="0" y="0"/>
                </a:moveTo>
                <a:lnTo>
                  <a:pt x="806" y="0"/>
                </a:lnTo>
              </a:path>
            </a:pathLst>
          </a:custGeom>
          <a:noFill/>
          <a:ln w="17065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650316" y="2630487"/>
            <a:ext cx="364066" cy="113770"/>
          </a:xfrm>
          <a:prstGeom prst="roundRect">
            <a:avLst>
              <a:gd name="adj" fmla="val 40000"/>
            </a:avLst>
          </a:prstGeom>
          <a:solidFill>
            <a:srgbClr val="E6F4ED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690136" y="2670307"/>
            <a:ext cx="34131" cy="34131"/>
          </a:xfrm>
          <a:prstGeom prst="ellipse">
            <a:avLst/>
          </a:prstGeom>
          <a:solidFill>
            <a:srgbClr val="008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855083" y="2687320"/>
            <a:ext cx="102362" cy="0"/>
          </a:xfrm>
          <a:custGeom>
            <a:avLst/>
            <a:gdLst/>
            <a:ahLst/>
            <a:cxnLst/>
            <a:rect l="l" t="t" r="r" b="b"/>
            <a:pathLst>
              <a:path w="806" h="0">
                <a:moveTo>
                  <a:pt x="0" y="0"/>
                </a:moveTo>
                <a:lnTo>
                  <a:pt x="806" y="0"/>
                </a:lnTo>
              </a:path>
            </a:pathLst>
          </a:custGeom>
          <a:noFill/>
          <a:ln w="17065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650316" y="2778389"/>
            <a:ext cx="364066" cy="113770"/>
          </a:xfrm>
          <a:prstGeom prst="roundRect">
            <a:avLst>
              <a:gd name="adj" fmla="val 40000"/>
            </a:avLst>
          </a:prstGeom>
          <a:solidFill>
            <a:srgbClr val="E6F4ED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90136" y="2818209"/>
            <a:ext cx="34131" cy="34131"/>
          </a:xfrm>
          <a:prstGeom prst="ellipse">
            <a:avLst/>
          </a:prstGeom>
          <a:solidFill>
            <a:srgbClr val="008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4855083" y="2835275"/>
            <a:ext cx="102362" cy="0"/>
          </a:xfrm>
          <a:custGeom>
            <a:avLst/>
            <a:gdLst/>
            <a:ahLst/>
            <a:cxnLst/>
            <a:rect l="l" t="t" r="r" b="b"/>
            <a:pathLst>
              <a:path w="806" h="0">
                <a:moveTo>
                  <a:pt x="0" y="0"/>
                </a:moveTo>
                <a:lnTo>
                  <a:pt x="806" y="0"/>
                </a:lnTo>
              </a:path>
            </a:pathLst>
          </a:custGeom>
          <a:noFill/>
          <a:ln w="17065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651500" y="2463800"/>
            <a:ext cx="1981200" cy="342900"/>
          </a:xfrm>
          <a:prstGeom prst="roundRect">
            <a:avLst>
              <a:gd name="adj" fmla="val 48148"/>
            </a:avLst>
          </a:prstGeom>
          <a:solidFill>
            <a:srgbClr val="E6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"/>
          <p:cNvSpPr txBox="1"/>
          <p:nvPr/>
        </p:nvSpPr>
        <p:spPr>
          <a:xfrm>
            <a:off x="5765800" y="2527300"/>
            <a:ext cx="1752600" cy="2225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552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00786F"/>
                </a:solidFill>
                <a:latin typeface="Microsoft JhengHei"/>
              </a:defRPr>
            </a:pPr>
            <a:r>
              <a:t>做法規劃中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4559300" y="3225800"/>
            <a:ext cx="3098800" cy="402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8394B"/>
                </a:solidFill>
                <a:latin typeface="Microsoft JhengHei"/>
              </a:defRPr>
            </a:pPr>
            <a:r>
              <a:t>規劃中的做法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4559300" y="3848100"/>
            <a:ext cx="3073400" cy="8997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94B"/>
                </a:solidFill>
                <a:latin typeface="Microsoft JhengHei"/>
              </a:defRPr>
            </a:pPr>
            <a:r>
              <a:t>以 Azure DevOps Server 管理</a:t>
            </a:r>
          </a:p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94B"/>
                </a:solidFill>
                <a:latin typeface="Microsoft JhengHei"/>
              </a:defRPr>
            </a:pPr>
            <a:r>
              <a:t>放行，由目標 Agent 執行受控</a:t>
            </a:r>
          </a:p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94B"/>
                </a:solidFill>
                <a:latin typeface="Microsoft JhengHei"/>
              </a:defRPr>
            </a:pPr>
            <a:r>
              <a:t>腳本。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4559300" y="4951095"/>
            <a:ext cx="3073400" cy="8997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94B"/>
                </a:solidFill>
                <a:latin typeface="Microsoft JhengHei"/>
              </a:defRPr>
            </a:pPr>
            <a:r>
              <a:t>納入備份、健康檢查與復原；需</a:t>
            </a:r>
          </a:p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94B"/>
                </a:solidFill>
                <a:latin typeface="Microsoft JhengHei"/>
              </a:defRPr>
            </a:pPr>
            <a:r>
              <a:t>另行實作，並非工具自帶完整機</a:t>
            </a:r>
          </a:p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94B"/>
                </a:solidFill>
                <a:latin typeface="Microsoft JhengHei"/>
              </a:defRPr>
            </a:pPr>
            <a:r>
              <a:t>制。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53400" y="2108200"/>
            <a:ext cx="3530600" cy="3835400"/>
          </a:xfrm>
          <a:prstGeom prst="roundRect">
            <a:avLst>
              <a:gd name="adj" fmla="val 4316"/>
            </a:avLst>
          </a:prstGeom>
          <a:solidFill>
            <a:srgbClr val="FFFFFF"/>
          </a:solidFill>
          <a:ln w="15240">
            <a:solidFill>
              <a:srgbClr val="DC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53400" y="2108200"/>
            <a:ext cx="3530600" cy="88900"/>
          </a:xfrm>
          <a:prstGeom prst="rect">
            <a:avLst/>
          </a:prstGeom>
          <a:solidFill>
            <a:srgbClr val="C86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495770" y="2516716"/>
            <a:ext cx="341312" cy="398197"/>
          </a:xfrm>
          <a:prstGeom prst="roundRect">
            <a:avLst>
              <a:gd name="adj" fmla="val 13333"/>
            </a:avLst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575410" y="2471208"/>
            <a:ext cx="170656" cy="910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8563991" y="2619121"/>
            <a:ext cx="136525" cy="91059"/>
          </a:xfrm>
          <a:custGeom>
            <a:avLst/>
            <a:gdLst/>
            <a:ahLst/>
            <a:cxnLst/>
            <a:rect l="l" t="t" r="r" b="b"/>
            <a:pathLst>
              <a:path w="1075" h="717">
                <a:moveTo>
                  <a:pt x="0" y="358"/>
                </a:moveTo>
                <a:lnTo>
                  <a:pt x="359" y="717"/>
                </a:lnTo>
                <a:lnTo>
                  <a:pt x="1075" y="0"/>
                </a:lnTo>
              </a:path>
            </a:pathLst>
          </a:custGeom>
          <a:noFill/>
          <a:ln w="22754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8563991" y="2755646"/>
            <a:ext cx="136525" cy="91059"/>
          </a:xfrm>
          <a:custGeom>
            <a:avLst/>
            <a:gdLst/>
            <a:ahLst/>
            <a:cxnLst/>
            <a:rect l="l" t="t" r="r" b="b"/>
            <a:pathLst>
              <a:path w="1075" h="717">
                <a:moveTo>
                  <a:pt x="0" y="358"/>
                </a:moveTo>
                <a:lnTo>
                  <a:pt x="359" y="717"/>
                </a:lnTo>
                <a:lnTo>
                  <a:pt x="1075" y="0"/>
                </a:lnTo>
              </a:path>
            </a:pathLst>
          </a:custGeom>
          <a:noFill/>
          <a:ln w="22754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8734679" y="2687320"/>
            <a:ext cx="45466" cy="0"/>
          </a:xfrm>
          <a:custGeom>
            <a:avLst/>
            <a:gdLst/>
            <a:ahLst/>
            <a:cxnLst/>
            <a:rect l="l" t="t" r="r" b="b"/>
            <a:pathLst>
              <a:path w="358" h="0">
                <a:moveTo>
                  <a:pt x="0" y="0"/>
                </a:moveTo>
                <a:lnTo>
                  <a:pt x="358" y="0"/>
                </a:lnTo>
              </a:path>
            </a:pathLst>
          </a:custGeom>
          <a:noFill/>
          <a:ln w="17065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8734679" y="2823845"/>
            <a:ext cx="45466" cy="0"/>
          </a:xfrm>
          <a:custGeom>
            <a:avLst/>
            <a:gdLst/>
            <a:ahLst/>
            <a:cxnLst/>
            <a:rect l="l" t="t" r="r" b="b"/>
            <a:pathLst>
              <a:path w="358" h="0">
                <a:moveTo>
                  <a:pt x="0" y="0"/>
                </a:moveTo>
                <a:lnTo>
                  <a:pt x="358" y="0"/>
                </a:lnTo>
              </a:path>
            </a:pathLst>
          </a:custGeom>
          <a:noFill/>
          <a:ln w="17065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474200" y="2463800"/>
            <a:ext cx="1981200" cy="342900"/>
          </a:xfrm>
          <a:prstGeom prst="roundRect">
            <a:avLst>
              <a:gd name="adj" fmla="val 48148"/>
            </a:avLst>
          </a:prstGeom>
          <a:solidFill>
            <a:srgbClr val="FF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"/>
          <p:cNvSpPr txBox="1"/>
          <p:nvPr/>
        </p:nvSpPr>
        <p:spPr>
          <a:xfrm>
            <a:off x="9588500" y="2527300"/>
            <a:ext cx="1752600" cy="2225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552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AC4E16"/>
                </a:solidFill>
                <a:latin typeface="Microsoft JhengHei"/>
              </a:defRPr>
            </a:pPr>
            <a:r>
              <a:t>POC 待驗證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8382000" y="3225800"/>
            <a:ext cx="3098800" cy="402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8394B"/>
                </a:solidFill>
                <a:latin typeface="Microsoft JhengHei"/>
              </a:defRPr>
            </a:pPr>
            <a:r>
              <a:t>POC 待驗證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382000" y="3848100"/>
            <a:ext cx="3073400" cy="6083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94B"/>
                </a:solidFill>
                <a:latin typeface="Microsoft JhengHei"/>
              </a:defRPr>
            </a:pPr>
            <a:r>
              <a:t>GitLab 串接、Agent 權限與放</a:t>
            </a:r>
          </a:p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94B"/>
                </a:solidFill>
                <a:latin typeface="Microsoft JhengHei"/>
              </a:defRPr>
            </a:pPr>
            <a:r>
              <a:t>行前禁止送檔。</a:t>
            </a:r>
          </a:p>
        </p:txBody>
      </p:sp>
      <p:sp>
        <p:nvSpPr>
          <p:cNvPr id="48" name="Text"/>
          <p:cNvSpPr txBox="1"/>
          <p:nvPr/>
        </p:nvSpPr>
        <p:spPr>
          <a:xfrm>
            <a:off x="8382000" y="4659630"/>
            <a:ext cx="3073400" cy="6083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94B"/>
                </a:solidFill>
                <a:latin typeface="Microsoft JhengHei"/>
              </a:defRPr>
            </a:pPr>
            <a:r>
              <a:t>F5 隔離、人工確認、備份還原</a:t>
            </a:r>
          </a:p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94B"/>
                </a:solidFill>
                <a:latin typeface="Microsoft JhengHei"/>
              </a:defRPr>
            </a:pPr>
            <a:r>
              <a:t>及失敗停止；含失聯例外。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規劃架構：從提交程式碼到多機換版與復原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規劃架構：從提交程式碼到多機換版與復原</a:t>
            </a:r>
          </a:p>
        </p:txBody>
      </p:sp>
      <p:pic>
        <p:nvPicPr>
          <p:cNvPr id="3" name="Picture 2" descr="Windows 正式部署端到端架構：開發人員提交 GitLab，Runner 建置測試；成功後透過串接通知 ADO，管理側下載並保存可選版本，部署人員選版、選目標並放行，由多台 Windows Target 的 Agent 執行；下方展開 F5 換版與復原流程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規劃做法：不同分支可有不同 CI/CD 與換版方式"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"/>
          <p:cNvSpPr txBox="1"/>
          <p:nvPr/>
        </p:nvSpPr>
        <p:spPr>
          <a:xfrm>
            <a:off x="457200" y="241300"/>
            <a:ext cx="7810500" cy="2054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0786F"/>
                </a:solidFill>
                <a:latin typeface="Microsoft JhengHei"/>
              </a:defRPr>
            </a:pPr>
            <a:r>
              <a:t>WINDOWS  /  DEPLOYMENT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28200" y="190500"/>
            <a:ext cx="2006600" cy="342900"/>
          </a:xfrm>
          <a:prstGeom prst="roundRect">
            <a:avLst>
              <a:gd name="adj" fmla="val 48148"/>
            </a:avLst>
          </a:prstGeom>
          <a:solidFill>
            <a:srgbClr val="EE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"/>
          <p:cNvSpPr txBox="1"/>
          <p:nvPr/>
        </p:nvSpPr>
        <p:spPr>
          <a:xfrm>
            <a:off x="9842500" y="254000"/>
            <a:ext cx="1778000" cy="2225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552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8394B"/>
                </a:solidFill>
                <a:latin typeface="Microsoft JhengHei"/>
              </a:defRPr>
            </a:pPr>
            <a:r>
              <a:t>06  /  分支與環境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749300"/>
            <a:ext cx="11277600" cy="522605"/>
          </a:xfrm>
        </p:spPr>
        <p:txBody>
          <a:bodyPr lIns="0" rIns="0" tIns="0" bIns="0" wrap="none" anchor="t"/>
          <a:lstStyle/>
          <a:p>
            <a:pPr algn="l">
              <a:lnSpc>
                <a:spcPts val="391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94B"/>
                </a:solidFill>
                <a:latin typeface="Microsoft JhengHei"/>
              </a:defRPr>
            </a:pPr>
            <a:r>
              <a:t>不同 branch，各走合適的部署路線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457200" y="1320800"/>
            <a:ext cx="11277600" cy="3082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506B77"/>
                </a:solidFill>
                <a:latin typeface="Microsoft JhengHei"/>
              </a:defRPr>
            </a:pPr>
            <a:r>
              <a:t>規劃示意／待 POC：各分支各自建置；正式部署仍須授權。</a:t>
            </a:r>
          </a:p>
        </p:txBody>
      </p:sp>
      <p:sp>
        <p:nvSpPr>
          <p:cNvPr id="8" name="Freeform 7"/>
          <p:cNvSpPr/>
          <p:nvPr/>
        </p:nvSpPr>
        <p:spPr>
          <a:xfrm>
            <a:off x="457200" y="6413500"/>
            <a:ext cx="11277600" cy="0"/>
          </a:xfrm>
          <a:custGeom>
            <a:avLst/>
            <a:gdLst/>
            <a:ahLst/>
            <a:cxnLst/>
            <a:rect l="l" t="t" r="r" b="b"/>
            <a:pathLst>
              <a:path w="88800" h="0">
                <a:moveTo>
                  <a:pt x="0" y="0"/>
                </a:moveTo>
                <a:lnTo>
                  <a:pt x="88800" y="0"/>
                </a:lnTo>
              </a:path>
            </a:pathLst>
          </a:custGeom>
          <a:noFill/>
          <a:ln w="10160" cap="rnd">
            <a:solidFill>
              <a:srgbClr val="DCE4E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457200" y="6553200"/>
            <a:ext cx="10033000" cy="188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82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506B77"/>
                </a:solidFill>
                <a:latin typeface="Microsoft JhengHei"/>
              </a:defRPr>
            </a:pPr>
            <a:r>
              <a:t>JOURNEY EDITION  /  規劃提案 · 尚未完成實作／POC 驗證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0972800" y="6527800"/>
            <a:ext cx="762000" cy="2139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06B77"/>
                </a:solidFill>
                <a:latin typeface="Microsoft JhengHei"/>
              </a:defRPr>
            </a:pPr>
            <a:r>
              <a:t>07 / 09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60400" y="1917700"/>
            <a:ext cx="3225800" cy="282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506B77"/>
                </a:solidFill>
                <a:latin typeface="Microsoft JhengHei"/>
              </a:defRPr>
            </a:pPr>
            <a:r>
              <a:t>來源分支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4381500" y="1917700"/>
            <a:ext cx="2146300" cy="282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506B77"/>
                </a:solidFill>
                <a:latin typeface="Microsoft JhengHei"/>
              </a:defRPr>
            </a:pPr>
            <a:r>
              <a:t>觸發與策略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7061200" y="1917700"/>
            <a:ext cx="3073400" cy="282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506B77"/>
                </a:solidFill>
                <a:latin typeface="Microsoft JhengHei"/>
              </a:defRPr>
            </a:pPr>
            <a:r>
              <a:t>執行者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10325100" y="1917700"/>
            <a:ext cx="1397000" cy="282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506B77"/>
                </a:solidFill>
                <a:latin typeface="Microsoft JhengHei"/>
              </a:defRPr>
            </a:pPr>
            <a:r>
              <a:t>目標環境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8000" y="2324100"/>
            <a:ext cx="11176000" cy="927100"/>
          </a:xfrm>
          <a:prstGeom prst="roundRect">
            <a:avLst>
              <a:gd name="adj" fmla="val 16438"/>
            </a:avLst>
          </a:prstGeom>
          <a:solidFill>
            <a:srgbClr val="EA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863600" y="2921000"/>
            <a:ext cx="10160000" cy="76200"/>
          </a:xfrm>
          <a:custGeom>
            <a:avLst/>
            <a:gdLst/>
            <a:ahLst/>
            <a:cxnLst/>
            <a:rect l="l" t="t" r="r" b="b"/>
            <a:pathLst>
              <a:path w="80000" h="600">
                <a:moveTo>
                  <a:pt x="0" y="600"/>
                </a:moveTo>
                <a:lnTo>
                  <a:pt x="1254" y="600"/>
                </a:lnTo>
                <a:lnTo>
                  <a:pt x="2416" y="600"/>
                </a:lnTo>
                <a:lnTo>
                  <a:pt x="3496" y="600"/>
                </a:lnTo>
                <a:lnTo>
                  <a:pt x="4501" y="600"/>
                </a:lnTo>
                <a:lnTo>
                  <a:pt x="5439" y="600"/>
                </a:lnTo>
                <a:lnTo>
                  <a:pt x="6320" y="600"/>
                </a:lnTo>
                <a:lnTo>
                  <a:pt x="7151" y="600"/>
                </a:lnTo>
                <a:lnTo>
                  <a:pt x="7941" y="600"/>
                </a:lnTo>
                <a:lnTo>
                  <a:pt x="8697" y="600"/>
                </a:lnTo>
                <a:lnTo>
                  <a:pt x="9428" y="600"/>
                </a:lnTo>
                <a:lnTo>
                  <a:pt x="10143" y="600"/>
                </a:lnTo>
                <a:lnTo>
                  <a:pt x="10850" y="600"/>
                </a:lnTo>
                <a:lnTo>
                  <a:pt x="11557" y="600"/>
                </a:lnTo>
                <a:lnTo>
                  <a:pt x="12272" y="600"/>
                </a:lnTo>
                <a:lnTo>
                  <a:pt x="13003" y="600"/>
                </a:lnTo>
                <a:lnTo>
                  <a:pt x="13759" y="600"/>
                </a:lnTo>
                <a:lnTo>
                  <a:pt x="14549" y="600"/>
                </a:lnTo>
                <a:lnTo>
                  <a:pt x="15380" y="600"/>
                </a:lnTo>
                <a:lnTo>
                  <a:pt x="16261" y="600"/>
                </a:lnTo>
                <a:lnTo>
                  <a:pt x="17199" y="600"/>
                </a:lnTo>
                <a:lnTo>
                  <a:pt x="18204" y="600"/>
                </a:lnTo>
                <a:lnTo>
                  <a:pt x="19284" y="600"/>
                </a:lnTo>
                <a:lnTo>
                  <a:pt x="20446" y="600"/>
                </a:lnTo>
                <a:lnTo>
                  <a:pt x="21700" y="600"/>
                </a:lnTo>
                <a:lnTo>
                  <a:pt x="21937" y="597"/>
                </a:lnTo>
                <a:lnTo>
                  <a:pt x="22157" y="588"/>
                </a:lnTo>
                <a:lnTo>
                  <a:pt x="22360" y="574"/>
                </a:lnTo>
                <a:lnTo>
                  <a:pt x="22550" y="556"/>
                </a:lnTo>
                <a:lnTo>
                  <a:pt x="22728" y="533"/>
                </a:lnTo>
                <a:lnTo>
                  <a:pt x="22894" y="506"/>
                </a:lnTo>
                <a:lnTo>
                  <a:pt x="23051" y="477"/>
                </a:lnTo>
                <a:lnTo>
                  <a:pt x="23200" y="444"/>
                </a:lnTo>
                <a:lnTo>
                  <a:pt x="23343" y="410"/>
                </a:lnTo>
                <a:lnTo>
                  <a:pt x="23481" y="374"/>
                </a:lnTo>
                <a:lnTo>
                  <a:pt x="23616" y="337"/>
                </a:lnTo>
                <a:lnTo>
                  <a:pt x="23750" y="300"/>
                </a:lnTo>
                <a:lnTo>
                  <a:pt x="23884" y="263"/>
                </a:lnTo>
                <a:lnTo>
                  <a:pt x="24019" y="226"/>
                </a:lnTo>
                <a:lnTo>
                  <a:pt x="24157" y="190"/>
                </a:lnTo>
                <a:lnTo>
                  <a:pt x="24300" y="156"/>
                </a:lnTo>
                <a:lnTo>
                  <a:pt x="24449" y="123"/>
                </a:lnTo>
                <a:lnTo>
                  <a:pt x="24606" y="94"/>
                </a:lnTo>
                <a:lnTo>
                  <a:pt x="24772" y="67"/>
                </a:lnTo>
                <a:lnTo>
                  <a:pt x="24950" y="44"/>
                </a:lnTo>
                <a:lnTo>
                  <a:pt x="25140" y="26"/>
                </a:lnTo>
                <a:lnTo>
                  <a:pt x="25343" y="12"/>
                </a:lnTo>
                <a:lnTo>
                  <a:pt x="25563" y="3"/>
                </a:lnTo>
                <a:lnTo>
                  <a:pt x="25800" y="0"/>
                </a:lnTo>
                <a:lnTo>
                  <a:pt x="28931" y="0"/>
                </a:lnTo>
                <a:lnTo>
                  <a:pt x="31835" y="0"/>
                </a:lnTo>
                <a:lnTo>
                  <a:pt x="34531" y="0"/>
                </a:lnTo>
                <a:lnTo>
                  <a:pt x="37041" y="0"/>
                </a:lnTo>
                <a:lnTo>
                  <a:pt x="39386" y="0"/>
                </a:lnTo>
                <a:lnTo>
                  <a:pt x="41586" y="0"/>
                </a:lnTo>
                <a:lnTo>
                  <a:pt x="43661" y="0"/>
                </a:lnTo>
                <a:lnTo>
                  <a:pt x="45633" y="0"/>
                </a:lnTo>
                <a:lnTo>
                  <a:pt x="47522" y="0"/>
                </a:lnTo>
                <a:lnTo>
                  <a:pt x="49349" y="0"/>
                </a:lnTo>
                <a:lnTo>
                  <a:pt x="51135" y="0"/>
                </a:lnTo>
                <a:lnTo>
                  <a:pt x="52900" y="0"/>
                </a:lnTo>
                <a:lnTo>
                  <a:pt x="54665" y="0"/>
                </a:lnTo>
                <a:lnTo>
                  <a:pt x="56451" y="0"/>
                </a:lnTo>
                <a:lnTo>
                  <a:pt x="58278" y="0"/>
                </a:lnTo>
                <a:lnTo>
                  <a:pt x="60167" y="0"/>
                </a:lnTo>
                <a:lnTo>
                  <a:pt x="62139" y="0"/>
                </a:lnTo>
                <a:lnTo>
                  <a:pt x="64214" y="0"/>
                </a:lnTo>
                <a:lnTo>
                  <a:pt x="66414" y="0"/>
                </a:lnTo>
                <a:lnTo>
                  <a:pt x="68759" y="0"/>
                </a:lnTo>
                <a:lnTo>
                  <a:pt x="71269" y="0"/>
                </a:lnTo>
                <a:lnTo>
                  <a:pt x="73965" y="0"/>
                </a:lnTo>
                <a:lnTo>
                  <a:pt x="76869" y="0"/>
                </a:lnTo>
                <a:lnTo>
                  <a:pt x="80000" y="0"/>
                </a:lnTo>
              </a:path>
            </a:pathLst>
          </a:custGeom>
          <a:noFill/>
          <a:ln w="88900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863600" y="2921000"/>
            <a:ext cx="10160000" cy="76200"/>
          </a:xfrm>
          <a:custGeom>
            <a:avLst/>
            <a:gdLst/>
            <a:ahLst/>
            <a:cxnLst/>
            <a:rect l="l" t="t" r="r" b="b"/>
            <a:pathLst>
              <a:path w="80000" h="600">
                <a:moveTo>
                  <a:pt x="0" y="600"/>
                </a:moveTo>
                <a:lnTo>
                  <a:pt x="1254" y="600"/>
                </a:lnTo>
                <a:lnTo>
                  <a:pt x="2416" y="600"/>
                </a:lnTo>
                <a:lnTo>
                  <a:pt x="3496" y="600"/>
                </a:lnTo>
                <a:lnTo>
                  <a:pt x="4501" y="600"/>
                </a:lnTo>
                <a:lnTo>
                  <a:pt x="5439" y="600"/>
                </a:lnTo>
                <a:lnTo>
                  <a:pt x="6320" y="600"/>
                </a:lnTo>
                <a:lnTo>
                  <a:pt x="7151" y="600"/>
                </a:lnTo>
                <a:lnTo>
                  <a:pt x="7941" y="600"/>
                </a:lnTo>
                <a:lnTo>
                  <a:pt x="8697" y="600"/>
                </a:lnTo>
                <a:lnTo>
                  <a:pt x="9428" y="600"/>
                </a:lnTo>
                <a:lnTo>
                  <a:pt x="10143" y="600"/>
                </a:lnTo>
                <a:lnTo>
                  <a:pt x="10850" y="600"/>
                </a:lnTo>
                <a:lnTo>
                  <a:pt x="11557" y="600"/>
                </a:lnTo>
                <a:lnTo>
                  <a:pt x="12272" y="600"/>
                </a:lnTo>
                <a:lnTo>
                  <a:pt x="13003" y="600"/>
                </a:lnTo>
                <a:lnTo>
                  <a:pt x="13759" y="600"/>
                </a:lnTo>
                <a:lnTo>
                  <a:pt x="14549" y="600"/>
                </a:lnTo>
                <a:lnTo>
                  <a:pt x="15380" y="600"/>
                </a:lnTo>
                <a:lnTo>
                  <a:pt x="16261" y="600"/>
                </a:lnTo>
                <a:lnTo>
                  <a:pt x="17199" y="600"/>
                </a:lnTo>
                <a:lnTo>
                  <a:pt x="18204" y="600"/>
                </a:lnTo>
                <a:lnTo>
                  <a:pt x="19284" y="600"/>
                </a:lnTo>
                <a:lnTo>
                  <a:pt x="20446" y="600"/>
                </a:lnTo>
                <a:lnTo>
                  <a:pt x="21700" y="600"/>
                </a:lnTo>
                <a:lnTo>
                  <a:pt x="21937" y="597"/>
                </a:lnTo>
                <a:lnTo>
                  <a:pt x="22157" y="588"/>
                </a:lnTo>
                <a:lnTo>
                  <a:pt x="22360" y="574"/>
                </a:lnTo>
                <a:lnTo>
                  <a:pt x="22550" y="556"/>
                </a:lnTo>
                <a:lnTo>
                  <a:pt x="22728" y="533"/>
                </a:lnTo>
                <a:lnTo>
                  <a:pt x="22894" y="506"/>
                </a:lnTo>
                <a:lnTo>
                  <a:pt x="23051" y="477"/>
                </a:lnTo>
                <a:lnTo>
                  <a:pt x="23200" y="444"/>
                </a:lnTo>
                <a:lnTo>
                  <a:pt x="23343" y="410"/>
                </a:lnTo>
                <a:lnTo>
                  <a:pt x="23481" y="374"/>
                </a:lnTo>
                <a:lnTo>
                  <a:pt x="23616" y="337"/>
                </a:lnTo>
                <a:lnTo>
                  <a:pt x="23750" y="300"/>
                </a:lnTo>
                <a:lnTo>
                  <a:pt x="23884" y="263"/>
                </a:lnTo>
                <a:lnTo>
                  <a:pt x="24019" y="226"/>
                </a:lnTo>
                <a:lnTo>
                  <a:pt x="24157" y="190"/>
                </a:lnTo>
                <a:lnTo>
                  <a:pt x="24300" y="156"/>
                </a:lnTo>
                <a:lnTo>
                  <a:pt x="24449" y="123"/>
                </a:lnTo>
                <a:lnTo>
                  <a:pt x="24606" y="94"/>
                </a:lnTo>
                <a:lnTo>
                  <a:pt x="24772" y="67"/>
                </a:lnTo>
                <a:lnTo>
                  <a:pt x="24950" y="44"/>
                </a:lnTo>
                <a:lnTo>
                  <a:pt x="25140" y="26"/>
                </a:lnTo>
                <a:lnTo>
                  <a:pt x="25343" y="12"/>
                </a:lnTo>
                <a:lnTo>
                  <a:pt x="25563" y="3"/>
                </a:lnTo>
                <a:lnTo>
                  <a:pt x="25800" y="0"/>
                </a:lnTo>
                <a:lnTo>
                  <a:pt x="28931" y="0"/>
                </a:lnTo>
                <a:lnTo>
                  <a:pt x="31835" y="0"/>
                </a:lnTo>
                <a:lnTo>
                  <a:pt x="34531" y="0"/>
                </a:lnTo>
                <a:lnTo>
                  <a:pt x="37041" y="0"/>
                </a:lnTo>
                <a:lnTo>
                  <a:pt x="39386" y="0"/>
                </a:lnTo>
                <a:lnTo>
                  <a:pt x="41586" y="0"/>
                </a:lnTo>
                <a:lnTo>
                  <a:pt x="43661" y="0"/>
                </a:lnTo>
                <a:lnTo>
                  <a:pt x="45633" y="0"/>
                </a:lnTo>
                <a:lnTo>
                  <a:pt x="47522" y="0"/>
                </a:lnTo>
                <a:lnTo>
                  <a:pt x="49349" y="0"/>
                </a:lnTo>
                <a:lnTo>
                  <a:pt x="51135" y="0"/>
                </a:lnTo>
                <a:lnTo>
                  <a:pt x="52900" y="0"/>
                </a:lnTo>
                <a:lnTo>
                  <a:pt x="54665" y="0"/>
                </a:lnTo>
                <a:lnTo>
                  <a:pt x="56451" y="0"/>
                </a:lnTo>
                <a:lnTo>
                  <a:pt x="58278" y="0"/>
                </a:lnTo>
                <a:lnTo>
                  <a:pt x="60167" y="0"/>
                </a:lnTo>
                <a:lnTo>
                  <a:pt x="62139" y="0"/>
                </a:lnTo>
                <a:lnTo>
                  <a:pt x="64214" y="0"/>
                </a:lnTo>
                <a:lnTo>
                  <a:pt x="66414" y="0"/>
                </a:lnTo>
                <a:lnTo>
                  <a:pt x="68759" y="0"/>
                </a:lnTo>
                <a:lnTo>
                  <a:pt x="71269" y="0"/>
                </a:lnTo>
                <a:lnTo>
                  <a:pt x="73965" y="0"/>
                </a:lnTo>
                <a:lnTo>
                  <a:pt x="76869" y="0"/>
                </a:lnTo>
                <a:lnTo>
                  <a:pt x="80000" y="0"/>
                </a:lnTo>
              </a:path>
            </a:pathLst>
          </a:custGeom>
          <a:noFill/>
          <a:ln w="13970" cap="rnd">
            <a:solidFill>
              <a:srgbClr val="FFFF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8000" y="3429000"/>
            <a:ext cx="11176000" cy="927100"/>
          </a:xfrm>
          <a:prstGeom prst="roundRect">
            <a:avLst>
              <a:gd name="adj" fmla="val 16438"/>
            </a:avLst>
          </a:prstGeom>
          <a:solidFill>
            <a:srgbClr val="E6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863600" y="4025900"/>
            <a:ext cx="10160000" cy="76200"/>
          </a:xfrm>
          <a:custGeom>
            <a:avLst/>
            <a:gdLst/>
            <a:ahLst/>
            <a:cxnLst/>
            <a:rect l="l" t="t" r="r" b="b"/>
            <a:pathLst>
              <a:path w="80000" h="600">
                <a:moveTo>
                  <a:pt x="0" y="600"/>
                </a:moveTo>
                <a:lnTo>
                  <a:pt x="1254" y="600"/>
                </a:lnTo>
                <a:lnTo>
                  <a:pt x="2416" y="600"/>
                </a:lnTo>
                <a:lnTo>
                  <a:pt x="3496" y="600"/>
                </a:lnTo>
                <a:lnTo>
                  <a:pt x="4501" y="600"/>
                </a:lnTo>
                <a:lnTo>
                  <a:pt x="5439" y="600"/>
                </a:lnTo>
                <a:lnTo>
                  <a:pt x="6320" y="600"/>
                </a:lnTo>
                <a:lnTo>
                  <a:pt x="7151" y="600"/>
                </a:lnTo>
                <a:lnTo>
                  <a:pt x="7941" y="600"/>
                </a:lnTo>
                <a:lnTo>
                  <a:pt x="8697" y="600"/>
                </a:lnTo>
                <a:lnTo>
                  <a:pt x="9428" y="600"/>
                </a:lnTo>
                <a:lnTo>
                  <a:pt x="10143" y="600"/>
                </a:lnTo>
                <a:lnTo>
                  <a:pt x="10850" y="600"/>
                </a:lnTo>
                <a:lnTo>
                  <a:pt x="11557" y="600"/>
                </a:lnTo>
                <a:lnTo>
                  <a:pt x="12272" y="600"/>
                </a:lnTo>
                <a:lnTo>
                  <a:pt x="13003" y="600"/>
                </a:lnTo>
                <a:lnTo>
                  <a:pt x="13759" y="600"/>
                </a:lnTo>
                <a:lnTo>
                  <a:pt x="14549" y="600"/>
                </a:lnTo>
                <a:lnTo>
                  <a:pt x="15380" y="600"/>
                </a:lnTo>
                <a:lnTo>
                  <a:pt x="16261" y="600"/>
                </a:lnTo>
                <a:lnTo>
                  <a:pt x="17199" y="600"/>
                </a:lnTo>
                <a:lnTo>
                  <a:pt x="18204" y="600"/>
                </a:lnTo>
                <a:lnTo>
                  <a:pt x="19284" y="600"/>
                </a:lnTo>
                <a:lnTo>
                  <a:pt x="20446" y="600"/>
                </a:lnTo>
                <a:lnTo>
                  <a:pt x="21700" y="600"/>
                </a:lnTo>
                <a:lnTo>
                  <a:pt x="21937" y="597"/>
                </a:lnTo>
                <a:lnTo>
                  <a:pt x="22157" y="588"/>
                </a:lnTo>
                <a:lnTo>
                  <a:pt x="22360" y="574"/>
                </a:lnTo>
                <a:lnTo>
                  <a:pt x="22550" y="556"/>
                </a:lnTo>
                <a:lnTo>
                  <a:pt x="22728" y="533"/>
                </a:lnTo>
                <a:lnTo>
                  <a:pt x="22894" y="506"/>
                </a:lnTo>
                <a:lnTo>
                  <a:pt x="23051" y="477"/>
                </a:lnTo>
                <a:lnTo>
                  <a:pt x="23200" y="444"/>
                </a:lnTo>
                <a:lnTo>
                  <a:pt x="23343" y="410"/>
                </a:lnTo>
                <a:lnTo>
                  <a:pt x="23481" y="374"/>
                </a:lnTo>
                <a:lnTo>
                  <a:pt x="23616" y="337"/>
                </a:lnTo>
                <a:lnTo>
                  <a:pt x="23750" y="300"/>
                </a:lnTo>
                <a:lnTo>
                  <a:pt x="23884" y="263"/>
                </a:lnTo>
                <a:lnTo>
                  <a:pt x="24019" y="226"/>
                </a:lnTo>
                <a:lnTo>
                  <a:pt x="24157" y="190"/>
                </a:lnTo>
                <a:lnTo>
                  <a:pt x="24300" y="156"/>
                </a:lnTo>
                <a:lnTo>
                  <a:pt x="24449" y="123"/>
                </a:lnTo>
                <a:lnTo>
                  <a:pt x="24606" y="94"/>
                </a:lnTo>
                <a:lnTo>
                  <a:pt x="24772" y="67"/>
                </a:lnTo>
                <a:lnTo>
                  <a:pt x="24950" y="44"/>
                </a:lnTo>
                <a:lnTo>
                  <a:pt x="25140" y="26"/>
                </a:lnTo>
                <a:lnTo>
                  <a:pt x="25343" y="12"/>
                </a:lnTo>
                <a:lnTo>
                  <a:pt x="25563" y="3"/>
                </a:lnTo>
                <a:lnTo>
                  <a:pt x="25800" y="0"/>
                </a:lnTo>
                <a:lnTo>
                  <a:pt x="28931" y="0"/>
                </a:lnTo>
                <a:lnTo>
                  <a:pt x="31835" y="0"/>
                </a:lnTo>
                <a:lnTo>
                  <a:pt x="34531" y="0"/>
                </a:lnTo>
                <a:lnTo>
                  <a:pt x="37041" y="0"/>
                </a:lnTo>
                <a:lnTo>
                  <a:pt x="39386" y="0"/>
                </a:lnTo>
                <a:lnTo>
                  <a:pt x="41586" y="0"/>
                </a:lnTo>
                <a:lnTo>
                  <a:pt x="43661" y="0"/>
                </a:lnTo>
                <a:lnTo>
                  <a:pt x="45633" y="0"/>
                </a:lnTo>
                <a:lnTo>
                  <a:pt x="47522" y="0"/>
                </a:lnTo>
                <a:lnTo>
                  <a:pt x="49349" y="0"/>
                </a:lnTo>
                <a:lnTo>
                  <a:pt x="51135" y="0"/>
                </a:lnTo>
                <a:lnTo>
                  <a:pt x="52900" y="0"/>
                </a:lnTo>
                <a:lnTo>
                  <a:pt x="54665" y="0"/>
                </a:lnTo>
                <a:lnTo>
                  <a:pt x="56451" y="0"/>
                </a:lnTo>
                <a:lnTo>
                  <a:pt x="58278" y="0"/>
                </a:lnTo>
                <a:lnTo>
                  <a:pt x="60167" y="0"/>
                </a:lnTo>
                <a:lnTo>
                  <a:pt x="62139" y="0"/>
                </a:lnTo>
                <a:lnTo>
                  <a:pt x="64214" y="0"/>
                </a:lnTo>
                <a:lnTo>
                  <a:pt x="66414" y="0"/>
                </a:lnTo>
                <a:lnTo>
                  <a:pt x="68759" y="0"/>
                </a:lnTo>
                <a:lnTo>
                  <a:pt x="71269" y="0"/>
                </a:lnTo>
                <a:lnTo>
                  <a:pt x="73965" y="0"/>
                </a:lnTo>
                <a:lnTo>
                  <a:pt x="76869" y="0"/>
                </a:lnTo>
                <a:lnTo>
                  <a:pt x="80000" y="0"/>
                </a:lnTo>
              </a:path>
            </a:pathLst>
          </a:custGeom>
          <a:noFill/>
          <a:ln w="88900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863600" y="4025900"/>
            <a:ext cx="10160000" cy="76200"/>
          </a:xfrm>
          <a:custGeom>
            <a:avLst/>
            <a:gdLst/>
            <a:ahLst/>
            <a:cxnLst/>
            <a:rect l="l" t="t" r="r" b="b"/>
            <a:pathLst>
              <a:path w="80000" h="600">
                <a:moveTo>
                  <a:pt x="0" y="600"/>
                </a:moveTo>
                <a:lnTo>
                  <a:pt x="1254" y="600"/>
                </a:lnTo>
                <a:lnTo>
                  <a:pt x="2416" y="600"/>
                </a:lnTo>
                <a:lnTo>
                  <a:pt x="3496" y="600"/>
                </a:lnTo>
                <a:lnTo>
                  <a:pt x="4501" y="600"/>
                </a:lnTo>
                <a:lnTo>
                  <a:pt x="5439" y="600"/>
                </a:lnTo>
                <a:lnTo>
                  <a:pt x="6320" y="600"/>
                </a:lnTo>
                <a:lnTo>
                  <a:pt x="7151" y="600"/>
                </a:lnTo>
                <a:lnTo>
                  <a:pt x="7941" y="600"/>
                </a:lnTo>
                <a:lnTo>
                  <a:pt x="8697" y="600"/>
                </a:lnTo>
                <a:lnTo>
                  <a:pt x="9428" y="600"/>
                </a:lnTo>
                <a:lnTo>
                  <a:pt x="10143" y="600"/>
                </a:lnTo>
                <a:lnTo>
                  <a:pt x="10850" y="600"/>
                </a:lnTo>
                <a:lnTo>
                  <a:pt x="11557" y="600"/>
                </a:lnTo>
                <a:lnTo>
                  <a:pt x="12272" y="600"/>
                </a:lnTo>
                <a:lnTo>
                  <a:pt x="13003" y="600"/>
                </a:lnTo>
                <a:lnTo>
                  <a:pt x="13759" y="600"/>
                </a:lnTo>
                <a:lnTo>
                  <a:pt x="14549" y="600"/>
                </a:lnTo>
                <a:lnTo>
                  <a:pt x="15380" y="600"/>
                </a:lnTo>
                <a:lnTo>
                  <a:pt x="16261" y="600"/>
                </a:lnTo>
                <a:lnTo>
                  <a:pt x="17199" y="600"/>
                </a:lnTo>
                <a:lnTo>
                  <a:pt x="18204" y="600"/>
                </a:lnTo>
                <a:lnTo>
                  <a:pt x="19284" y="600"/>
                </a:lnTo>
                <a:lnTo>
                  <a:pt x="20446" y="600"/>
                </a:lnTo>
                <a:lnTo>
                  <a:pt x="21700" y="600"/>
                </a:lnTo>
                <a:lnTo>
                  <a:pt x="21937" y="597"/>
                </a:lnTo>
                <a:lnTo>
                  <a:pt x="22157" y="588"/>
                </a:lnTo>
                <a:lnTo>
                  <a:pt x="22360" y="574"/>
                </a:lnTo>
                <a:lnTo>
                  <a:pt x="22550" y="556"/>
                </a:lnTo>
                <a:lnTo>
                  <a:pt x="22728" y="533"/>
                </a:lnTo>
                <a:lnTo>
                  <a:pt x="22894" y="506"/>
                </a:lnTo>
                <a:lnTo>
                  <a:pt x="23051" y="477"/>
                </a:lnTo>
                <a:lnTo>
                  <a:pt x="23200" y="444"/>
                </a:lnTo>
                <a:lnTo>
                  <a:pt x="23343" y="410"/>
                </a:lnTo>
                <a:lnTo>
                  <a:pt x="23481" y="374"/>
                </a:lnTo>
                <a:lnTo>
                  <a:pt x="23616" y="337"/>
                </a:lnTo>
                <a:lnTo>
                  <a:pt x="23750" y="300"/>
                </a:lnTo>
                <a:lnTo>
                  <a:pt x="23884" y="263"/>
                </a:lnTo>
                <a:lnTo>
                  <a:pt x="24019" y="226"/>
                </a:lnTo>
                <a:lnTo>
                  <a:pt x="24157" y="190"/>
                </a:lnTo>
                <a:lnTo>
                  <a:pt x="24300" y="156"/>
                </a:lnTo>
                <a:lnTo>
                  <a:pt x="24449" y="123"/>
                </a:lnTo>
                <a:lnTo>
                  <a:pt x="24606" y="94"/>
                </a:lnTo>
                <a:lnTo>
                  <a:pt x="24772" y="67"/>
                </a:lnTo>
                <a:lnTo>
                  <a:pt x="24950" y="44"/>
                </a:lnTo>
                <a:lnTo>
                  <a:pt x="25140" y="26"/>
                </a:lnTo>
                <a:lnTo>
                  <a:pt x="25343" y="12"/>
                </a:lnTo>
                <a:lnTo>
                  <a:pt x="25563" y="3"/>
                </a:lnTo>
                <a:lnTo>
                  <a:pt x="25800" y="0"/>
                </a:lnTo>
                <a:lnTo>
                  <a:pt x="28931" y="0"/>
                </a:lnTo>
                <a:lnTo>
                  <a:pt x="31835" y="0"/>
                </a:lnTo>
                <a:lnTo>
                  <a:pt x="34531" y="0"/>
                </a:lnTo>
                <a:lnTo>
                  <a:pt x="37041" y="0"/>
                </a:lnTo>
                <a:lnTo>
                  <a:pt x="39386" y="0"/>
                </a:lnTo>
                <a:lnTo>
                  <a:pt x="41586" y="0"/>
                </a:lnTo>
                <a:lnTo>
                  <a:pt x="43661" y="0"/>
                </a:lnTo>
                <a:lnTo>
                  <a:pt x="45633" y="0"/>
                </a:lnTo>
                <a:lnTo>
                  <a:pt x="47522" y="0"/>
                </a:lnTo>
                <a:lnTo>
                  <a:pt x="49349" y="0"/>
                </a:lnTo>
                <a:lnTo>
                  <a:pt x="51135" y="0"/>
                </a:lnTo>
                <a:lnTo>
                  <a:pt x="52900" y="0"/>
                </a:lnTo>
                <a:lnTo>
                  <a:pt x="54665" y="0"/>
                </a:lnTo>
                <a:lnTo>
                  <a:pt x="56451" y="0"/>
                </a:lnTo>
                <a:lnTo>
                  <a:pt x="58278" y="0"/>
                </a:lnTo>
                <a:lnTo>
                  <a:pt x="60167" y="0"/>
                </a:lnTo>
                <a:lnTo>
                  <a:pt x="62139" y="0"/>
                </a:lnTo>
                <a:lnTo>
                  <a:pt x="64214" y="0"/>
                </a:lnTo>
                <a:lnTo>
                  <a:pt x="66414" y="0"/>
                </a:lnTo>
                <a:lnTo>
                  <a:pt x="68759" y="0"/>
                </a:lnTo>
                <a:lnTo>
                  <a:pt x="71269" y="0"/>
                </a:lnTo>
                <a:lnTo>
                  <a:pt x="73965" y="0"/>
                </a:lnTo>
                <a:lnTo>
                  <a:pt x="76869" y="0"/>
                </a:lnTo>
                <a:lnTo>
                  <a:pt x="80000" y="0"/>
                </a:lnTo>
              </a:path>
            </a:pathLst>
          </a:custGeom>
          <a:noFill/>
          <a:ln w="13970" cap="rnd">
            <a:solidFill>
              <a:srgbClr val="FFFF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8000" y="4533900"/>
            <a:ext cx="11176000" cy="1270000"/>
          </a:xfrm>
          <a:prstGeom prst="roundRect">
            <a:avLst>
              <a:gd name="adj" fmla="val 12000"/>
            </a:avLst>
          </a:prstGeom>
          <a:solidFill>
            <a:srgbClr val="FF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863600" y="5461000"/>
            <a:ext cx="10160000" cy="76200"/>
          </a:xfrm>
          <a:custGeom>
            <a:avLst/>
            <a:gdLst/>
            <a:ahLst/>
            <a:cxnLst/>
            <a:rect l="l" t="t" r="r" b="b"/>
            <a:pathLst>
              <a:path w="80000" h="600">
                <a:moveTo>
                  <a:pt x="0" y="600"/>
                </a:moveTo>
                <a:lnTo>
                  <a:pt x="1254" y="600"/>
                </a:lnTo>
                <a:lnTo>
                  <a:pt x="2416" y="600"/>
                </a:lnTo>
                <a:lnTo>
                  <a:pt x="3496" y="600"/>
                </a:lnTo>
                <a:lnTo>
                  <a:pt x="4501" y="600"/>
                </a:lnTo>
                <a:lnTo>
                  <a:pt x="5439" y="600"/>
                </a:lnTo>
                <a:lnTo>
                  <a:pt x="6320" y="600"/>
                </a:lnTo>
                <a:lnTo>
                  <a:pt x="7151" y="600"/>
                </a:lnTo>
                <a:lnTo>
                  <a:pt x="7941" y="600"/>
                </a:lnTo>
                <a:lnTo>
                  <a:pt x="8697" y="600"/>
                </a:lnTo>
                <a:lnTo>
                  <a:pt x="9428" y="600"/>
                </a:lnTo>
                <a:lnTo>
                  <a:pt x="10143" y="600"/>
                </a:lnTo>
                <a:lnTo>
                  <a:pt x="10850" y="600"/>
                </a:lnTo>
                <a:lnTo>
                  <a:pt x="11557" y="600"/>
                </a:lnTo>
                <a:lnTo>
                  <a:pt x="12272" y="600"/>
                </a:lnTo>
                <a:lnTo>
                  <a:pt x="13003" y="600"/>
                </a:lnTo>
                <a:lnTo>
                  <a:pt x="13759" y="600"/>
                </a:lnTo>
                <a:lnTo>
                  <a:pt x="14549" y="600"/>
                </a:lnTo>
                <a:lnTo>
                  <a:pt x="15380" y="600"/>
                </a:lnTo>
                <a:lnTo>
                  <a:pt x="16261" y="600"/>
                </a:lnTo>
                <a:lnTo>
                  <a:pt x="17199" y="600"/>
                </a:lnTo>
                <a:lnTo>
                  <a:pt x="18204" y="600"/>
                </a:lnTo>
                <a:lnTo>
                  <a:pt x="19284" y="600"/>
                </a:lnTo>
                <a:lnTo>
                  <a:pt x="20446" y="600"/>
                </a:lnTo>
                <a:lnTo>
                  <a:pt x="21700" y="600"/>
                </a:lnTo>
                <a:lnTo>
                  <a:pt x="21937" y="597"/>
                </a:lnTo>
                <a:lnTo>
                  <a:pt x="22157" y="588"/>
                </a:lnTo>
                <a:lnTo>
                  <a:pt x="22360" y="574"/>
                </a:lnTo>
                <a:lnTo>
                  <a:pt x="22550" y="556"/>
                </a:lnTo>
                <a:lnTo>
                  <a:pt x="22728" y="533"/>
                </a:lnTo>
                <a:lnTo>
                  <a:pt x="22894" y="506"/>
                </a:lnTo>
                <a:lnTo>
                  <a:pt x="23051" y="477"/>
                </a:lnTo>
                <a:lnTo>
                  <a:pt x="23200" y="444"/>
                </a:lnTo>
                <a:lnTo>
                  <a:pt x="23343" y="410"/>
                </a:lnTo>
                <a:lnTo>
                  <a:pt x="23481" y="374"/>
                </a:lnTo>
                <a:lnTo>
                  <a:pt x="23616" y="337"/>
                </a:lnTo>
                <a:lnTo>
                  <a:pt x="23750" y="300"/>
                </a:lnTo>
                <a:lnTo>
                  <a:pt x="23884" y="263"/>
                </a:lnTo>
                <a:lnTo>
                  <a:pt x="24019" y="226"/>
                </a:lnTo>
                <a:lnTo>
                  <a:pt x="24157" y="190"/>
                </a:lnTo>
                <a:lnTo>
                  <a:pt x="24300" y="156"/>
                </a:lnTo>
                <a:lnTo>
                  <a:pt x="24449" y="123"/>
                </a:lnTo>
                <a:lnTo>
                  <a:pt x="24606" y="94"/>
                </a:lnTo>
                <a:lnTo>
                  <a:pt x="24772" y="67"/>
                </a:lnTo>
                <a:lnTo>
                  <a:pt x="24950" y="44"/>
                </a:lnTo>
                <a:lnTo>
                  <a:pt x="25140" y="26"/>
                </a:lnTo>
                <a:lnTo>
                  <a:pt x="25343" y="12"/>
                </a:lnTo>
                <a:lnTo>
                  <a:pt x="25563" y="3"/>
                </a:lnTo>
                <a:lnTo>
                  <a:pt x="25800" y="0"/>
                </a:lnTo>
                <a:lnTo>
                  <a:pt x="28931" y="0"/>
                </a:lnTo>
                <a:lnTo>
                  <a:pt x="31835" y="0"/>
                </a:lnTo>
                <a:lnTo>
                  <a:pt x="34531" y="0"/>
                </a:lnTo>
                <a:lnTo>
                  <a:pt x="37041" y="0"/>
                </a:lnTo>
                <a:lnTo>
                  <a:pt x="39386" y="0"/>
                </a:lnTo>
                <a:lnTo>
                  <a:pt x="41586" y="0"/>
                </a:lnTo>
                <a:lnTo>
                  <a:pt x="43661" y="0"/>
                </a:lnTo>
                <a:lnTo>
                  <a:pt x="45633" y="0"/>
                </a:lnTo>
                <a:lnTo>
                  <a:pt x="47522" y="0"/>
                </a:lnTo>
                <a:lnTo>
                  <a:pt x="49349" y="0"/>
                </a:lnTo>
                <a:lnTo>
                  <a:pt x="51135" y="0"/>
                </a:lnTo>
                <a:lnTo>
                  <a:pt x="52900" y="0"/>
                </a:lnTo>
                <a:lnTo>
                  <a:pt x="54665" y="0"/>
                </a:lnTo>
                <a:lnTo>
                  <a:pt x="56451" y="0"/>
                </a:lnTo>
                <a:lnTo>
                  <a:pt x="58278" y="0"/>
                </a:lnTo>
                <a:lnTo>
                  <a:pt x="60167" y="0"/>
                </a:lnTo>
                <a:lnTo>
                  <a:pt x="62139" y="0"/>
                </a:lnTo>
                <a:lnTo>
                  <a:pt x="64214" y="0"/>
                </a:lnTo>
                <a:lnTo>
                  <a:pt x="66414" y="0"/>
                </a:lnTo>
                <a:lnTo>
                  <a:pt x="68759" y="0"/>
                </a:lnTo>
                <a:lnTo>
                  <a:pt x="71269" y="0"/>
                </a:lnTo>
                <a:lnTo>
                  <a:pt x="73965" y="0"/>
                </a:lnTo>
                <a:lnTo>
                  <a:pt x="76869" y="0"/>
                </a:lnTo>
                <a:lnTo>
                  <a:pt x="80000" y="0"/>
                </a:lnTo>
              </a:path>
            </a:pathLst>
          </a:custGeom>
          <a:noFill/>
          <a:ln w="88900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863600" y="5461000"/>
            <a:ext cx="10160000" cy="76200"/>
          </a:xfrm>
          <a:custGeom>
            <a:avLst/>
            <a:gdLst/>
            <a:ahLst/>
            <a:cxnLst/>
            <a:rect l="l" t="t" r="r" b="b"/>
            <a:pathLst>
              <a:path w="80000" h="600">
                <a:moveTo>
                  <a:pt x="0" y="600"/>
                </a:moveTo>
                <a:lnTo>
                  <a:pt x="1254" y="600"/>
                </a:lnTo>
                <a:lnTo>
                  <a:pt x="2416" y="600"/>
                </a:lnTo>
                <a:lnTo>
                  <a:pt x="3496" y="600"/>
                </a:lnTo>
                <a:lnTo>
                  <a:pt x="4501" y="600"/>
                </a:lnTo>
                <a:lnTo>
                  <a:pt x="5439" y="600"/>
                </a:lnTo>
                <a:lnTo>
                  <a:pt x="6320" y="600"/>
                </a:lnTo>
                <a:lnTo>
                  <a:pt x="7151" y="600"/>
                </a:lnTo>
                <a:lnTo>
                  <a:pt x="7941" y="600"/>
                </a:lnTo>
                <a:lnTo>
                  <a:pt x="8697" y="600"/>
                </a:lnTo>
                <a:lnTo>
                  <a:pt x="9428" y="600"/>
                </a:lnTo>
                <a:lnTo>
                  <a:pt x="10143" y="600"/>
                </a:lnTo>
                <a:lnTo>
                  <a:pt x="10850" y="600"/>
                </a:lnTo>
                <a:lnTo>
                  <a:pt x="11557" y="600"/>
                </a:lnTo>
                <a:lnTo>
                  <a:pt x="12272" y="600"/>
                </a:lnTo>
                <a:lnTo>
                  <a:pt x="13003" y="600"/>
                </a:lnTo>
                <a:lnTo>
                  <a:pt x="13759" y="600"/>
                </a:lnTo>
                <a:lnTo>
                  <a:pt x="14549" y="600"/>
                </a:lnTo>
                <a:lnTo>
                  <a:pt x="15380" y="600"/>
                </a:lnTo>
                <a:lnTo>
                  <a:pt x="16261" y="600"/>
                </a:lnTo>
                <a:lnTo>
                  <a:pt x="17199" y="600"/>
                </a:lnTo>
                <a:lnTo>
                  <a:pt x="18204" y="600"/>
                </a:lnTo>
                <a:lnTo>
                  <a:pt x="19284" y="600"/>
                </a:lnTo>
                <a:lnTo>
                  <a:pt x="20446" y="600"/>
                </a:lnTo>
                <a:lnTo>
                  <a:pt x="21700" y="600"/>
                </a:lnTo>
                <a:lnTo>
                  <a:pt x="21937" y="597"/>
                </a:lnTo>
                <a:lnTo>
                  <a:pt x="22157" y="588"/>
                </a:lnTo>
                <a:lnTo>
                  <a:pt x="22360" y="574"/>
                </a:lnTo>
                <a:lnTo>
                  <a:pt x="22550" y="556"/>
                </a:lnTo>
                <a:lnTo>
                  <a:pt x="22728" y="533"/>
                </a:lnTo>
                <a:lnTo>
                  <a:pt x="22894" y="506"/>
                </a:lnTo>
                <a:lnTo>
                  <a:pt x="23051" y="477"/>
                </a:lnTo>
                <a:lnTo>
                  <a:pt x="23200" y="444"/>
                </a:lnTo>
                <a:lnTo>
                  <a:pt x="23343" y="410"/>
                </a:lnTo>
                <a:lnTo>
                  <a:pt x="23481" y="374"/>
                </a:lnTo>
                <a:lnTo>
                  <a:pt x="23616" y="337"/>
                </a:lnTo>
                <a:lnTo>
                  <a:pt x="23750" y="300"/>
                </a:lnTo>
                <a:lnTo>
                  <a:pt x="23884" y="263"/>
                </a:lnTo>
                <a:lnTo>
                  <a:pt x="24019" y="226"/>
                </a:lnTo>
                <a:lnTo>
                  <a:pt x="24157" y="190"/>
                </a:lnTo>
                <a:lnTo>
                  <a:pt x="24300" y="156"/>
                </a:lnTo>
                <a:lnTo>
                  <a:pt x="24449" y="123"/>
                </a:lnTo>
                <a:lnTo>
                  <a:pt x="24606" y="94"/>
                </a:lnTo>
                <a:lnTo>
                  <a:pt x="24772" y="67"/>
                </a:lnTo>
                <a:lnTo>
                  <a:pt x="24950" y="44"/>
                </a:lnTo>
                <a:lnTo>
                  <a:pt x="25140" y="26"/>
                </a:lnTo>
                <a:lnTo>
                  <a:pt x="25343" y="12"/>
                </a:lnTo>
                <a:lnTo>
                  <a:pt x="25563" y="3"/>
                </a:lnTo>
                <a:lnTo>
                  <a:pt x="25800" y="0"/>
                </a:lnTo>
                <a:lnTo>
                  <a:pt x="28931" y="0"/>
                </a:lnTo>
                <a:lnTo>
                  <a:pt x="31835" y="0"/>
                </a:lnTo>
                <a:lnTo>
                  <a:pt x="34531" y="0"/>
                </a:lnTo>
                <a:lnTo>
                  <a:pt x="37041" y="0"/>
                </a:lnTo>
                <a:lnTo>
                  <a:pt x="39386" y="0"/>
                </a:lnTo>
                <a:lnTo>
                  <a:pt x="41586" y="0"/>
                </a:lnTo>
                <a:lnTo>
                  <a:pt x="43661" y="0"/>
                </a:lnTo>
                <a:lnTo>
                  <a:pt x="45633" y="0"/>
                </a:lnTo>
                <a:lnTo>
                  <a:pt x="47522" y="0"/>
                </a:lnTo>
                <a:lnTo>
                  <a:pt x="49349" y="0"/>
                </a:lnTo>
                <a:lnTo>
                  <a:pt x="51135" y="0"/>
                </a:lnTo>
                <a:lnTo>
                  <a:pt x="52900" y="0"/>
                </a:lnTo>
                <a:lnTo>
                  <a:pt x="54665" y="0"/>
                </a:lnTo>
                <a:lnTo>
                  <a:pt x="56451" y="0"/>
                </a:lnTo>
                <a:lnTo>
                  <a:pt x="58278" y="0"/>
                </a:lnTo>
                <a:lnTo>
                  <a:pt x="60167" y="0"/>
                </a:lnTo>
                <a:lnTo>
                  <a:pt x="62139" y="0"/>
                </a:lnTo>
                <a:lnTo>
                  <a:pt x="64214" y="0"/>
                </a:lnTo>
                <a:lnTo>
                  <a:pt x="66414" y="0"/>
                </a:lnTo>
                <a:lnTo>
                  <a:pt x="68759" y="0"/>
                </a:lnTo>
                <a:lnTo>
                  <a:pt x="71269" y="0"/>
                </a:lnTo>
                <a:lnTo>
                  <a:pt x="73965" y="0"/>
                </a:lnTo>
                <a:lnTo>
                  <a:pt x="76869" y="0"/>
                </a:lnTo>
                <a:lnTo>
                  <a:pt x="80000" y="0"/>
                </a:lnTo>
              </a:path>
            </a:pathLst>
          </a:custGeom>
          <a:noFill/>
          <a:ln w="13970" cap="rnd">
            <a:solidFill>
              <a:srgbClr val="FFFF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746125" y="2482850"/>
            <a:ext cx="0" cy="228600"/>
          </a:xfrm>
          <a:custGeom>
            <a:avLst/>
            <a:gdLst/>
            <a:ahLst/>
            <a:cxnLst/>
            <a:rect l="l" t="t" r="r" b="b"/>
            <a:pathLst>
              <a:path w="0" h="1800">
                <a:moveTo>
                  <a:pt x="0" y="0"/>
                </a:moveTo>
                <a:lnTo>
                  <a:pt x="0" y="1800"/>
                </a:lnTo>
              </a:path>
            </a:pathLst>
          </a:custGeom>
          <a:noFill/>
          <a:ln w="14287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746125" y="2482850"/>
            <a:ext cx="171450" cy="142875"/>
          </a:xfrm>
          <a:custGeom>
            <a:avLst/>
            <a:gdLst/>
            <a:ahLst/>
            <a:cxnLst/>
            <a:rect l="l" t="t" r="r" b="b"/>
            <a:pathLst>
              <a:path w="1350" h="1125">
                <a:moveTo>
                  <a:pt x="0" y="1125"/>
                </a:moveTo>
                <a:lnTo>
                  <a:pt x="900" y="1125"/>
                </a:lnTo>
                <a:lnTo>
                  <a:pt x="1350" y="562"/>
                </a:lnTo>
                <a:lnTo>
                  <a:pt x="1350" y="0"/>
                </a:lnTo>
              </a:path>
            </a:pathLst>
          </a:custGeom>
          <a:noFill/>
          <a:ln w="14287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17550" y="2454275"/>
            <a:ext cx="57150" cy="57150"/>
          </a:xfrm>
          <a:prstGeom prst="ellipse">
            <a:avLst/>
          </a:prstGeom>
          <a:solidFill>
            <a:srgbClr val="EAF3FC"/>
          </a:solidFill>
          <a:ln w="15240">
            <a:solidFill>
              <a:srgbClr val="16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17550" y="2682875"/>
            <a:ext cx="57150" cy="57150"/>
          </a:xfrm>
          <a:prstGeom prst="ellipse">
            <a:avLst/>
          </a:prstGeom>
          <a:solidFill>
            <a:srgbClr val="EAF3FC"/>
          </a:solidFill>
          <a:ln w="15240">
            <a:solidFill>
              <a:srgbClr val="16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89000" y="2454275"/>
            <a:ext cx="57150" cy="57150"/>
          </a:xfrm>
          <a:prstGeom prst="ellipse">
            <a:avLst/>
          </a:prstGeom>
          <a:solidFill>
            <a:srgbClr val="EAF3FC"/>
          </a:solidFill>
          <a:ln w="15240">
            <a:solidFill>
              <a:srgbClr val="16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"/>
          <p:cNvSpPr txBox="1"/>
          <p:nvPr/>
        </p:nvSpPr>
        <p:spPr>
          <a:xfrm>
            <a:off x="1143000" y="2438400"/>
            <a:ext cx="2882900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394B"/>
                </a:solidFill>
                <a:latin typeface="Microsoft JhengHei"/>
              </a:defRPr>
            </a:pPr>
            <a:r>
              <a:t>master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4292600" y="2451100"/>
            <a:ext cx="2540000" cy="3168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26DB5"/>
                </a:solidFill>
                <a:latin typeface="Microsoft JhengHei"/>
              </a:defRPr>
            </a:pPr>
            <a:r>
              <a:t>符合條件自動觸發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7048500" y="2451100"/>
            <a:ext cx="3073400" cy="282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8394B"/>
                </a:solidFill>
                <a:latin typeface="Microsoft JhengHei"/>
              </a:defRPr>
            </a:pPr>
            <a:r>
              <a:t>Azure DevOps Server + Agent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401300" y="2387600"/>
            <a:ext cx="1130300" cy="342900"/>
          </a:xfrm>
          <a:prstGeom prst="roundRect">
            <a:avLst>
              <a:gd name="adj" fmla="val 4814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"/>
          <p:cNvSpPr txBox="1"/>
          <p:nvPr/>
        </p:nvSpPr>
        <p:spPr>
          <a:xfrm>
            <a:off x="10515600" y="2451100"/>
            <a:ext cx="901700" cy="2225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552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26DB5"/>
                </a:solidFill>
                <a:latin typeface="Microsoft JhengHei"/>
              </a:defRPr>
            </a:pPr>
            <a:r>
              <a:t>SIT</a:t>
            </a:r>
          </a:p>
        </p:txBody>
      </p:sp>
      <p:sp>
        <p:nvSpPr>
          <p:cNvPr id="34" name="Freeform 33"/>
          <p:cNvSpPr/>
          <p:nvPr/>
        </p:nvSpPr>
        <p:spPr>
          <a:xfrm>
            <a:off x="746125" y="3587750"/>
            <a:ext cx="0" cy="228600"/>
          </a:xfrm>
          <a:custGeom>
            <a:avLst/>
            <a:gdLst/>
            <a:ahLst/>
            <a:cxnLst/>
            <a:rect l="l" t="t" r="r" b="b"/>
            <a:pathLst>
              <a:path w="0" h="1800">
                <a:moveTo>
                  <a:pt x="0" y="0"/>
                </a:moveTo>
                <a:lnTo>
                  <a:pt x="0" y="1800"/>
                </a:lnTo>
              </a:path>
            </a:pathLst>
          </a:custGeom>
          <a:noFill/>
          <a:ln w="14287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746125" y="3587750"/>
            <a:ext cx="171450" cy="142875"/>
          </a:xfrm>
          <a:custGeom>
            <a:avLst/>
            <a:gdLst/>
            <a:ahLst/>
            <a:cxnLst/>
            <a:rect l="l" t="t" r="r" b="b"/>
            <a:pathLst>
              <a:path w="1350" h="1125">
                <a:moveTo>
                  <a:pt x="0" y="1125"/>
                </a:moveTo>
                <a:lnTo>
                  <a:pt x="900" y="1125"/>
                </a:lnTo>
                <a:lnTo>
                  <a:pt x="1350" y="562"/>
                </a:lnTo>
                <a:lnTo>
                  <a:pt x="1350" y="0"/>
                </a:lnTo>
              </a:path>
            </a:pathLst>
          </a:custGeom>
          <a:noFill/>
          <a:ln w="14287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17550" y="3559175"/>
            <a:ext cx="57150" cy="57150"/>
          </a:xfrm>
          <a:prstGeom prst="ellipse">
            <a:avLst/>
          </a:prstGeom>
          <a:solidFill>
            <a:srgbClr val="E6F4ED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17550" y="3787775"/>
            <a:ext cx="57150" cy="57150"/>
          </a:xfrm>
          <a:prstGeom prst="ellipse">
            <a:avLst/>
          </a:prstGeom>
          <a:solidFill>
            <a:srgbClr val="E6F4ED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89000" y="3559175"/>
            <a:ext cx="57150" cy="57150"/>
          </a:xfrm>
          <a:prstGeom prst="ellipse">
            <a:avLst/>
          </a:prstGeom>
          <a:solidFill>
            <a:srgbClr val="E6F4ED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"/>
          <p:cNvSpPr txBox="1"/>
          <p:nvPr/>
        </p:nvSpPr>
        <p:spPr>
          <a:xfrm>
            <a:off x="1143000" y="3543300"/>
            <a:ext cx="2997200" cy="351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6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394B"/>
                </a:solidFill>
                <a:latin typeface="Microsoft JhengHei"/>
              </a:defRPr>
            </a:pPr>
            <a:r>
              <a:t>pre-production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4292600" y="3556000"/>
            <a:ext cx="2540000" cy="3168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786F"/>
                </a:solidFill>
                <a:latin typeface="Microsoft JhengHei"/>
              </a:defRPr>
            </a:pPr>
            <a:r>
              <a:t>符合條件自動觸發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7048500" y="3556000"/>
            <a:ext cx="3073400" cy="282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8394B"/>
                </a:solidFill>
                <a:latin typeface="Microsoft JhengHei"/>
              </a:defRPr>
            </a:pPr>
            <a:r>
              <a:t>Azure DevOps Server + Agent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401300" y="3492500"/>
            <a:ext cx="1130300" cy="342900"/>
          </a:xfrm>
          <a:prstGeom prst="roundRect">
            <a:avLst>
              <a:gd name="adj" fmla="val 4814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"/>
          <p:cNvSpPr txBox="1"/>
          <p:nvPr/>
        </p:nvSpPr>
        <p:spPr>
          <a:xfrm>
            <a:off x="10515600" y="3556000"/>
            <a:ext cx="901700" cy="2225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552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00786F"/>
                </a:solidFill>
                <a:latin typeface="Microsoft JhengHei"/>
              </a:defRPr>
            </a:pPr>
            <a:r>
              <a:t>UAT</a:t>
            </a:r>
          </a:p>
        </p:txBody>
      </p:sp>
      <p:sp>
        <p:nvSpPr>
          <p:cNvPr id="44" name="Freeform 43"/>
          <p:cNvSpPr/>
          <p:nvPr/>
        </p:nvSpPr>
        <p:spPr>
          <a:xfrm>
            <a:off x="746125" y="4743450"/>
            <a:ext cx="0" cy="228600"/>
          </a:xfrm>
          <a:custGeom>
            <a:avLst/>
            <a:gdLst/>
            <a:ahLst/>
            <a:cxnLst/>
            <a:rect l="l" t="t" r="r" b="b"/>
            <a:pathLst>
              <a:path w="0" h="1800">
                <a:moveTo>
                  <a:pt x="0" y="0"/>
                </a:moveTo>
                <a:lnTo>
                  <a:pt x="0" y="1800"/>
                </a:lnTo>
              </a:path>
            </a:pathLst>
          </a:custGeom>
          <a:noFill/>
          <a:ln w="14287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746125" y="4743450"/>
            <a:ext cx="171450" cy="142875"/>
          </a:xfrm>
          <a:custGeom>
            <a:avLst/>
            <a:gdLst/>
            <a:ahLst/>
            <a:cxnLst/>
            <a:rect l="l" t="t" r="r" b="b"/>
            <a:pathLst>
              <a:path w="1350" h="1125">
                <a:moveTo>
                  <a:pt x="0" y="1125"/>
                </a:moveTo>
                <a:lnTo>
                  <a:pt x="900" y="1125"/>
                </a:lnTo>
                <a:lnTo>
                  <a:pt x="1350" y="562"/>
                </a:lnTo>
                <a:lnTo>
                  <a:pt x="1350" y="0"/>
                </a:lnTo>
              </a:path>
            </a:pathLst>
          </a:custGeom>
          <a:noFill/>
          <a:ln w="14287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17550" y="4714875"/>
            <a:ext cx="57150" cy="57150"/>
          </a:xfrm>
          <a:prstGeom prst="ellipse">
            <a:avLst/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17550" y="4943475"/>
            <a:ext cx="57150" cy="57150"/>
          </a:xfrm>
          <a:prstGeom prst="ellipse">
            <a:avLst/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89000" y="4714875"/>
            <a:ext cx="57150" cy="57150"/>
          </a:xfrm>
          <a:prstGeom prst="ellipse">
            <a:avLst/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"/>
          <p:cNvSpPr txBox="1"/>
          <p:nvPr/>
        </p:nvSpPr>
        <p:spPr>
          <a:xfrm>
            <a:off x="1143000" y="4635500"/>
            <a:ext cx="2921000" cy="6837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defRPr sz="1280" b="1">
                <a:solidFill>
                  <a:srgbClr val="18394B"/>
                </a:solidFill>
                <a:latin typeface="Microsoft JhengHei"/>
              </a:defRPr>
            </a:pPr>
            <a:r>
              <a:t>production / production-bq1</a:t>
            </a:r>
          </a:p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defRPr sz="1280" b="1">
                <a:solidFill>
                  <a:srgbClr val="18394B"/>
                </a:solidFill>
                <a:latin typeface="Microsoft JhengHei"/>
              </a:defRPr>
            </a:pPr>
            <a:r>
              <a:t>production-bq2 / production-nh</a:t>
            </a:r>
          </a:p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defRPr sz="1280" b="1">
                <a:solidFill>
                  <a:srgbClr val="18394B"/>
                </a:solidFill>
                <a:latin typeface="Microsoft JhengHei"/>
              </a:defRPr>
            </a:pPr>
            <a:r>
              <a:t>…（平行正式分支示例）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79912" y="5022850"/>
            <a:ext cx="124354" cy="261143"/>
          </a:xfrm>
          <a:prstGeom prst="roundRect">
            <a:avLst>
              <a:gd name="adj" fmla="val 40000"/>
            </a:avLst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392347" y="4960672"/>
            <a:ext cx="99483" cy="74612"/>
          </a:xfrm>
          <a:prstGeom prst="roundRect">
            <a:avLst>
              <a:gd name="adj" fmla="val 50000"/>
            </a:avLst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4442079" y="4823841"/>
            <a:ext cx="348234" cy="199009"/>
          </a:xfrm>
          <a:custGeom>
            <a:avLst/>
            <a:gdLst/>
            <a:ahLst/>
            <a:cxnLst/>
            <a:rect l="l" t="t" r="r" b="b"/>
            <a:pathLst>
              <a:path w="2742" h="1567">
                <a:moveTo>
                  <a:pt x="0" y="1567"/>
                </a:moveTo>
                <a:lnTo>
                  <a:pt x="2742" y="0"/>
                </a:lnTo>
              </a:path>
            </a:pathLst>
          </a:custGeom>
          <a:noFill/>
          <a:ln w="62177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4566412" y="4923409"/>
            <a:ext cx="37338" cy="62103"/>
          </a:xfrm>
          <a:custGeom>
            <a:avLst/>
            <a:gdLst/>
            <a:ahLst/>
            <a:cxnLst/>
            <a:rect l="l" t="t" r="r" b="b"/>
            <a:pathLst>
              <a:path w="294" h="489">
                <a:moveTo>
                  <a:pt x="0" y="0"/>
                </a:moveTo>
                <a:lnTo>
                  <a:pt x="294" y="489"/>
                </a:lnTo>
              </a:path>
            </a:pathLst>
          </a:custGeom>
          <a:noFill/>
          <a:ln w="31088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4678426" y="4861179"/>
            <a:ext cx="37211" cy="62230"/>
          </a:xfrm>
          <a:custGeom>
            <a:avLst/>
            <a:gdLst/>
            <a:ahLst/>
            <a:cxnLst/>
            <a:rect l="l" t="t" r="r" b="b"/>
            <a:pathLst>
              <a:path w="293" h="490">
                <a:moveTo>
                  <a:pt x="0" y="0"/>
                </a:moveTo>
                <a:lnTo>
                  <a:pt x="293" y="490"/>
                </a:lnTo>
              </a:path>
            </a:pathLst>
          </a:custGeom>
          <a:noFill/>
          <a:ln w="31088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417218" y="5060156"/>
            <a:ext cx="49741" cy="4974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4703191" y="5022850"/>
            <a:ext cx="161671" cy="124333"/>
          </a:xfrm>
          <a:custGeom>
            <a:avLst/>
            <a:gdLst/>
            <a:ahLst/>
            <a:cxnLst/>
            <a:rect l="l" t="t" r="r" b="b"/>
            <a:pathLst>
              <a:path w="1273" h="979">
                <a:moveTo>
                  <a:pt x="0" y="490"/>
                </a:moveTo>
                <a:lnTo>
                  <a:pt x="490" y="979"/>
                </a:lnTo>
                <a:lnTo>
                  <a:pt x="1273" y="0"/>
                </a:lnTo>
              </a:path>
            </a:pathLst>
          </a:custGeom>
          <a:noFill/>
          <a:ln w="31088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"/>
          <p:cNvSpPr txBox="1"/>
          <p:nvPr/>
        </p:nvSpPr>
        <p:spPr>
          <a:xfrm>
            <a:off x="5041900" y="4635500"/>
            <a:ext cx="1917700" cy="6083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AC4E16"/>
                </a:solidFill>
                <a:latin typeface="Microsoft JhengHei"/>
              </a:defRPr>
            </a:pPr>
            <a:r>
              <a:t>選版＋選目標</a:t>
            </a:r>
          </a:p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AC4E16"/>
                </a:solidFill>
                <a:latin typeface="Microsoft JhengHei"/>
              </a:defRPr>
            </a:pPr>
            <a:r>
              <a:t>授權放行</a:t>
            </a:r>
          </a:p>
        </p:txBody>
      </p:sp>
      <p:sp>
        <p:nvSpPr>
          <p:cNvPr id="58" name="Text"/>
          <p:cNvSpPr txBox="1"/>
          <p:nvPr/>
        </p:nvSpPr>
        <p:spPr>
          <a:xfrm>
            <a:off x="7048500" y="4635500"/>
            <a:ext cx="3098800" cy="539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8394B"/>
                </a:solidFill>
                <a:latin typeface="Microsoft JhengHei"/>
              </a:defRPr>
            </a:pPr>
            <a:r>
              <a:t>Azure DevOps Server + Agent</a:t>
            </a:r>
          </a:p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8394B"/>
                </a:solidFill>
                <a:latin typeface="Microsoft JhengHei"/>
              </a:defRPr>
            </a:pPr>
            <a:r>
              <a:t>依目標採不同換版策略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185400" y="4648200"/>
            <a:ext cx="1397000" cy="342900"/>
          </a:xfrm>
          <a:prstGeom prst="roundRect">
            <a:avLst>
              <a:gd name="adj" fmla="val 4814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"/>
          <p:cNvSpPr txBox="1"/>
          <p:nvPr/>
        </p:nvSpPr>
        <p:spPr>
          <a:xfrm>
            <a:off x="10299700" y="4711700"/>
            <a:ext cx="1168400" cy="2225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552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AC4E16"/>
                </a:solidFill>
                <a:latin typeface="Microsoft JhengHei"/>
              </a:defRPr>
            </a:pPr>
            <a:r>
              <a:t>Production</a:t>
            </a:r>
          </a:p>
        </p:txBody>
      </p:sp>
      <p:sp>
        <p:nvSpPr>
          <p:cNvPr id="61" name="Text"/>
          <p:cNvSpPr txBox="1"/>
          <p:nvPr/>
        </p:nvSpPr>
        <p:spPr>
          <a:xfrm>
            <a:off x="508000" y="6032500"/>
            <a:ext cx="11214100" cy="3082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506B77"/>
                </a:solidFill>
                <a:latin typeface="Microsoft JhengHei"/>
              </a:defRPr>
            </a:pPr>
            <a:r>
              <a:t>不同分支可有不同 pipeline；不將 production 前綴自動視為已授權。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規劃做法：放行後送檔，換版失敗嘗試復原"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"/>
          <p:cNvSpPr txBox="1"/>
          <p:nvPr/>
        </p:nvSpPr>
        <p:spPr>
          <a:xfrm>
            <a:off x="457200" y="241300"/>
            <a:ext cx="7810500" cy="2054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0786F"/>
                </a:solidFill>
                <a:latin typeface="Microsoft JhengHei"/>
              </a:defRPr>
            </a:pPr>
            <a:r>
              <a:t>WINDOWS  /  DEPLOYMENT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28200" y="190500"/>
            <a:ext cx="2006600" cy="342900"/>
          </a:xfrm>
          <a:prstGeom prst="roundRect">
            <a:avLst>
              <a:gd name="adj" fmla="val 48148"/>
            </a:avLst>
          </a:prstGeom>
          <a:solidFill>
            <a:srgbClr val="EE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"/>
          <p:cNvSpPr txBox="1"/>
          <p:nvPr/>
        </p:nvSpPr>
        <p:spPr>
          <a:xfrm>
            <a:off x="9842500" y="254000"/>
            <a:ext cx="1778000" cy="2225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552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8394B"/>
                </a:solidFill>
                <a:latin typeface="Microsoft JhengHei"/>
              </a:defRPr>
            </a:pPr>
            <a:r>
              <a:t>07  /  換版與復原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749300"/>
            <a:ext cx="11277600" cy="522605"/>
          </a:xfrm>
        </p:spPr>
        <p:txBody>
          <a:bodyPr lIns="0" rIns="0" tIns="0" bIns="0" wrap="none" anchor="t"/>
          <a:lstStyle/>
          <a:p>
            <a:pPr algn="l">
              <a:lnSpc>
                <a:spcPts val="391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94B"/>
                </a:solidFill>
                <a:latin typeface="Microsoft JhengHei"/>
              </a:defRPr>
            </a:pPr>
            <a:r>
              <a:t>放行後才送檔，流量恢復前再確認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457200" y="1320800"/>
            <a:ext cx="11277600" cy="3082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506B77"/>
                </a:solidFill>
                <a:latin typeface="Microsoft JhengHei"/>
              </a:defRPr>
            </a:pPr>
            <a:r>
              <a:t>規劃／待 POC：Agent、備份、人工等待與復原腳本均須實作及演練。</a:t>
            </a:r>
          </a:p>
        </p:txBody>
      </p:sp>
      <p:sp>
        <p:nvSpPr>
          <p:cNvPr id="8" name="Freeform 7"/>
          <p:cNvSpPr/>
          <p:nvPr/>
        </p:nvSpPr>
        <p:spPr>
          <a:xfrm>
            <a:off x="457200" y="6413500"/>
            <a:ext cx="11277600" cy="0"/>
          </a:xfrm>
          <a:custGeom>
            <a:avLst/>
            <a:gdLst/>
            <a:ahLst/>
            <a:cxnLst/>
            <a:rect l="l" t="t" r="r" b="b"/>
            <a:pathLst>
              <a:path w="88800" h="0">
                <a:moveTo>
                  <a:pt x="0" y="0"/>
                </a:moveTo>
                <a:lnTo>
                  <a:pt x="88800" y="0"/>
                </a:lnTo>
              </a:path>
            </a:pathLst>
          </a:custGeom>
          <a:noFill/>
          <a:ln w="10160" cap="rnd">
            <a:solidFill>
              <a:srgbClr val="DCE4E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457200" y="6553200"/>
            <a:ext cx="10033000" cy="188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82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506B77"/>
                </a:solidFill>
                <a:latin typeface="Microsoft JhengHei"/>
              </a:defRPr>
            </a:pPr>
            <a:r>
              <a:t>JOURNEY EDITION  /  規劃提案 · 尚未完成實作／POC 驗證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0972800" y="6527800"/>
            <a:ext cx="762000" cy="2139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06B77"/>
                </a:solidFill>
                <a:latin typeface="Microsoft JhengHei"/>
              </a:defRPr>
            </a:pPr>
            <a:r>
              <a:t>08 / 09</a:t>
            </a:r>
          </a:p>
        </p:txBody>
      </p:sp>
      <p:sp>
        <p:nvSpPr>
          <p:cNvPr id="11" name="Freeform 10"/>
          <p:cNvSpPr/>
          <p:nvPr/>
        </p:nvSpPr>
        <p:spPr>
          <a:xfrm>
            <a:off x="850900" y="3467100"/>
            <a:ext cx="10515600" cy="0"/>
          </a:xfrm>
          <a:custGeom>
            <a:avLst/>
            <a:gdLst/>
            <a:ahLst/>
            <a:cxnLst/>
            <a:rect l="l" t="t" r="r" b="b"/>
            <a:pathLst>
              <a:path w="82800" h="0">
                <a:moveTo>
                  <a:pt x="0" y="0"/>
                </a:moveTo>
                <a:lnTo>
                  <a:pt x="4784" y="0"/>
                </a:lnTo>
                <a:lnTo>
                  <a:pt x="9219" y="0"/>
                </a:lnTo>
                <a:lnTo>
                  <a:pt x="13339" y="0"/>
                </a:lnTo>
                <a:lnTo>
                  <a:pt x="17173" y="0"/>
                </a:lnTo>
                <a:lnTo>
                  <a:pt x="20755" y="0"/>
                </a:lnTo>
                <a:lnTo>
                  <a:pt x="24115" y="0"/>
                </a:lnTo>
                <a:lnTo>
                  <a:pt x="27286" y="0"/>
                </a:lnTo>
                <a:lnTo>
                  <a:pt x="30299" y="0"/>
                </a:lnTo>
                <a:lnTo>
                  <a:pt x="33185" y="0"/>
                </a:lnTo>
                <a:lnTo>
                  <a:pt x="35976" y="0"/>
                </a:lnTo>
                <a:lnTo>
                  <a:pt x="38704" y="0"/>
                </a:lnTo>
                <a:lnTo>
                  <a:pt x="41400" y="0"/>
                </a:lnTo>
                <a:lnTo>
                  <a:pt x="44096" y="0"/>
                </a:lnTo>
                <a:lnTo>
                  <a:pt x="46824" y="0"/>
                </a:lnTo>
                <a:lnTo>
                  <a:pt x="49615" y="0"/>
                </a:lnTo>
                <a:lnTo>
                  <a:pt x="52501" y="0"/>
                </a:lnTo>
                <a:lnTo>
                  <a:pt x="55514" y="0"/>
                </a:lnTo>
                <a:lnTo>
                  <a:pt x="58684" y="0"/>
                </a:lnTo>
                <a:lnTo>
                  <a:pt x="62045" y="0"/>
                </a:lnTo>
                <a:lnTo>
                  <a:pt x="65627" y="0"/>
                </a:lnTo>
                <a:lnTo>
                  <a:pt x="69461" y="0"/>
                </a:lnTo>
                <a:lnTo>
                  <a:pt x="73581" y="0"/>
                </a:lnTo>
                <a:lnTo>
                  <a:pt x="78016" y="0"/>
                </a:lnTo>
                <a:lnTo>
                  <a:pt x="82800" y="0"/>
                </a:lnTo>
              </a:path>
            </a:pathLst>
          </a:custGeom>
          <a:noFill/>
          <a:ln w="88900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50900" y="3467100"/>
            <a:ext cx="10515600" cy="0"/>
          </a:xfrm>
          <a:custGeom>
            <a:avLst/>
            <a:gdLst/>
            <a:ahLst/>
            <a:cxnLst/>
            <a:rect l="l" t="t" r="r" b="b"/>
            <a:pathLst>
              <a:path w="82800" h="0">
                <a:moveTo>
                  <a:pt x="0" y="0"/>
                </a:moveTo>
                <a:lnTo>
                  <a:pt x="4784" y="0"/>
                </a:lnTo>
                <a:lnTo>
                  <a:pt x="9219" y="0"/>
                </a:lnTo>
                <a:lnTo>
                  <a:pt x="13339" y="0"/>
                </a:lnTo>
                <a:lnTo>
                  <a:pt x="17173" y="0"/>
                </a:lnTo>
                <a:lnTo>
                  <a:pt x="20755" y="0"/>
                </a:lnTo>
                <a:lnTo>
                  <a:pt x="24115" y="0"/>
                </a:lnTo>
                <a:lnTo>
                  <a:pt x="27286" y="0"/>
                </a:lnTo>
                <a:lnTo>
                  <a:pt x="30299" y="0"/>
                </a:lnTo>
                <a:lnTo>
                  <a:pt x="33185" y="0"/>
                </a:lnTo>
                <a:lnTo>
                  <a:pt x="35976" y="0"/>
                </a:lnTo>
                <a:lnTo>
                  <a:pt x="38704" y="0"/>
                </a:lnTo>
                <a:lnTo>
                  <a:pt x="41400" y="0"/>
                </a:lnTo>
                <a:lnTo>
                  <a:pt x="44096" y="0"/>
                </a:lnTo>
                <a:lnTo>
                  <a:pt x="46824" y="0"/>
                </a:lnTo>
                <a:lnTo>
                  <a:pt x="49615" y="0"/>
                </a:lnTo>
                <a:lnTo>
                  <a:pt x="52501" y="0"/>
                </a:lnTo>
                <a:lnTo>
                  <a:pt x="55514" y="0"/>
                </a:lnTo>
                <a:lnTo>
                  <a:pt x="58684" y="0"/>
                </a:lnTo>
                <a:lnTo>
                  <a:pt x="62045" y="0"/>
                </a:lnTo>
                <a:lnTo>
                  <a:pt x="65627" y="0"/>
                </a:lnTo>
                <a:lnTo>
                  <a:pt x="69461" y="0"/>
                </a:lnTo>
                <a:lnTo>
                  <a:pt x="73581" y="0"/>
                </a:lnTo>
                <a:lnTo>
                  <a:pt x="78016" y="0"/>
                </a:lnTo>
                <a:lnTo>
                  <a:pt x="82800" y="0"/>
                </a:lnTo>
              </a:path>
            </a:pathLst>
          </a:custGeom>
          <a:noFill/>
          <a:ln w="13970" cap="rnd">
            <a:solidFill>
              <a:srgbClr val="FFFF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8000" y="2095500"/>
            <a:ext cx="2082800" cy="1244600"/>
          </a:xfrm>
          <a:prstGeom prst="roundRect">
            <a:avLst>
              <a:gd name="adj" fmla="val 12244"/>
            </a:avLst>
          </a:prstGeom>
          <a:solidFill>
            <a:srgbClr val="FF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7550" y="2514600"/>
            <a:ext cx="95250" cy="200025"/>
          </a:xfrm>
          <a:prstGeom prst="roundRect">
            <a:avLst>
              <a:gd name="adj" fmla="val 40000"/>
            </a:avLst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27075" y="2466975"/>
            <a:ext cx="76200" cy="57150"/>
          </a:xfrm>
          <a:prstGeom prst="roundRect">
            <a:avLst>
              <a:gd name="adj" fmla="val 50000"/>
            </a:avLst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765175" y="2362200"/>
            <a:ext cx="266700" cy="152400"/>
          </a:xfrm>
          <a:custGeom>
            <a:avLst/>
            <a:gdLst/>
            <a:ahLst/>
            <a:cxnLst/>
            <a:rect l="l" t="t" r="r" b="b"/>
            <a:pathLst>
              <a:path w="2100" h="1200">
                <a:moveTo>
                  <a:pt x="0" y="1200"/>
                </a:moveTo>
                <a:lnTo>
                  <a:pt x="2100" y="0"/>
                </a:lnTo>
              </a:path>
            </a:pathLst>
          </a:custGeom>
          <a:noFill/>
          <a:ln w="47625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860425" y="2438400"/>
            <a:ext cx="28575" cy="47625"/>
          </a:xfrm>
          <a:custGeom>
            <a:avLst/>
            <a:gdLst/>
            <a:ahLst/>
            <a:cxnLst/>
            <a:rect l="l" t="t" r="r" b="b"/>
            <a:pathLst>
              <a:path w="225" h="375">
                <a:moveTo>
                  <a:pt x="0" y="0"/>
                </a:moveTo>
                <a:lnTo>
                  <a:pt x="225" y="375"/>
                </a:lnTo>
              </a:path>
            </a:pathLst>
          </a:custGeom>
          <a:noFill/>
          <a:ln w="23812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946150" y="2390775"/>
            <a:ext cx="28575" cy="47625"/>
          </a:xfrm>
          <a:custGeom>
            <a:avLst/>
            <a:gdLst/>
            <a:ahLst/>
            <a:cxnLst/>
            <a:rect l="l" t="t" r="r" b="b"/>
            <a:pathLst>
              <a:path w="225" h="375">
                <a:moveTo>
                  <a:pt x="0" y="0"/>
                </a:moveTo>
                <a:lnTo>
                  <a:pt x="225" y="375"/>
                </a:lnTo>
              </a:path>
            </a:pathLst>
          </a:custGeom>
          <a:noFill/>
          <a:ln w="23812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6125" y="2543175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65200" y="2514600"/>
            <a:ext cx="123825" cy="95250"/>
          </a:xfrm>
          <a:custGeom>
            <a:avLst/>
            <a:gdLst/>
            <a:ahLst/>
            <a:cxnLst/>
            <a:rect l="l" t="t" r="r" b="b"/>
            <a:pathLst>
              <a:path w="975" h="750">
                <a:moveTo>
                  <a:pt x="0" y="375"/>
                </a:moveTo>
                <a:lnTo>
                  <a:pt x="375" y="750"/>
                </a:lnTo>
                <a:lnTo>
                  <a:pt x="975" y="0"/>
                </a:lnTo>
              </a:path>
            </a:pathLst>
          </a:custGeom>
          <a:noFill/>
          <a:ln w="23812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"/>
          <p:cNvSpPr txBox="1"/>
          <p:nvPr/>
        </p:nvSpPr>
        <p:spPr>
          <a:xfrm>
            <a:off x="1892300" y="2374900"/>
            <a:ext cx="508000" cy="4197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AC4E16"/>
                </a:solidFill>
                <a:latin typeface="Microsoft JhengHei"/>
              </a:defRPr>
            </a:pPr>
            <a:r>
              <a:t>01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" y="3390900"/>
            <a:ext cx="228600" cy="228600"/>
          </a:xfrm>
          <a:prstGeom prst="ellipse">
            <a:avLst/>
          </a:prstGeom>
          <a:solidFill>
            <a:srgbClr val="DD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5800" y="3352800"/>
            <a:ext cx="228600" cy="2286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6600" y="3403600"/>
            <a:ext cx="127000" cy="127000"/>
          </a:xfrm>
          <a:prstGeom prst="ellipse">
            <a:avLst/>
          </a:prstGeom>
          <a:solidFill>
            <a:srgbClr val="AC4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"/>
          <p:cNvSpPr txBox="1"/>
          <p:nvPr/>
        </p:nvSpPr>
        <p:spPr>
          <a:xfrm>
            <a:off x="520700" y="3759200"/>
            <a:ext cx="2095500" cy="3168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394B"/>
                </a:solidFill>
                <a:latin typeface="Microsoft JhengHei"/>
              </a:defRPr>
            </a:pPr>
            <a:r>
              <a:t>人員選版／目標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520700" y="4127500"/>
            <a:ext cx="2095500" cy="2911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92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506B77"/>
                </a:solidFill>
                <a:latin typeface="Microsoft JhengHei"/>
              </a:defRPr>
            </a:pPr>
            <a:r>
              <a:t>授權放行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81300" y="2095500"/>
            <a:ext cx="2082800" cy="1244600"/>
          </a:xfrm>
          <a:prstGeom prst="roundRect">
            <a:avLst>
              <a:gd name="adj" fmla="val 12244"/>
            </a:avLst>
          </a:prstGeom>
          <a:solidFill>
            <a:srgbClr val="EA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009900" y="2333625"/>
            <a:ext cx="304800" cy="95250"/>
          </a:xfrm>
          <a:prstGeom prst="roundRect">
            <a:avLst>
              <a:gd name="adj" fmla="val 40000"/>
            </a:avLst>
          </a:prstGeom>
          <a:solidFill>
            <a:srgbClr val="EAF3FC"/>
          </a:solidFill>
          <a:ln w="15240">
            <a:solidFill>
              <a:srgbClr val="16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043237" y="2366962"/>
            <a:ext cx="28575" cy="28575"/>
          </a:xfrm>
          <a:prstGeom prst="ellipse">
            <a:avLst/>
          </a:prstGeom>
          <a:solidFill>
            <a:srgbClr val="167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3181350" y="2381250"/>
            <a:ext cx="85725" cy="0"/>
          </a:xfrm>
          <a:custGeom>
            <a:avLst/>
            <a:gdLst/>
            <a:ahLst/>
            <a:cxnLst/>
            <a:rect l="l" t="t" r="r" b="b"/>
            <a:pathLst>
              <a:path w="675" h="0">
                <a:moveTo>
                  <a:pt x="0" y="0"/>
                </a:moveTo>
                <a:lnTo>
                  <a:pt x="675" y="0"/>
                </a:lnTo>
              </a:path>
            </a:pathLst>
          </a:custGeom>
          <a:noFill/>
          <a:ln w="14287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009900" y="2457450"/>
            <a:ext cx="304800" cy="95250"/>
          </a:xfrm>
          <a:prstGeom prst="roundRect">
            <a:avLst>
              <a:gd name="adj" fmla="val 40000"/>
            </a:avLst>
          </a:prstGeom>
          <a:solidFill>
            <a:srgbClr val="EAF3FC"/>
          </a:solidFill>
          <a:ln w="15240">
            <a:solidFill>
              <a:srgbClr val="16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043237" y="2490787"/>
            <a:ext cx="28575" cy="28575"/>
          </a:xfrm>
          <a:prstGeom prst="ellipse">
            <a:avLst/>
          </a:prstGeom>
          <a:solidFill>
            <a:srgbClr val="167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3181350" y="2505075"/>
            <a:ext cx="85725" cy="0"/>
          </a:xfrm>
          <a:custGeom>
            <a:avLst/>
            <a:gdLst/>
            <a:ahLst/>
            <a:cxnLst/>
            <a:rect l="l" t="t" r="r" b="b"/>
            <a:pathLst>
              <a:path w="675" h="0">
                <a:moveTo>
                  <a:pt x="0" y="0"/>
                </a:moveTo>
                <a:lnTo>
                  <a:pt x="675" y="0"/>
                </a:lnTo>
              </a:path>
            </a:pathLst>
          </a:custGeom>
          <a:noFill/>
          <a:ln w="14287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009900" y="2581275"/>
            <a:ext cx="304800" cy="95250"/>
          </a:xfrm>
          <a:prstGeom prst="roundRect">
            <a:avLst>
              <a:gd name="adj" fmla="val 40000"/>
            </a:avLst>
          </a:prstGeom>
          <a:solidFill>
            <a:srgbClr val="EAF3FC"/>
          </a:solidFill>
          <a:ln w="15240">
            <a:solidFill>
              <a:srgbClr val="16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043237" y="2614612"/>
            <a:ext cx="28575" cy="28575"/>
          </a:xfrm>
          <a:prstGeom prst="ellipse">
            <a:avLst/>
          </a:prstGeom>
          <a:solidFill>
            <a:srgbClr val="167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3181350" y="2628900"/>
            <a:ext cx="85725" cy="0"/>
          </a:xfrm>
          <a:custGeom>
            <a:avLst/>
            <a:gdLst/>
            <a:ahLst/>
            <a:cxnLst/>
            <a:rect l="l" t="t" r="r" b="b"/>
            <a:pathLst>
              <a:path w="675" h="0">
                <a:moveTo>
                  <a:pt x="0" y="0"/>
                </a:moveTo>
                <a:lnTo>
                  <a:pt x="675" y="0"/>
                </a:lnTo>
              </a:path>
            </a:pathLst>
          </a:custGeom>
          <a:noFill/>
          <a:ln w="14287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"/>
          <p:cNvSpPr txBox="1"/>
          <p:nvPr/>
        </p:nvSpPr>
        <p:spPr>
          <a:xfrm>
            <a:off x="4165600" y="2374900"/>
            <a:ext cx="508000" cy="4197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26DB5"/>
                </a:solidFill>
                <a:latin typeface="Microsoft JhengHei"/>
              </a:defRPr>
            </a:pPr>
            <a:r>
              <a:t>02</a:t>
            </a:r>
          </a:p>
        </p:txBody>
      </p:sp>
      <p:sp>
        <p:nvSpPr>
          <p:cNvPr id="38" name="Oval 37"/>
          <p:cNvSpPr/>
          <p:nvPr/>
        </p:nvSpPr>
        <p:spPr>
          <a:xfrm>
            <a:off x="2959100" y="3390900"/>
            <a:ext cx="228600" cy="228600"/>
          </a:xfrm>
          <a:prstGeom prst="ellipse">
            <a:avLst/>
          </a:prstGeom>
          <a:solidFill>
            <a:srgbClr val="DD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959100" y="3352800"/>
            <a:ext cx="228600" cy="2286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6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009900" y="3403600"/>
            <a:ext cx="127000" cy="127000"/>
          </a:xfrm>
          <a:prstGeom prst="ellipse">
            <a:avLst/>
          </a:prstGeom>
          <a:solidFill>
            <a:srgbClr val="126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"/>
          <p:cNvSpPr txBox="1"/>
          <p:nvPr/>
        </p:nvSpPr>
        <p:spPr>
          <a:xfrm>
            <a:off x="2794000" y="3759200"/>
            <a:ext cx="2095500" cy="3168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394B"/>
                </a:solidFill>
                <a:latin typeface="Microsoft JhengHei"/>
              </a:defRPr>
            </a:pPr>
            <a:r>
              <a:t>Agent 取檔驗證</a:t>
            </a:r>
          </a:p>
        </p:txBody>
      </p:sp>
      <p:sp>
        <p:nvSpPr>
          <p:cNvPr id="42" name="Text"/>
          <p:cNvSpPr txBox="1"/>
          <p:nvPr/>
        </p:nvSpPr>
        <p:spPr>
          <a:xfrm>
            <a:off x="2794000" y="4127500"/>
            <a:ext cx="2095500" cy="2911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92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506B77"/>
                </a:solidFill>
                <a:latin typeface="Microsoft JhengHei"/>
              </a:defRPr>
            </a:pPr>
            <a:r>
              <a:t>下 F5，確認隔離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54600" y="2095500"/>
            <a:ext cx="2082800" cy="1244600"/>
          </a:xfrm>
          <a:prstGeom prst="roundRect">
            <a:avLst>
              <a:gd name="adj" fmla="val 12244"/>
            </a:avLst>
          </a:prstGeom>
          <a:solidFill>
            <a:srgbClr val="E6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5292725" y="2362200"/>
            <a:ext cx="295275" cy="304800"/>
          </a:xfrm>
          <a:custGeom>
            <a:avLst/>
            <a:gdLst/>
            <a:ahLst/>
            <a:cxnLst/>
            <a:rect l="l" t="t" r="r" b="b"/>
            <a:pathLst>
              <a:path w="2325" h="2400">
                <a:moveTo>
                  <a:pt x="75" y="675"/>
                </a:moveTo>
                <a:lnTo>
                  <a:pt x="525" y="75"/>
                </a:lnTo>
                <a:lnTo>
                  <a:pt x="1650" y="0"/>
                </a:lnTo>
                <a:lnTo>
                  <a:pt x="2325" y="750"/>
                </a:lnTo>
                <a:lnTo>
                  <a:pt x="2325" y="1725"/>
                </a:lnTo>
                <a:lnTo>
                  <a:pt x="1650" y="2400"/>
                </a:lnTo>
                <a:lnTo>
                  <a:pt x="675" y="2400"/>
                </a:lnTo>
                <a:lnTo>
                  <a:pt x="0" y="1800"/>
                </a:lnTo>
              </a:path>
            </a:pathLst>
          </a:custGeom>
          <a:noFill/>
          <a:ln w="23812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5302250" y="23336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900" h="900">
                <a:moveTo>
                  <a:pt x="0" y="0"/>
                </a:moveTo>
                <a:lnTo>
                  <a:pt x="0" y="900"/>
                </a:lnTo>
                <a:lnTo>
                  <a:pt x="900" y="900"/>
                </a:lnTo>
              </a:path>
            </a:pathLst>
          </a:custGeom>
          <a:noFill/>
          <a:ln w="23812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5435600" y="2457450"/>
            <a:ext cx="66675" cy="123825"/>
          </a:xfrm>
          <a:custGeom>
            <a:avLst/>
            <a:gdLst/>
            <a:ahLst/>
            <a:cxnLst/>
            <a:rect l="l" t="t" r="r" b="b"/>
            <a:pathLst>
              <a:path w="525" h="975">
                <a:moveTo>
                  <a:pt x="0" y="0"/>
                </a:moveTo>
                <a:lnTo>
                  <a:pt x="0" y="675"/>
                </a:lnTo>
                <a:lnTo>
                  <a:pt x="525" y="975"/>
                </a:lnTo>
              </a:path>
            </a:pathLst>
          </a:custGeom>
          <a:noFill/>
          <a:ln w="19050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"/>
          <p:cNvSpPr txBox="1"/>
          <p:nvPr/>
        </p:nvSpPr>
        <p:spPr>
          <a:xfrm>
            <a:off x="6438900" y="2374900"/>
            <a:ext cx="508000" cy="4197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786F"/>
                </a:solidFill>
                <a:latin typeface="Microsoft JhengHei"/>
              </a:defRPr>
            </a:pPr>
            <a:r>
              <a:t>03</a:t>
            </a:r>
          </a:p>
        </p:txBody>
      </p:sp>
      <p:sp>
        <p:nvSpPr>
          <p:cNvPr id="48" name="Oval 47"/>
          <p:cNvSpPr/>
          <p:nvPr/>
        </p:nvSpPr>
        <p:spPr>
          <a:xfrm>
            <a:off x="5232400" y="3390900"/>
            <a:ext cx="228600" cy="228600"/>
          </a:xfrm>
          <a:prstGeom prst="ellipse">
            <a:avLst/>
          </a:prstGeom>
          <a:solidFill>
            <a:srgbClr val="DD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232400" y="3352800"/>
            <a:ext cx="228600" cy="2286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283200" y="3403600"/>
            <a:ext cx="127000" cy="127000"/>
          </a:xfrm>
          <a:prstGeom prst="ellipse">
            <a:avLst/>
          </a:prstGeom>
          <a:solidFill>
            <a:srgbClr val="007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"/>
          <p:cNvSpPr txBox="1"/>
          <p:nvPr/>
        </p:nvSpPr>
        <p:spPr>
          <a:xfrm>
            <a:off x="5067300" y="3759200"/>
            <a:ext cx="2095500" cy="3168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394B"/>
                </a:solidFill>
                <a:latin typeface="Microsoft JhengHei"/>
              </a:defRPr>
            </a:pPr>
            <a:r>
              <a:t>停止、備份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5067300" y="4127500"/>
            <a:ext cx="2095500" cy="2911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92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506B77"/>
                </a:solidFill>
                <a:latin typeface="Microsoft JhengHei"/>
              </a:defRPr>
            </a:pPr>
            <a:r>
              <a:t>安裝新版並重啟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27900" y="2095500"/>
            <a:ext cx="2082800" cy="1244600"/>
          </a:xfrm>
          <a:prstGeom prst="roundRect">
            <a:avLst>
              <a:gd name="adj" fmla="val 12244"/>
            </a:avLst>
          </a:prstGeom>
          <a:solidFill>
            <a:srgbClr val="FF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575550" y="2362200"/>
            <a:ext cx="285750" cy="333375"/>
          </a:xfrm>
          <a:prstGeom prst="roundRect">
            <a:avLst>
              <a:gd name="adj" fmla="val 13333"/>
            </a:avLst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7642225" y="2324100"/>
            <a:ext cx="142875" cy="76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7632700" y="2447925"/>
            <a:ext cx="114300" cy="76200"/>
          </a:xfrm>
          <a:custGeom>
            <a:avLst/>
            <a:gdLst/>
            <a:ahLst/>
            <a:cxnLst/>
            <a:rect l="l" t="t" r="r" b="b"/>
            <a:pathLst>
              <a:path w="900" h="600">
                <a:moveTo>
                  <a:pt x="0" y="300"/>
                </a:moveTo>
                <a:lnTo>
                  <a:pt x="300" y="600"/>
                </a:lnTo>
                <a:lnTo>
                  <a:pt x="900" y="0"/>
                </a:lnTo>
              </a:path>
            </a:pathLst>
          </a:custGeom>
          <a:noFill/>
          <a:ln w="19050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7632700" y="2562225"/>
            <a:ext cx="114300" cy="76200"/>
          </a:xfrm>
          <a:custGeom>
            <a:avLst/>
            <a:gdLst/>
            <a:ahLst/>
            <a:cxnLst/>
            <a:rect l="l" t="t" r="r" b="b"/>
            <a:pathLst>
              <a:path w="900" h="600">
                <a:moveTo>
                  <a:pt x="0" y="300"/>
                </a:moveTo>
                <a:lnTo>
                  <a:pt x="300" y="600"/>
                </a:lnTo>
                <a:lnTo>
                  <a:pt x="900" y="0"/>
                </a:lnTo>
              </a:path>
            </a:pathLst>
          </a:custGeom>
          <a:noFill/>
          <a:ln w="19050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7775575" y="2505075"/>
            <a:ext cx="38100" cy="0"/>
          </a:xfrm>
          <a:custGeom>
            <a:avLst/>
            <a:gdLst/>
            <a:ahLst/>
            <a:cxnLst/>
            <a:rect l="l" t="t" r="r" b="b"/>
            <a:pathLst>
              <a:path w="300" h="0">
                <a:moveTo>
                  <a:pt x="0" y="0"/>
                </a:moveTo>
                <a:lnTo>
                  <a:pt x="300" y="0"/>
                </a:lnTo>
              </a:path>
            </a:pathLst>
          </a:custGeom>
          <a:noFill/>
          <a:ln w="14287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7775575" y="2619375"/>
            <a:ext cx="38100" cy="0"/>
          </a:xfrm>
          <a:custGeom>
            <a:avLst/>
            <a:gdLst/>
            <a:ahLst/>
            <a:cxnLst/>
            <a:rect l="l" t="t" r="r" b="b"/>
            <a:pathLst>
              <a:path w="300" h="0">
                <a:moveTo>
                  <a:pt x="0" y="0"/>
                </a:moveTo>
                <a:lnTo>
                  <a:pt x="300" y="0"/>
                </a:lnTo>
              </a:path>
            </a:pathLst>
          </a:custGeom>
          <a:noFill/>
          <a:ln w="14287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"/>
          <p:cNvSpPr txBox="1"/>
          <p:nvPr/>
        </p:nvSpPr>
        <p:spPr>
          <a:xfrm>
            <a:off x="8712200" y="2374900"/>
            <a:ext cx="508000" cy="4197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AC4E16"/>
                </a:solidFill>
                <a:latin typeface="Microsoft JhengHei"/>
              </a:defRPr>
            </a:pPr>
            <a:r>
              <a:t>04</a:t>
            </a:r>
          </a:p>
        </p:txBody>
      </p:sp>
      <p:sp>
        <p:nvSpPr>
          <p:cNvPr id="61" name="Oval 60"/>
          <p:cNvSpPr/>
          <p:nvPr/>
        </p:nvSpPr>
        <p:spPr>
          <a:xfrm>
            <a:off x="7505700" y="3390900"/>
            <a:ext cx="228600" cy="228600"/>
          </a:xfrm>
          <a:prstGeom prst="ellipse">
            <a:avLst/>
          </a:prstGeom>
          <a:solidFill>
            <a:srgbClr val="DD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505700" y="3352800"/>
            <a:ext cx="228600" cy="2286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556500" y="3403600"/>
            <a:ext cx="127000" cy="127000"/>
          </a:xfrm>
          <a:prstGeom prst="ellipse">
            <a:avLst/>
          </a:prstGeom>
          <a:solidFill>
            <a:srgbClr val="AC4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"/>
          <p:cNvSpPr txBox="1"/>
          <p:nvPr/>
        </p:nvSpPr>
        <p:spPr>
          <a:xfrm>
            <a:off x="7340600" y="3759200"/>
            <a:ext cx="2095500" cy="3168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394B"/>
                </a:solidFill>
                <a:latin typeface="Microsoft JhengHei"/>
              </a:defRPr>
            </a:pPr>
            <a:r>
              <a:t>健康檢查正常</a:t>
            </a:r>
          </a:p>
        </p:txBody>
      </p:sp>
      <p:sp>
        <p:nvSpPr>
          <p:cNvPr id="65" name="Text"/>
          <p:cNvSpPr txBox="1"/>
          <p:nvPr/>
        </p:nvSpPr>
        <p:spPr>
          <a:xfrm>
            <a:off x="7340600" y="4127500"/>
            <a:ext cx="2095500" cy="2911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92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506B77"/>
                </a:solidFill>
                <a:latin typeface="Microsoft JhengHei"/>
              </a:defRPr>
            </a:pPr>
            <a:r>
              <a:t>人工確認功能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601200" y="2095500"/>
            <a:ext cx="2082800" cy="1244600"/>
          </a:xfrm>
          <a:prstGeom prst="roundRect">
            <a:avLst>
              <a:gd name="adj" fmla="val 12244"/>
            </a:avLst>
          </a:prstGeom>
          <a:solidFill>
            <a:srgbClr val="E6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9848850" y="2333625"/>
            <a:ext cx="0" cy="361950"/>
          </a:xfrm>
          <a:custGeom>
            <a:avLst/>
            <a:gdLst/>
            <a:ahLst/>
            <a:cxnLst/>
            <a:rect l="l" t="t" r="r" b="b"/>
            <a:pathLst>
              <a:path w="0" h="2850">
                <a:moveTo>
                  <a:pt x="0" y="2850"/>
                </a:moveTo>
                <a:lnTo>
                  <a:pt x="0" y="0"/>
                </a:lnTo>
              </a:path>
            </a:pathLst>
          </a:custGeom>
          <a:noFill/>
          <a:ln w="23812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9848850" y="2343150"/>
            <a:ext cx="285750" cy="152400"/>
          </a:xfrm>
          <a:custGeom>
            <a:avLst/>
            <a:gdLst/>
            <a:ahLst/>
            <a:cxnLst/>
            <a:rect l="l" t="t" r="r" b="b"/>
            <a:pathLst>
              <a:path w="2250" h="1200">
                <a:moveTo>
                  <a:pt x="0" y="0"/>
                </a:moveTo>
                <a:lnTo>
                  <a:pt x="1200" y="0"/>
                </a:lnTo>
                <a:lnTo>
                  <a:pt x="1200" y="450"/>
                </a:lnTo>
                <a:lnTo>
                  <a:pt x="2250" y="450"/>
                </a:lnTo>
                <a:lnTo>
                  <a:pt x="1800" y="1200"/>
                </a:lnTo>
                <a:lnTo>
                  <a:pt x="900" y="1200"/>
                </a:lnTo>
                <a:lnTo>
                  <a:pt x="900" y="750"/>
                </a:lnTo>
                <a:lnTo>
                  <a:pt x="0" y="750"/>
                </a:lnTo>
              </a:path>
            </a:pathLst>
          </a:custGeom>
          <a:noFill/>
          <a:ln w="19050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858375" y="2352675"/>
            <a:ext cx="133350" cy="76200"/>
          </a:xfrm>
          <a:prstGeom prst="rect">
            <a:avLst/>
          </a:prstGeom>
          <a:solidFill>
            <a:srgbClr val="E6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9791700" y="2695575"/>
            <a:ext cx="133350" cy="0"/>
          </a:xfrm>
          <a:custGeom>
            <a:avLst/>
            <a:gdLst/>
            <a:ahLst/>
            <a:cxnLst/>
            <a:rect l="l" t="t" r="r" b="b"/>
            <a:pathLst>
              <a:path w="1050" h="0">
                <a:moveTo>
                  <a:pt x="0" y="0"/>
                </a:moveTo>
                <a:lnTo>
                  <a:pt x="1050" y="0"/>
                </a:lnTo>
              </a:path>
            </a:pathLst>
          </a:custGeom>
          <a:noFill/>
          <a:ln w="19050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"/>
          <p:cNvSpPr txBox="1"/>
          <p:nvPr/>
        </p:nvSpPr>
        <p:spPr>
          <a:xfrm>
            <a:off x="10985500" y="2374900"/>
            <a:ext cx="508000" cy="4197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786F"/>
                </a:solidFill>
                <a:latin typeface="Microsoft JhengHei"/>
              </a:defRPr>
            </a:pPr>
            <a:r>
              <a:t>05</a:t>
            </a:r>
          </a:p>
        </p:txBody>
      </p:sp>
      <p:sp>
        <p:nvSpPr>
          <p:cNvPr id="72" name="Oval 71"/>
          <p:cNvSpPr/>
          <p:nvPr/>
        </p:nvSpPr>
        <p:spPr>
          <a:xfrm>
            <a:off x="9779000" y="3390900"/>
            <a:ext cx="228600" cy="228600"/>
          </a:xfrm>
          <a:prstGeom prst="ellipse">
            <a:avLst/>
          </a:prstGeom>
          <a:solidFill>
            <a:srgbClr val="DD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779000" y="3352800"/>
            <a:ext cx="228600" cy="2286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829800" y="3403600"/>
            <a:ext cx="127000" cy="127000"/>
          </a:xfrm>
          <a:prstGeom prst="ellipse">
            <a:avLst/>
          </a:prstGeom>
          <a:solidFill>
            <a:srgbClr val="007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"/>
          <p:cNvSpPr txBox="1"/>
          <p:nvPr/>
        </p:nvSpPr>
        <p:spPr>
          <a:xfrm>
            <a:off x="9613900" y="3759200"/>
            <a:ext cx="2095500" cy="3168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394B"/>
                </a:solidFill>
                <a:latin typeface="Microsoft JhengHei"/>
              </a:defRPr>
            </a:pPr>
            <a:r>
              <a:t>上 F5 並確認</a:t>
            </a:r>
          </a:p>
        </p:txBody>
      </p:sp>
      <p:sp>
        <p:nvSpPr>
          <p:cNvPr id="76" name="Text"/>
          <p:cNvSpPr txBox="1"/>
          <p:nvPr/>
        </p:nvSpPr>
        <p:spPr>
          <a:xfrm>
            <a:off x="9613900" y="4127500"/>
            <a:ext cx="2095500" cy="2911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92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506B77"/>
                </a:solidFill>
                <a:latin typeface="Microsoft JhengHei"/>
              </a:defRPr>
            </a:pPr>
            <a:r>
              <a:t>換版完成、留紀錄</a:t>
            </a:r>
          </a:p>
        </p:txBody>
      </p:sp>
      <p:sp>
        <p:nvSpPr>
          <p:cNvPr id="77" name="Freeform 76"/>
          <p:cNvSpPr/>
          <p:nvPr/>
        </p:nvSpPr>
        <p:spPr>
          <a:xfrm>
            <a:off x="6438900" y="4406900"/>
            <a:ext cx="2311400" cy="330200"/>
          </a:xfrm>
          <a:custGeom>
            <a:avLst/>
            <a:gdLst/>
            <a:ahLst/>
            <a:cxnLst/>
            <a:rect l="l" t="t" r="r" b="b"/>
            <a:pathLst>
              <a:path w="18200" h="2600">
                <a:moveTo>
                  <a:pt x="18200" y="0"/>
                </a:moveTo>
                <a:lnTo>
                  <a:pt x="18200" y="2600"/>
                </a:lnTo>
                <a:lnTo>
                  <a:pt x="0" y="2600"/>
                </a:lnTo>
              </a:path>
            </a:pathLst>
          </a:custGeom>
          <a:noFill/>
          <a:ln w="25400" cap="rnd">
            <a:solidFill>
              <a:srgbClr val="B33F3F"/>
            </a:solidFill>
            <a:prstDash val="dash"/>
            <a:round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"/>
          <p:cNvSpPr txBox="1"/>
          <p:nvPr/>
        </p:nvSpPr>
        <p:spPr>
          <a:xfrm>
            <a:off x="3644900" y="4495800"/>
            <a:ext cx="5003800" cy="239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B33F3F"/>
                </a:solidFill>
                <a:latin typeface="Microsoft JhengHei"/>
              </a:defRPr>
            </a:pPr>
            <a:r>
              <a:t>換版／啟動／檢查／新版功能驗證失敗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08000" y="4965700"/>
            <a:ext cx="5346700" cy="1104900"/>
          </a:xfrm>
          <a:prstGeom prst="roundRect">
            <a:avLst>
              <a:gd name="adj" fmla="val 13793"/>
            </a:avLst>
          </a:prstGeom>
          <a:solidFill>
            <a:srgbClr val="FAE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748538" y="5272659"/>
            <a:ext cx="303403" cy="313182"/>
          </a:xfrm>
          <a:custGeom>
            <a:avLst/>
            <a:gdLst/>
            <a:ahLst/>
            <a:cxnLst/>
            <a:rect l="l" t="t" r="r" b="b"/>
            <a:pathLst>
              <a:path w="2389" h="2466">
                <a:moveTo>
                  <a:pt x="77" y="693"/>
                </a:moveTo>
                <a:lnTo>
                  <a:pt x="539" y="77"/>
                </a:lnTo>
                <a:lnTo>
                  <a:pt x="1696" y="0"/>
                </a:lnTo>
                <a:lnTo>
                  <a:pt x="2389" y="771"/>
                </a:lnTo>
                <a:lnTo>
                  <a:pt x="2389" y="1773"/>
                </a:lnTo>
                <a:lnTo>
                  <a:pt x="1696" y="2466"/>
                </a:lnTo>
                <a:lnTo>
                  <a:pt x="694" y="2466"/>
                </a:lnTo>
                <a:lnTo>
                  <a:pt x="0" y="1850"/>
                </a:lnTo>
              </a:path>
            </a:pathLst>
          </a:custGeom>
          <a:noFill/>
          <a:ln w="24473" cap="rnd">
            <a:solidFill>
              <a:srgbClr val="B33F3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758317" y="5243195"/>
            <a:ext cx="117475" cy="117475"/>
          </a:xfrm>
          <a:custGeom>
            <a:avLst/>
            <a:gdLst/>
            <a:ahLst/>
            <a:cxnLst/>
            <a:rect l="l" t="t" r="r" b="b"/>
            <a:pathLst>
              <a:path w="925" h="925">
                <a:moveTo>
                  <a:pt x="0" y="0"/>
                </a:moveTo>
                <a:lnTo>
                  <a:pt x="0" y="925"/>
                </a:lnTo>
                <a:lnTo>
                  <a:pt x="925" y="925"/>
                </a:lnTo>
              </a:path>
            </a:pathLst>
          </a:custGeom>
          <a:noFill/>
          <a:ln w="24473" cap="rnd">
            <a:solidFill>
              <a:srgbClr val="B33F3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895350" y="5370576"/>
            <a:ext cx="68580" cy="127254"/>
          </a:xfrm>
          <a:custGeom>
            <a:avLst/>
            <a:gdLst/>
            <a:ahLst/>
            <a:cxnLst/>
            <a:rect l="l" t="t" r="r" b="b"/>
            <a:pathLst>
              <a:path w="540" h="1002">
                <a:moveTo>
                  <a:pt x="0" y="0"/>
                </a:moveTo>
                <a:lnTo>
                  <a:pt x="0" y="693"/>
                </a:lnTo>
                <a:lnTo>
                  <a:pt x="540" y="1002"/>
                </a:lnTo>
              </a:path>
            </a:pathLst>
          </a:custGeom>
          <a:noFill/>
          <a:ln w="19579" cap="rnd">
            <a:solidFill>
              <a:srgbClr val="B33F3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"/>
          <p:cNvSpPr txBox="1"/>
          <p:nvPr/>
        </p:nvSpPr>
        <p:spPr>
          <a:xfrm>
            <a:off x="1295400" y="5080000"/>
            <a:ext cx="4394200" cy="3168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B33F3F"/>
                </a:solidFill>
                <a:latin typeface="Microsoft JhengHei"/>
              </a:defRPr>
            </a:pPr>
            <a:r>
              <a:t>保持隔離 → 還原舊版 → 再檢查</a:t>
            </a:r>
          </a:p>
        </p:txBody>
      </p:sp>
      <p:sp>
        <p:nvSpPr>
          <p:cNvPr id="84" name="Text"/>
          <p:cNvSpPr txBox="1"/>
          <p:nvPr/>
        </p:nvSpPr>
        <p:spPr>
          <a:xfrm>
            <a:off x="1295400" y="5448300"/>
            <a:ext cx="4394200" cy="5226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7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18394B"/>
                </a:solidFill>
                <a:latin typeface="Microsoft JhengHei"/>
              </a:defRPr>
            </a:pPr>
            <a:r>
              <a:t>舊版健康且人工確認，才可上 F5。</a:t>
            </a:r>
          </a:p>
          <a:p>
            <a:pPr algn="l">
              <a:lnSpc>
                <a:spcPts val="1957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18394B"/>
                </a:solidFill>
                <a:latin typeface="Microsoft JhengHei"/>
              </a:defRPr>
            </a:pPr>
            <a:r>
              <a:t>復原成功仍記為「換版失敗」。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108700" y="4965700"/>
            <a:ext cx="5575300" cy="1104900"/>
          </a:xfrm>
          <a:prstGeom prst="roundRect">
            <a:avLst>
              <a:gd name="adj" fmla="val 13793"/>
            </a:avLst>
          </a:prstGeom>
          <a:solidFill>
            <a:srgbClr val="FF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"/>
          <p:cNvSpPr txBox="1"/>
          <p:nvPr/>
        </p:nvSpPr>
        <p:spPr>
          <a:xfrm>
            <a:off x="6311900" y="5105400"/>
            <a:ext cx="5156200" cy="3168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AC4E16"/>
                </a:solidFill>
                <a:latin typeface="Microsoft JhengHei"/>
              </a:defRPr>
            </a:pPr>
            <a:r>
              <a:t>未確認、逾時或復原失敗：不恢復流量</a:t>
            </a:r>
          </a:p>
        </p:txBody>
      </p:sp>
      <p:sp>
        <p:nvSpPr>
          <p:cNvPr id="87" name="Text"/>
          <p:cNvSpPr txBox="1"/>
          <p:nvPr/>
        </p:nvSpPr>
        <p:spPr>
          <a:xfrm>
            <a:off x="6311900" y="5600700"/>
            <a:ext cx="5156200" cy="2740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7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18394B"/>
                </a:solidFill>
                <a:latin typeface="Microsoft JhengHei"/>
              </a:defRPr>
            </a:pPr>
            <a:r>
              <a:t>停止後續目標並通知；主機失聯另需復原手段。</a:t>
            </a:r>
          </a:p>
        </p:txBody>
      </p:sp>
      <p:sp>
        <p:nvSpPr>
          <p:cNvPr id="88" name="Freeform 87"/>
          <p:cNvSpPr/>
          <p:nvPr/>
        </p:nvSpPr>
        <p:spPr>
          <a:xfrm>
            <a:off x="3187700" y="4737100"/>
            <a:ext cx="3251200" cy="228600"/>
          </a:xfrm>
          <a:custGeom>
            <a:avLst/>
            <a:gdLst/>
            <a:ahLst/>
            <a:cxnLst/>
            <a:rect l="l" t="t" r="r" b="b"/>
            <a:pathLst>
              <a:path w="25600" h="1800">
                <a:moveTo>
                  <a:pt x="25600" y="0"/>
                </a:moveTo>
                <a:lnTo>
                  <a:pt x="0" y="0"/>
                </a:lnTo>
                <a:lnTo>
                  <a:pt x="0" y="1800"/>
                </a:lnTo>
              </a:path>
            </a:pathLst>
          </a:custGeom>
          <a:noFill/>
          <a:ln w="25400" cap="rnd">
            <a:solidFill>
              <a:srgbClr val="B33F3F"/>
            </a:solidFill>
            <a:prstDash val="dash"/>
            <a:round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建議以 12/31 為目標，逐關驗證後再正式上線"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"/>
          <p:cNvSpPr txBox="1"/>
          <p:nvPr/>
        </p:nvSpPr>
        <p:spPr>
          <a:xfrm>
            <a:off x="457200" y="241300"/>
            <a:ext cx="7810500" cy="2054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0786F"/>
                </a:solidFill>
                <a:latin typeface="Microsoft JhengHei"/>
              </a:defRPr>
            </a:pPr>
            <a:r>
              <a:t>WINDOWS  /  DEPLOYMENT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28200" y="190500"/>
            <a:ext cx="2006600" cy="342900"/>
          </a:xfrm>
          <a:prstGeom prst="roundRect">
            <a:avLst>
              <a:gd name="adj" fmla="val 48148"/>
            </a:avLst>
          </a:prstGeom>
          <a:solidFill>
            <a:srgbClr val="EE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"/>
          <p:cNvSpPr txBox="1"/>
          <p:nvPr/>
        </p:nvSpPr>
        <p:spPr>
          <a:xfrm>
            <a:off x="9842500" y="254000"/>
            <a:ext cx="1778000" cy="2225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552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8394B"/>
                </a:solidFill>
                <a:latin typeface="Microsoft JhengHei"/>
              </a:defRPr>
            </a:pPr>
            <a:r>
              <a:t>08  /  建議行程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749300"/>
            <a:ext cx="11277600" cy="522605"/>
          </a:xfrm>
        </p:spPr>
        <p:txBody>
          <a:bodyPr lIns="0" rIns="0" tIns="0" bIns="0" wrap="none" anchor="t"/>
          <a:lstStyle/>
          <a:p>
            <a:pPr algn="l">
              <a:lnSpc>
                <a:spcPts val="391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94B"/>
                </a:solidFill>
                <a:latin typeface="Microsoft JhengHei"/>
              </a:defRPr>
            </a:pPr>
            <a:r>
              <a:t>從第一個 POC，走向受控的正式上線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457200" y="1320800"/>
            <a:ext cx="11277600" cy="3082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506B77"/>
                </a:solidFill>
                <a:latin typeface="Microsoft JhengHei"/>
              </a:defRPr>
            </a:pPr>
            <a:r>
              <a:t>暫定里程碑順序；階段日期、資源與上線批准，待相關部門共同確認。</a:t>
            </a:r>
          </a:p>
        </p:txBody>
      </p:sp>
      <p:sp>
        <p:nvSpPr>
          <p:cNvPr id="8" name="Freeform 7"/>
          <p:cNvSpPr/>
          <p:nvPr/>
        </p:nvSpPr>
        <p:spPr>
          <a:xfrm>
            <a:off x="457200" y="6413500"/>
            <a:ext cx="11277600" cy="0"/>
          </a:xfrm>
          <a:custGeom>
            <a:avLst/>
            <a:gdLst/>
            <a:ahLst/>
            <a:cxnLst/>
            <a:rect l="l" t="t" r="r" b="b"/>
            <a:pathLst>
              <a:path w="88800" h="0">
                <a:moveTo>
                  <a:pt x="0" y="0"/>
                </a:moveTo>
                <a:lnTo>
                  <a:pt x="88800" y="0"/>
                </a:lnTo>
              </a:path>
            </a:pathLst>
          </a:custGeom>
          <a:noFill/>
          <a:ln w="10160" cap="rnd">
            <a:solidFill>
              <a:srgbClr val="DCE4E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457200" y="6553200"/>
            <a:ext cx="10033000" cy="188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82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506B77"/>
                </a:solidFill>
                <a:latin typeface="Microsoft JhengHei"/>
              </a:defRPr>
            </a:pPr>
            <a:r>
              <a:t>JOURNEY EDITION  /  規劃提案 · 尚未完成實作／POC 驗證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0972800" y="6527800"/>
            <a:ext cx="762000" cy="2139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06B77"/>
                </a:solidFill>
                <a:latin typeface="Microsoft JhengHei"/>
              </a:defRPr>
            </a:pPr>
            <a:r>
              <a:t>09 / 09</a:t>
            </a:r>
          </a:p>
        </p:txBody>
      </p:sp>
      <p:sp>
        <p:nvSpPr>
          <p:cNvPr id="11" name="Freeform 10"/>
          <p:cNvSpPr/>
          <p:nvPr/>
        </p:nvSpPr>
        <p:spPr>
          <a:xfrm>
            <a:off x="1092200" y="3568700"/>
            <a:ext cx="1930400" cy="850900"/>
          </a:xfrm>
          <a:custGeom>
            <a:avLst/>
            <a:gdLst/>
            <a:ahLst/>
            <a:cxnLst/>
            <a:rect l="l" t="t" r="r" b="b"/>
            <a:pathLst>
              <a:path w="15200" h="6700">
                <a:moveTo>
                  <a:pt x="0" y="6700"/>
                </a:moveTo>
                <a:lnTo>
                  <a:pt x="878" y="6666"/>
                </a:lnTo>
                <a:lnTo>
                  <a:pt x="1692" y="6568"/>
                </a:lnTo>
                <a:lnTo>
                  <a:pt x="2449" y="6412"/>
                </a:lnTo>
                <a:lnTo>
                  <a:pt x="3153" y="6204"/>
                </a:lnTo>
                <a:lnTo>
                  <a:pt x="3810" y="5949"/>
                </a:lnTo>
                <a:lnTo>
                  <a:pt x="4427" y="5653"/>
                </a:lnTo>
                <a:lnTo>
                  <a:pt x="5009" y="5323"/>
                </a:lnTo>
                <a:lnTo>
                  <a:pt x="5562" y="4963"/>
                </a:lnTo>
                <a:lnTo>
                  <a:pt x="6092" y="4580"/>
                </a:lnTo>
                <a:lnTo>
                  <a:pt x="6604" y="4180"/>
                </a:lnTo>
                <a:lnTo>
                  <a:pt x="7105" y="3768"/>
                </a:lnTo>
                <a:lnTo>
                  <a:pt x="7600" y="3350"/>
                </a:lnTo>
                <a:lnTo>
                  <a:pt x="8095" y="2932"/>
                </a:lnTo>
                <a:lnTo>
                  <a:pt x="8596" y="2520"/>
                </a:lnTo>
                <a:lnTo>
                  <a:pt x="9108" y="2120"/>
                </a:lnTo>
                <a:lnTo>
                  <a:pt x="9638" y="1737"/>
                </a:lnTo>
                <a:lnTo>
                  <a:pt x="10191" y="1377"/>
                </a:lnTo>
                <a:lnTo>
                  <a:pt x="10773" y="1047"/>
                </a:lnTo>
                <a:lnTo>
                  <a:pt x="11390" y="751"/>
                </a:lnTo>
                <a:lnTo>
                  <a:pt x="12047" y="496"/>
                </a:lnTo>
                <a:lnTo>
                  <a:pt x="12751" y="288"/>
                </a:lnTo>
                <a:lnTo>
                  <a:pt x="13508" y="132"/>
                </a:lnTo>
                <a:lnTo>
                  <a:pt x="14322" y="34"/>
                </a:lnTo>
                <a:lnTo>
                  <a:pt x="15200" y="0"/>
                </a:lnTo>
              </a:path>
            </a:pathLst>
          </a:custGeom>
          <a:noFill/>
          <a:ln w="152400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092200" y="3568700"/>
            <a:ext cx="1930400" cy="850900"/>
          </a:xfrm>
          <a:custGeom>
            <a:avLst/>
            <a:gdLst/>
            <a:ahLst/>
            <a:cxnLst/>
            <a:rect l="l" t="t" r="r" b="b"/>
            <a:pathLst>
              <a:path w="15200" h="6700">
                <a:moveTo>
                  <a:pt x="0" y="6700"/>
                </a:moveTo>
                <a:lnTo>
                  <a:pt x="878" y="6666"/>
                </a:lnTo>
                <a:lnTo>
                  <a:pt x="1692" y="6568"/>
                </a:lnTo>
                <a:lnTo>
                  <a:pt x="2449" y="6412"/>
                </a:lnTo>
                <a:lnTo>
                  <a:pt x="3153" y="6204"/>
                </a:lnTo>
                <a:lnTo>
                  <a:pt x="3810" y="5949"/>
                </a:lnTo>
                <a:lnTo>
                  <a:pt x="4427" y="5653"/>
                </a:lnTo>
                <a:lnTo>
                  <a:pt x="5009" y="5323"/>
                </a:lnTo>
                <a:lnTo>
                  <a:pt x="5562" y="4963"/>
                </a:lnTo>
                <a:lnTo>
                  <a:pt x="6092" y="4580"/>
                </a:lnTo>
                <a:lnTo>
                  <a:pt x="6604" y="4180"/>
                </a:lnTo>
                <a:lnTo>
                  <a:pt x="7105" y="3768"/>
                </a:lnTo>
                <a:lnTo>
                  <a:pt x="7600" y="3350"/>
                </a:lnTo>
                <a:lnTo>
                  <a:pt x="8095" y="2932"/>
                </a:lnTo>
                <a:lnTo>
                  <a:pt x="8596" y="2520"/>
                </a:lnTo>
                <a:lnTo>
                  <a:pt x="9108" y="2120"/>
                </a:lnTo>
                <a:lnTo>
                  <a:pt x="9638" y="1737"/>
                </a:lnTo>
                <a:lnTo>
                  <a:pt x="10191" y="1377"/>
                </a:lnTo>
                <a:lnTo>
                  <a:pt x="10773" y="1047"/>
                </a:lnTo>
                <a:lnTo>
                  <a:pt x="11390" y="751"/>
                </a:lnTo>
                <a:lnTo>
                  <a:pt x="12047" y="496"/>
                </a:lnTo>
                <a:lnTo>
                  <a:pt x="12751" y="288"/>
                </a:lnTo>
                <a:lnTo>
                  <a:pt x="13508" y="132"/>
                </a:lnTo>
                <a:lnTo>
                  <a:pt x="14322" y="34"/>
                </a:lnTo>
                <a:lnTo>
                  <a:pt x="15200" y="0"/>
                </a:lnTo>
              </a:path>
            </a:pathLst>
          </a:custGeom>
          <a:noFill/>
          <a:ln w="13970" cap="rnd">
            <a:solidFill>
              <a:srgbClr val="FFFF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3022600" y="3568700"/>
            <a:ext cx="1930400" cy="546100"/>
          </a:xfrm>
          <a:custGeom>
            <a:avLst/>
            <a:gdLst/>
            <a:ahLst/>
            <a:cxnLst/>
            <a:rect l="l" t="t" r="r" b="b"/>
            <a:pathLst>
              <a:path w="15200" h="4300">
                <a:moveTo>
                  <a:pt x="0" y="0"/>
                </a:moveTo>
                <a:lnTo>
                  <a:pt x="878" y="22"/>
                </a:lnTo>
                <a:lnTo>
                  <a:pt x="1692" y="85"/>
                </a:lnTo>
                <a:lnTo>
                  <a:pt x="2449" y="185"/>
                </a:lnTo>
                <a:lnTo>
                  <a:pt x="3153" y="319"/>
                </a:lnTo>
                <a:lnTo>
                  <a:pt x="3810" y="482"/>
                </a:lnTo>
                <a:lnTo>
                  <a:pt x="4427" y="672"/>
                </a:lnTo>
                <a:lnTo>
                  <a:pt x="5009" y="884"/>
                </a:lnTo>
                <a:lnTo>
                  <a:pt x="5562" y="1115"/>
                </a:lnTo>
                <a:lnTo>
                  <a:pt x="6092" y="1361"/>
                </a:lnTo>
                <a:lnTo>
                  <a:pt x="6604" y="1617"/>
                </a:lnTo>
                <a:lnTo>
                  <a:pt x="7105" y="1882"/>
                </a:lnTo>
                <a:lnTo>
                  <a:pt x="7600" y="2150"/>
                </a:lnTo>
                <a:lnTo>
                  <a:pt x="8095" y="2418"/>
                </a:lnTo>
                <a:lnTo>
                  <a:pt x="8596" y="2683"/>
                </a:lnTo>
                <a:lnTo>
                  <a:pt x="9108" y="2939"/>
                </a:lnTo>
                <a:lnTo>
                  <a:pt x="9638" y="3185"/>
                </a:lnTo>
                <a:lnTo>
                  <a:pt x="10191" y="3416"/>
                </a:lnTo>
                <a:lnTo>
                  <a:pt x="10773" y="3628"/>
                </a:lnTo>
                <a:lnTo>
                  <a:pt x="11390" y="3818"/>
                </a:lnTo>
                <a:lnTo>
                  <a:pt x="12047" y="3981"/>
                </a:lnTo>
                <a:lnTo>
                  <a:pt x="12751" y="4115"/>
                </a:lnTo>
                <a:lnTo>
                  <a:pt x="13508" y="4215"/>
                </a:lnTo>
                <a:lnTo>
                  <a:pt x="14322" y="4278"/>
                </a:lnTo>
                <a:lnTo>
                  <a:pt x="15200" y="4300"/>
                </a:lnTo>
              </a:path>
            </a:pathLst>
          </a:custGeom>
          <a:noFill/>
          <a:ln w="152400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3022600" y="3568700"/>
            <a:ext cx="1930400" cy="546100"/>
          </a:xfrm>
          <a:custGeom>
            <a:avLst/>
            <a:gdLst/>
            <a:ahLst/>
            <a:cxnLst/>
            <a:rect l="l" t="t" r="r" b="b"/>
            <a:pathLst>
              <a:path w="15200" h="4300">
                <a:moveTo>
                  <a:pt x="0" y="0"/>
                </a:moveTo>
                <a:lnTo>
                  <a:pt x="878" y="22"/>
                </a:lnTo>
                <a:lnTo>
                  <a:pt x="1692" y="85"/>
                </a:lnTo>
                <a:lnTo>
                  <a:pt x="2449" y="185"/>
                </a:lnTo>
                <a:lnTo>
                  <a:pt x="3153" y="319"/>
                </a:lnTo>
                <a:lnTo>
                  <a:pt x="3810" y="482"/>
                </a:lnTo>
                <a:lnTo>
                  <a:pt x="4427" y="672"/>
                </a:lnTo>
                <a:lnTo>
                  <a:pt x="5009" y="884"/>
                </a:lnTo>
                <a:lnTo>
                  <a:pt x="5562" y="1115"/>
                </a:lnTo>
                <a:lnTo>
                  <a:pt x="6092" y="1361"/>
                </a:lnTo>
                <a:lnTo>
                  <a:pt x="6604" y="1617"/>
                </a:lnTo>
                <a:lnTo>
                  <a:pt x="7105" y="1882"/>
                </a:lnTo>
                <a:lnTo>
                  <a:pt x="7600" y="2150"/>
                </a:lnTo>
                <a:lnTo>
                  <a:pt x="8095" y="2418"/>
                </a:lnTo>
                <a:lnTo>
                  <a:pt x="8596" y="2683"/>
                </a:lnTo>
                <a:lnTo>
                  <a:pt x="9108" y="2939"/>
                </a:lnTo>
                <a:lnTo>
                  <a:pt x="9638" y="3185"/>
                </a:lnTo>
                <a:lnTo>
                  <a:pt x="10191" y="3416"/>
                </a:lnTo>
                <a:lnTo>
                  <a:pt x="10773" y="3628"/>
                </a:lnTo>
                <a:lnTo>
                  <a:pt x="11390" y="3818"/>
                </a:lnTo>
                <a:lnTo>
                  <a:pt x="12047" y="3981"/>
                </a:lnTo>
                <a:lnTo>
                  <a:pt x="12751" y="4115"/>
                </a:lnTo>
                <a:lnTo>
                  <a:pt x="13508" y="4215"/>
                </a:lnTo>
                <a:lnTo>
                  <a:pt x="14322" y="4278"/>
                </a:lnTo>
                <a:lnTo>
                  <a:pt x="15200" y="4300"/>
                </a:lnTo>
              </a:path>
            </a:pathLst>
          </a:custGeom>
          <a:noFill/>
          <a:ln w="13970" cap="rnd">
            <a:solidFill>
              <a:srgbClr val="FFFF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4953000" y="2984500"/>
            <a:ext cx="1930400" cy="1130300"/>
          </a:xfrm>
          <a:custGeom>
            <a:avLst/>
            <a:gdLst/>
            <a:ahLst/>
            <a:cxnLst/>
            <a:rect l="l" t="t" r="r" b="b"/>
            <a:pathLst>
              <a:path w="15200" h="8900">
                <a:moveTo>
                  <a:pt x="0" y="8900"/>
                </a:moveTo>
                <a:lnTo>
                  <a:pt x="878" y="8855"/>
                </a:lnTo>
                <a:lnTo>
                  <a:pt x="1692" y="8725"/>
                </a:lnTo>
                <a:lnTo>
                  <a:pt x="2449" y="8518"/>
                </a:lnTo>
                <a:lnTo>
                  <a:pt x="3153" y="8241"/>
                </a:lnTo>
                <a:lnTo>
                  <a:pt x="3810" y="7902"/>
                </a:lnTo>
                <a:lnTo>
                  <a:pt x="4427" y="7509"/>
                </a:lnTo>
                <a:lnTo>
                  <a:pt x="5009" y="7070"/>
                </a:lnTo>
                <a:lnTo>
                  <a:pt x="5562" y="6593"/>
                </a:lnTo>
                <a:lnTo>
                  <a:pt x="6092" y="6084"/>
                </a:lnTo>
                <a:lnTo>
                  <a:pt x="6604" y="5552"/>
                </a:lnTo>
                <a:lnTo>
                  <a:pt x="7105" y="5005"/>
                </a:lnTo>
                <a:lnTo>
                  <a:pt x="7600" y="4450"/>
                </a:lnTo>
                <a:lnTo>
                  <a:pt x="8095" y="3895"/>
                </a:lnTo>
                <a:lnTo>
                  <a:pt x="8596" y="3348"/>
                </a:lnTo>
                <a:lnTo>
                  <a:pt x="9108" y="2816"/>
                </a:lnTo>
                <a:lnTo>
                  <a:pt x="9638" y="2307"/>
                </a:lnTo>
                <a:lnTo>
                  <a:pt x="10191" y="1830"/>
                </a:lnTo>
                <a:lnTo>
                  <a:pt x="10773" y="1391"/>
                </a:lnTo>
                <a:lnTo>
                  <a:pt x="11390" y="998"/>
                </a:lnTo>
                <a:lnTo>
                  <a:pt x="12047" y="659"/>
                </a:lnTo>
                <a:lnTo>
                  <a:pt x="12751" y="382"/>
                </a:lnTo>
                <a:lnTo>
                  <a:pt x="13508" y="175"/>
                </a:lnTo>
                <a:lnTo>
                  <a:pt x="14322" y="45"/>
                </a:lnTo>
                <a:lnTo>
                  <a:pt x="15200" y="0"/>
                </a:lnTo>
              </a:path>
            </a:pathLst>
          </a:custGeom>
          <a:noFill/>
          <a:ln w="152400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953000" y="2984500"/>
            <a:ext cx="1930400" cy="1130300"/>
          </a:xfrm>
          <a:custGeom>
            <a:avLst/>
            <a:gdLst/>
            <a:ahLst/>
            <a:cxnLst/>
            <a:rect l="l" t="t" r="r" b="b"/>
            <a:pathLst>
              <a:path w="15200" h="8900">
                <a:moveTo>
                  <a:pt x="0" y="8900"/>
                </a:moveTo>
                <a:lnTo>
                  <a:pt x="878" y="8855"/>
                </a:lnTo>
                <a:lnTo>
                  <a:pt x="1692" y="8725"/>
                </a:lnTo>
                <a:lnTo>
                  <a:pt x="2449" y="8518"/>
                </a:lnTo>
                <a:lnTo>
                  <a:pt x="3153" y="8241"/>
                </a:lnTo>
                <a:lnTo>
                  <a:pt x="3810" y="7902"/>
                </a:lnTo>
                <a:lnTo>
                  <a:pt x="4427" y="7509"/>
                </a:lnTo>
                <a:lnTo>
                  <a:pt x="5009" y="7070"/>
                </a:lnTo>
                <a:lnTo>
                  <a:pt x="5562" y="6593"/>
                </a:lnTo>
                <a:lnTo>
                  <a:pt x="6092" y="6084"/>
                </a:lnTo>
                <a:lnTo>
                  <a:pt x="6604" y="5552"/>
                </a:lnTo>
                <a:lnTo>
                  <a:pt x="7105" y="5005"/>
                </a:lnTo>
                <a:lnTo>
                  <a:pt x="7600" y="4450"/>
                </a:lnTo>
                <a:lnTo>
                  <a:pt x="8095" y="3895"/>
                </a:lnTo>
                <a:lnTo>
                  <a:pt x="8596" y="3348"/>
                </a:lnTo>
                <a:lnTo>
                  <a:pt x="9108" y="2816"/>
                </a:lnTo>
                <a:lnTo>
                  <a:pt x="9638" y="2307"/>
                </a:lnTo>
                <a:lnTo>
                  <a:pt x="10191" y="1830"/>
                </a:lnTo>
                <a:lnTo>
                  <a:pt x="10773" y="1391"/>
                </a:lnTo>
                <a:lnTo>
                  <a:pt x="11390" y="998"/>
                </a:lnTo>
                <a:lnTo>
                  <a:pt x="12047" y="659"/>
                </a:lnTo>
                <a:lnTo>
                  <a:pt x="12751" y="382"/>
                </a:lnTo>
                <a:lnTo>
                  <a:pt x="13508" y="175"/>
                </a:lnTo>
                <a:lnTo>
                  <a:pt x="14322" y="45"/>
                </a:lnTo>
                <a:lnTo>
                  <a:pt x="15200" y="0"/>
                </a:lnTo>
              </a:path>
            </a:pathLst>
          </a:custGeom>
          <a:noFill/>
          <a:ln w="13970" cap="rnd">
            <a:solidFill>
              <a:srgbClr val="FFFF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6883400" y="2984500"/>
            <a:ext cx="1930400" cy="571500"/>
          </a:xfrm>
          <a:custGeom>
            <a:avLst/>
            <a:gdLst/>
            <a:ahLst/>
            <a:cxnLst/>
            <a:rect l="l" t="t" r="r" b="b"/>
            <a:pathLst>
              <a:path w="15200" h="4500">
                <a:moveTo>
                  <a:pt x="0" y="0"/>
                </a:moveTo>
                <a:lnTo>
                  <a:pt x="878" y="23"/>
                </a:lnTo>
                <a:lnTo>
                  <a:pt x="1692" y="89"/>
                </a:lnTo>
                <a:lnTo>
                  <a:pt x="2449" y="193"/>
                </a:lnTo>
                <a:lnTo>
                  <a:pt x="3153" y="333"/>
                </a:lnTo>
                <a:lnTo>
                  <a:pt x="3810" y="505"/>
                </a:lnTo>
                <a:lnTo>
                  <a:pt x="4427" y="703"/>
                </a:lnTo>
                <a:lnTo>
                  <a:pt x="5009" y="925"/>
                </a:lnTo>
                <a:lnTo>
                  <a:pt x="5562" y="1167"/>
                </a:lnTo>
                <a:lnTo>
                  <a:pt x="6092" y="1424"/>
                </a:lnTo>
                <a:lnTo>
                  <a:pt x="6604" y="1693"/>
                </a:lnTo>
                <a:lnTo>
                  <a:pt x="7105" y="1969"/>
                </a:lnTo>
                <a:lnTo>
                  <a:pt x="7600" y="2250"/>
                </a:lnTo>
                <a:lnTo>
                  <a:pt x="8095" y="2531"/>
                </a:lnTo>
                <a:lnTo>
                  <a:pt x="8596" y="2807"/>
                </a:lnTo>
                <a:lnTo>
                  <a:pt x="9108" y="3076"/>
                </a:lnTo>
                <a:lnTo>
                  <a:pt x="9638" y="3333"/>
                </a:lnTo>
                <a:lnTo>
                  <a:pt x="10191" y="3575"/>
                </a:lnTo>
                <a:lnTo>
                  <a:pt x="10773" y="3797"/>
                </a:lnTo>
                <a:lnTo>
                  <a:pt x="11390" y="3995"/>
                </a:lnTo>
                <a:lnTo>
                  <a:pt x="12047" y="4167"/>
                </a:lnTo>
                <a:lnTo>
                  <a:pt x="12751" y="4307"/>
                </a:lnTo>
                <a:lnTo>
                  <a:pt x="13508" y="4411"/>
                </a:lnTo>
                <a:lnTo>
                  <a:pt x="14322" y="4477"/>
                </a:lnTo>
                <a:lnTo>
                  <a:pt x="15200" y="4500"/>
                </a:lnTo>
              </a:path>
            </a:pathLst>
          </a:custGeom>
          <a:noFill/>
          <a:ln w="152400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6883400" y="2984500"/>
            <a:ext cx="1930400" cy="571500"/>
          </a:xfrm>
          <a:custGeom>
            <a:avLst/>
            <a:gdLst/>
            <a:ahLst/>
            <a:cxnLst/>
            <a:rect l="l" t="t" r="r" b="b"/>
            <a:pathLst>
              <a:path w="15200" h="4500">
                <a:moveTo>
                  <a:pt x="0" y="0"/>
                </a:moveTo>
                <a:lnTo>
                  <a:pt x="878" y="23"/>
                </a:lnTo>
                <a:lnTo>
                  <a:pt x="1692" y="89"/>
                </a:lnTo>
                <a:lnTo>
                  <a:pt x="2449" y="193"/>
                </a:lnTo>
                <a:lnTo>
                  <a:pt x="3153" y="333"/>
                </a:lnTo>
                <a:lnTo>
                  <a:pt x="3810" y="505"/>
                </a:lnTo>
                <a:lnTo>
                  <a:pt x="4427" y="703"/>
                </a:lnTo>
                <a:lnTo>
                  <a:pt x="5009" y="925"/>
                </a:lnTo>
                <a:lnTo>
                  <a:pt x="5562" y="1167"/>
                </a:lnTo>
                <a:lnTo>
                  <a:pt x="6092" y="1424"/>
                </a:lnTo>
                <a:lnTo>
                  <a:pt x="6604" y="1693"/>
                </a:lnTo>
                <a:lnTo>
                  <a:pt x="7105" y="1969"/>
                </a:lnTo>
                <a:lnTo>
                  <a:pt x="7600" y="2250"/>
                </a:lnTo>
                <a:lnTo>
                  <a:pt x="8095" y="2531"/>
                </a:lnTo>
                <a:lnTo>
                  <a:pt x="8596" y="2807"/>
                </a:lnTo>
                <a:lnTo>
                  <a:pt x="9108" y="3076"/>
                </a:lnTo>
                <a:lnTo>
                  <a:pt x="9638" y="3333"/>
                </a:lnTo>
                <a:lnTo>
                  <a:pt x="10191" y="3575"/>
                </a:lnTo>
                <a:lnTo>
                  <a:pt x="10773" y="3797"/>
                </a:lnTo>
                <a:lnTo>
                  <a:pt x="11390" y="3995"/>
                </a:lnTo>
                <a:lnTo>
                  <a:pt x="12047" y="4167"/>
                </a:lnTo>
                <a:lnTo>
                  <a:pt x="12751" y="4307"/>
                </a:lnTo>
                <a:lnTo>
                  <a:pt x="13508" y="4411"/>
                </a:lnTo>
                <a:lnTo>
                  <a:pt x="14322" y="4477"/>
                </a:lnTo>
                <a:lnTo>
                  <a:pt x="15200" y="4500"/>
                </a:lnTo>
              </a:path>
            </a:pathLst>
          </a:custGeom>
          <a:noFill/>
          <a:ln w="13970" cap="rnd">
            <a:solidFill>
              <a:srgbClr val="FFFF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8813800" y="2527300"/>
            <a:ext cx="2057400" cy="1028700"/>
          </a:xfrm>
          <a:custGeom>
            <a:avLst/>
            <a:gdLst/>
            <a:ahLst/>
            <a:cxnLst/>
            <a:rect l="l" t="t" r="r" b="b"/>
            <a:pathLst>
              <a:path w="16200" h="8100">
                <a:moveTo>
                  <a:pt x="0" y="8100"/>
                </a:moveTo>
                <a:lnTo>
                  <a:pt x="936" y="8059"/>
                </a:lnTo>
                <a:lnTo>
                  <a:pt x="1804" y="7941"/>
                </a:lnTo>
                <a:lnTo>
                  <a:pt x="2610" y="7752"/>
                </a:lnTo>
                <a:lnTo>
                  <a:pt x="3360" y="7500"/>
                </a:lnTo>
                <a:lnTo>
                  <a:pt x="4061" y="7192"/>
                </a:lnTo>
                <a:lnTo>
                  <a:pt x="4718" y="6834"/>
                </a:lnTo>
                <a:lnTo>
                  <a:pt x="5339" y="6435"/>
                </a:lnTo>
                <a:lnTo>
                  <a:pt x="5928" y="6000"/>
                </a:lnTo>
                <a:lnTo>
                  <a:pt x="6493" y="5537"/>
                </a:lnTo>
                <a:lnTo>
                  <a:pt x="7039" y="5053"/>
                </a:lnTo>
                <a:lnTo>
                  <a:pt x="7572" y="4555"/>
                </a:lnTo>
                <a:lnTo>
                  <a:pt x="8100" y="4050"/>
                </a:lnTo>
                <a:lnTo>
                  <a:pt x="8628" y="3545"/>
                </a:lnTo>
                <a:lnTo>
                  <a:pt x="9161" y="3047"/>
                </a:lnTo>
                <a:lnTo>
                  <a:pt x="9707" y="2563"/>
                </a:lnTo>
                <a:lnTo>
                  <a:pt x="10272" y="2100"/>
                </a:lnTo>
                <a:lnTo>
                  <a:pt x="10861" y="1665"/>
                </a:lnTo>
                <a:lnTo>
                  <a:pt x="11482" y="1266"/>
                </a:lnTo>
                <a:lnTo>
                  <a:pt x="12139" y="908"/>
                </a:lnTo>
                <a:lnTo>
                  <a:pt x="12840" y="600"/>
                </a:lnTo>
                <a:lnTo>
                  <a:pt x="13590" y="348"/>
                </a:lnTo>
                <a:lnTo>
                  <a:pt x="14396" y="159"/>
                </a:lnTo>
                <a:lnTo>
                  <a:pt x="15264" y="41"/>
                </a:lnTo>
                <a:lnTo>
                  <a:pt x="16200" y="0"/>
                </a:lnTo>
              </a:path>
            </a:pathLst>
          </a:custGeom>
          <a:noFill/>
          <a:ln w="152400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8813800" y="2527300"/>
            <a:ext cx="2057400" cy="1028700"/>
          </a:xfrm>
          <a:custGeom>
            <a:avLst/>
            <a:gdLst/>
            <a:ahLst/>
            <a:cxnLst/>
            <a:rect l="l" t="t" r="r" b="b"/>
            <a:pathLst>
              <a:path w="16200" h="8100">
                <a:moveTo>
                  <a:pt x="0" y="8100"/>
                </a:moveTo>
                <a:lnTo>
                  <a:pt x="936" y="8059"/>
                </a:lnTo>
                <a:lnTo>
                  <a:pt x="1804" y="7941"/>
                </a:lnTo>
                <a:lnTo>
                  <a:pt x="2610" y="7752"/>
                </a:lnTo>
                <a:lnTo>
                  <a:pt x="3360" y="7500"/>
                </a:lnTo>
                <a:lnTo>
                  <a:pt x="4061" y="7192"/>
                </a:lnTo>
                <a:lnTo>
                  <a:pt x="4718" y="6834"/>
                </a:lnTo>
                <a:lnTo>
                  <a:pt x="5339" y="6435"/>
                </a:lnTo>
                <a:lnTo>
                  <a:pt x="5928" y="6000"/>
                </a:lnTo>
                <a:lnTo>
                  <a:pt x="6493" y="5537"/>
                </a:lnTo>
                <a:lnTo>
                  <a:pt x="7039" y="5053"/>
                </a:lnTo>
                <a:lnTo>
                  <a:pt x="7572" y="4555"/>
                </a:lnTo>
                <a:lnTo>
                  <a:pt x="8100" y="4050"/>
                </a:lnTo>
                <a:lnTo>
                  <a:pt x="8628" y="3545"/>
                </a:lnTo>
                <a:lnTo>
                  <a:pt x="9161" y="3047"/>
                </a:lnTo>
                <a:lnTo>
                  <a:pt x="9707" y="2563"/>
                </a:lnTo>
                <a:lnTo>
                  <a:pt x="10272" y="2100"/>
                </a:lnTo>
                <a:lnTo>
                  <a:pt x="10861" y="1665"/>
                </a:lnTo>
                <a:lnTo>
                  <a:pt x="11482" y="1266"/>
                </a:lnTo>
                <a:lnTo>
                  <a:pt x="12139" y="908"/>
                </a:lnTo>
                <a:lnTo>
                  <a:pt x="12840" y="600"/>
                </a:lnTo>
                <a:lnTo>
                  <a:pt x="13590" y="348"/>
                </a:lnTo>
                <a:lnTo>
                  <a:pt x="14396" y="159"/>
                </a:lnTo>
                <a:lnTo>
                  <a:pt x="15264" y="41"/>
                </a:lnTo>
                <a:lnTo>
                  <a:pt x="16200" y="0"/>
                </a:lnTo>
              </a:path>
            </a:pathLst>
          </a:custGeom>
          <a:noFill/>
          <a:ln w="13970" cap="rnd">
            <a:solidFill>
              <a:srgbClr val="FFFF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" y="4279900"/>
            <a:ext cx="355600" cy="355600"/>
          </a:xfrm>
          <a:prstGeom prst="ellipse">
            <a:avLst/>
          </a:prstGeom>
          <a:solidFill>
            <a:srgbClr val="DD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4400" y="4241800"/>
            <a:ext cx="355600" cy="3556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6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5200" y="4292600"/>
            <a:ext cx="254000" cy="254000"/>
          </a:xfrm>
          <a:prstGeom prst="ellipse">
            <a:avLst/>
          </a:prstGeom>
          <a:solidFill>
            <a:srgbClr val="126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"/>
          <p:cNvSpPr txBox="1"/>
          <p:nvPr/>
        </p:nvSpPr>
        <p:spPr>
          <a:xfrm>
            <a:off x="914400" y="4330700"/>
            <a:ext cx="3556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01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6931" y="3649662"/>
            <a:ext cx="477837" cy="364066"/>
          </a:xfrm>
          <a:prstGeom prst="roundRect">
            <a:avLst>
              <a:gd name="adj" fmla="val 12500"/>
            </a:avLst>
          </a:prstGeom>
          <a:solidFill>
            <a:srgbClr val="EAF3FC"/>
          </a:solidFill>
          <a:ln w="15240">
            <a:solidFill>
              <a:srgbClr val="16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846963" y="3740658"/>
            <a:ext cx="477774" cy="0"/>
          </a:xfrm>
          <a:custGeom>
            <a:avLst/>
            <a:gdLst/>
            <a:ahLst/>
            <a:cxnLst/>
            <a:rect l="l" t="t" r="r" b="b"/>
            <a:pathLst>
              <a:path w="3762" h="0">
                <a:moveTo>
                  <a:pt x="0" y="0"/>
                </a:moveTo>
                <a:lnTo>
                  <a:pt x="3762" y="0"/>
                </a:lnTo>
              </a:path>
            </a:pathLst>
          </a:custGeom>
          <a:noFill/>
          <a:ln w="22754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92439" y="3683793"/>
            <a:ext cx="22754" cy="22754"/>
          </a:xfrm>
          <a:prstGeom prst="ellipse">
            <a:avLst/>
          </a:prstGeom>
          <a:solidFill>
            <a:srgbClr val="167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9325" y="3683793"/>
            <a:ext cx="22754" cy="22754"/>
          </a:xfrm>
          <a:prstGeom prst="ellipse">
            <a:avLst/>
          </a:prstGeom>
          <a:solidFill>
            <a:srgbClr val="167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06210" y="3683793"/>
            <a:ext cx="22754" cy="22754"/>
          </a:xfrm>
          <a:prstGeom prst="ellipse">
            <a:avLst/>
          </a:prstGeom>
          <a:solidFill>
            <a:srgbClr val="167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949325" y="3808984"/>
            <a:ext cx="68199" cy="113792"/>
          </a:xfrm>
          <a:custGeom>
            <a:avLst/>
            <a:gdLst/>
            <a:ahLst/>
            <a:cxnLst/>
            <a:rect l="l" t="t" r="r" b="b"/>
            <a:pathLst>
              <a:path w="537" h="896">
                <a:moveTo>
                  <a:pt x="537" y="0"/>
                </a:moveTo>
                <a:lnTo>
                  <a:pt x="0" y="448"/>
                </a:lnTo>
                <a:lnTo>
                  <a:pt x="537" y="896"/>
                </a:lnTo>
              </a:path>
            </a:pathLst>
          </a:custGeom>
          <a:noFill/>
          <a:ln w="22754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1154176" y="3808984"/>
            <a:ext cx="68199" cy="113792"/>
          </a:xfrm>
          <a:custGeom>
            <a:avLst/>
            <a:gdLst/>
            <a:ahLst/>
            <a:cxnLst/>
            <a:rect l="l" t="t" r="r" b="b"/>
            <a:pathLst>
              <a:path w="537" h="896">
                <a:moveTo>
                  <a:pt x="0" y="0"/>
                </a:moveTo>
                <a:lnTo>
                  <a:pt x="537" y="448"/>
                </a:lnTo>
                <a:lnTo>
                  <a:pt x="0" y="896"/>
                </a:lnTo>
              </a:path>
            </a:pathLst>
          </a:custGeom>
          <a:noFill/>
          <a:ln w="22754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1063117" y="3786124"/>
            <a:ext cx="45466" cy="170688"/>
          </a:xfrm>
          <a:custGeom>
            <a:avLst/>
            <a:gdLst/>
            <a:ahLst/>
            <a:cxnLst/>
            <a:rect l="l" t="t" r="r" b="b"/>
            <a:pathLst>
              <a:path w="358" h="1344">
                <a:moveTo>
                  <a:pt x="358" y="0"/>
                </a:moveTo>
                <a:lnTo>
                  <a:pt x="0" y="1344"/>
                </a:lnTo>
              </a:path>
            </a:pathLst>
          </a:custGeom>
          <a:noFill/>
          <a:ln w="22754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1006221" y="4070604"/>
            <a:ext cx="159258" cy="0"/>
          </a:xfrm>
          <a:custGeom>
            <a:avLst/>
            <a:gdLst/>
            <a:ahLst/>
            <a:cxnLst/>
            <a:rect l="l" t="t" r="r" b="b"/>
            <a:pathLst>
              <a:path w="1254" h="0">
                <a:moveTo>
                  <a:pt x="0" y="0"/>
                </a:moveTo>
                <a:lnTo>
                  <a:pt x="1254" y="0"/>
                </a:lnTo>
              </a:path>
            </a:pathLst>
          </a:custGeom>
          <a:noFill/>
          <a:ln w="22754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"/>
          <p:cNvSpPr txBox="1"/>
          <p:nvPr/>
        </p:nvSpPr>
        <p:spPr>
          <a:xfrm>
            <a:off x="558800" y="4851400"/>
            <a:ext cx="1917700" cy="334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6DB5"/>
                </a:solidFill>
                <a:latin typeface="Microsoft JhengHei"/>
              </a:defRPr>
            </a:pPr>
            <a:r>
              <a:t>POC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558800" y="5219700"/>
            <a:ext cx="1968500" cy="282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8394B"/>
                </a:solidFill>
                <a:latin typeface="Microsoft JhengHei"/>
              </a:defRPr>
            </a:pPr>
            <a:r>
              <a:t>驗證通知與權限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558800" y="5524500"/>
            <a:ext cx="1968500" cy="2568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06B77"/>
                </a:solidFill>
                <a:latin typeface="Microsoft JhengHei"/>
              </a:defRPr>
            </a:pPr>
            <a:r>
              <a:t>隔離評估環境</a:t>
            </a:r>
          </a:p>
        </p:txBody>
      </p:sp>
      <p:sp>
        <p:nvSpPr>
          <p:cNvPr id="37" name="Oval 36"/>
          <p:cNvSpPr/>
          <p:nvPr/>
        </p:nvSpPr>
        <p:spPr>
          <a:xfrm>
            <a:off x="2844800" y="3429000"/>
            <a:ext cx="355600" cy="355600"/>
          </a:xfrm>
          <a:prstGeom prst="ellipse">
            <a:avLst/>
          </a:prstGeom>
          <a:solidFill>
            <a:srgbClr val="DD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844800" y="3390900"/>
            <a:ext cx="355600" cy="3556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895600" y="3441700"/>
            <a:ext cx="254000" cy="254000"/>
          </a:xfrm>
          <a:prstGeom prst="ellipse">
            <a:avLst/>
          </a:prstGeom>
          <a:solidFill>
            <a:srgbClr val="007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"/>
          <p:cNvSpPr txBox="1"/>
          <p:nvPr/>
        </p:nvSpPr>
        <p:spPr>
          <a:xfrm>
            <a:off x="2844800" y="3479800"/>
            <a:ext cx="3556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02</a:t>
            </a:r>
          </a:p>
        </p:txBody>
      </p:sp>
      <p:sp>
        <p:nvSpPr>
          <p:cNvPr id="41" name="Oval 40"/>
          <p:cNvSpPr/>
          <p:nvPr/>
        </p:nvSpPr>
        <p:spPr>
          <a:xfrm>
            <a:off x="2856970" y="4001293"/>
            <a:ext cx="113770" cy="113770"/>
          </a:xfrm>
          <a:prstGeom prst="ellipse">
            <a:avLst/>
          </a:prstGeom>
          <a:solidFill>
            <a:srgbClr val="E6F4ED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061758" y="4001293"/>
            <a:ext cx="113770" cy="113770"/>
          </a:xfrm>
          <a:prstGeom prst="ellipse">
            <a:avLst/>
          </a:prstGeom>
          <a:solidFill>
            <a:srgbClr val="E6F4ED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59364" y="3933031"/>
            <a:ext cx="113770" cy="113770"/>
          </a:xfrm>
          <a:prstGeom prst="ellipse">
            <a:avLst/>
          </a:prstGeom>
          <a:solidFill>
            <a:srgbClr val="E6F4ED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800085" y="4206081"/>
            <a:ext cx="170656" cy="193410"/>
          </a:xfrm>
          <a:prstGeom prst="roundRect">
            <a:avLst>
              <a:gd name="adj" fmla="val 26666"/>
            </a:avLst>
          </a:prstGeom>
          <a:solidFill>
            <a:srgbClr val="E6F4ED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061758" y="4206081"/>
            <a:ext cx="170656" cy="193410"/>
          </a:xfrm>
          <a:prstGeom prst="roundRect">
            <a:avLst>
              <a:gd name="adj" fmla="val 26666"/>
            </a:avLst>
          </a:prstGeom>
          <a:solidFill>
            <a:srgbClr val="E6F4ED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2902479" y="4160572"/>
            <a:ext cx="170656" cy="193410"/>
          </a:xfrm>
          <a:prstGeom prst="roundRect">
            <a:avLst>
              <a:gd name="adj" fmla="val 26666"/>
            </a:avLst>
          </a:prstGeom>
          <a:solidFill>
            <a:srgbClr val="E6F4ED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"/>
          <p:cNvSpPr txBox="1"/>
          <p:nvPr/>
        </p:nvSpPr>
        <p:spPr>
          <a:xfrm>
            <a:off x="2120900" y="2146300"/>
            <a:ext cx="1917700" cy="334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86F"/>
                </a:solidFill>
                <a:latin typeface="Microsoft JhengHei"/>
              </a:defRPr>
            </a:pPr>
            <a:r>
              <a:t>協調架構部門</a:t>
            </a:r>
          </a:p>
        </p:txBody>
      </p:sp>
      <p:sp>
        <p:nvSpPr>
          <p:cNvPr id="48" name="Text"/>
          <p:cNvSpPr txBox="1"/>
          <p:nvPr/>
        </p:nvSpPr>
        <p:spPr>
          <a:xfrm>
            <a:off x="2120900" y="2514600"/>
            <a:ext cx="1968500" cy="282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8394B"/>
                </a:solidFill>
                <a:latin typeface="Microsoft JhengHei"/>
              </a:defRPr>
            </a:pPr>
            <a:r>
              <a:t>安裝／配置 ADO</a:t>
            </a:r>
          </a:p>
        </p:txBody>
      </p:sp>
      <p:sp>
        <p:nvSpPr>
          <p:cNvPr id="49" name="Text"/>
          <p:cNvSpPr txBox="1"/>
          <p:nvPr/>
        </p:nvSpPr>
        <p:spPr>
          <a:xfrm>
            <a:off x="2120900" y="2819400"/>
            <a:ext cx="1968500" cy="2568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06B77"/>
                </a:solidFill>
                <a:latin typeface="Microsoft JhengHei"/>
              </a:defRPr>
            </a:pPr>
            <a:r>
              <a:t>確認責任與資源</a:t>
            </a:r>
          </a:p>
        </p:txBody>
      </p:sp>
      <p:sp>
        <p:nvSpPr>
          <p:cNvPr id="50" name="Oval 49"/>
          <p:cNvSpPr/>
          <p:nvPr/>
        </p:nvSpPr>
        <p:spPr>
          <a:xfrm>
            <a:off x="4775200" y="3975100"/>
            <a:ext cx="355600" cy="355600"/>
          </a:xfrm>
          <a:prstGeom prst="ellipse">
            <a:avLst/>
          </a:prstGeom>
          <a:solidFill>
            <a:srgbClr val="DD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775200" y="3937000"/>
            <a:ext cx="355600" cy="3556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826000" y="3987800"/>
            <a:ext cx="254000" cy="254000"/>
          </a:xfrm>
          <a:prstGeom prst="ellipse">
            <a:avLst/>
          </a:prstGeom>
          <a:solidFill>
            <a:srgbClr val="AC4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"/>
          <p:cNvSpPr txBox="1"/>
          <p:nvPr/>
        </p:nvSpPr>
        <p:spPr>
          <a:xfrm>
            <a:off x="4775200" y="4025900"/>
            <a:ext cx="3556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03</a:t>
            </a:r>
          </a:p>
        </p:txBody>
      </p:sp>
      <p:sp>
        <p:nvSpPr>
          <p:cNvPr id="54" name="Freeform 53"/>
          <p:cNvSpPr/>
          <p:nvPr/>
        </p:nvSpPr>
        <p:spPr>
          <a:xfrm>
            <a:off x="4810125" y="3367659"/>
            <a:ext cx="0" cy="363982"/>
          </a:xfrm>
          <a:custGeom>
            <a:avLst/>
            <a:gdLst/>
            <a:ahLst/>
            <a:cxnLst/>
            <a:rect l="l" t="t" r="r" b="b"/>
            <a:pathLst>
              <a:path w="0" h="2866">
                <a:moveTo>
                  <a:pt x="0" y="0"/>
                </a:moveTo>
                <a:lnTo>
                  <a:pt x="0" y="2866"/>
                </a:lnTo>
              </a:path>
            </a:pathLst>
          </a:custGeom>
          <a:noFill/>
          <a:ln w="22754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4810125" y="3367659"/>
            <a:ext cx="273050" cy="227457"/>
          </a:xfrm>
          <a:custGeom>
            <a:avLst/>
            <a:gdLst/>
            <a:ahLst/>
            <a:cxnLst/>
            <a:rect l="l" t="t" r="r" b="b"/>
            <a:pathLst>
              <a:path w="2150" h="1791">
                <a:moveTo>
                  <a:pt x="0" y="1791"/>
                </a:moveTo>
                <a:lnTo>
                  <a:pt x="1433" y="1791"/>
                </a:lnTo>
                <a:lnTo>
                  <a:pt x="2150" y="895"/>
                </a:lnTo>
                <a:lnTo>
                  <a:pt x="2150" y="0"/>
                </a:lnTo>
              </a:path>
            </a:pathLst>
          </a:custGeom>
          <a:noFill/>
          <a:ln w="22754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764616" y="3322108"/>
            <a:ext cx="91016" cy="91016"/>
          </a:xfrm>
          <a:prstGeom prst="ellipse">
            <a:avLst/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764616" y="3686175"/>
            <a:ext cx="91016" cy="91016"/>
          </a:xfrm>
          <a:prstGeom prst="ellipse">
            <a:avLst/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037666" y="3322108"/>
            <a:ext cx="91016" cy="91016"/>
          </a:xfrm>
          <a:prstGeom prst="ellipse">
            <a:avLst/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"/>
          <p:cNvSpPr txBox="1"/>
          <p:nvPr/>
        </p:nvSpPr>
        <p:spPr>
          <a:xfrm>
            <a:off x="4064000" y="4584700"/>
            <a:ext cx="1917700" cy="334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AC4E16"/>
                </a:solidFill>
                <a:latin typeface="Microsoft JhengHei"/>
              </a:defRPr>
            </a:pPr>
            <a:r>
              <a:t>整合 GitLab</a:t>
            </a:r>
          </a:p>
        </p:txBody>
      </p:sp>
      <p:sp>
        <p:nvSpPr>
          <p:cNvPr id="60" name="Text"/>
          <p:cNvSpPr txBox="1"/>
          <p:nvPr/>
        </p:nvSpPr>
        <p:spPr>
          <a:xfrm>
            <a:off x="4064000" y="4953000"/>
            <a:ext cx="1968500" cy="282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8394B"/>
                </a:solidFill>
                <a:latin typeface="Microsoft JhengHei"/>
              </a:defRPr>
            </a:pPr>
            <a:r>
              <a:t>串接通知與產物</a:t>
            </a:r>
          </a:p>
        </p:txBody>
      </p:sp>
      <p:sp>
        <p:nvSpPr>
          <p:cNvPr id="61" name="Text"/>
          <p:cNvSpPr txBox="1"/>
          <p:nvPr/>
        </p:nvSpPr>
        <p:spPr>
          <a:xfrm>
            <a:off x="4064000" y="5257800"/>
            <a:ext cx="1968500" cy="2568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06B77"/>
                </a:solidFill>
                <a:latin typeface="Microsoft JhengHei"/>
              </a:defRPr>
            </a:pPr>
            <a:r>
              <a:t>保留與稽核</a:t>
            </a:r>
          </a:p>
        </p:txBody>
      </p:sp>
      <p:sp>
        <p:nvSpPr>
          <p:cNvPr id="62" name="Oval 61"/>
          <p:cNvSpPr/>
          <p:nvPr/>
        </p:nvSpPr>
        <p:spPr>
          <a:xfrm>
            <a:off x="6705600" y="2844800"/>
            <a:ext cx="355600" cy="355600"/>
          </a:xfrm>
          <a:prstGeom prst="ellipse">
            <a:avLst/>
          </a:prstGeom>
          <a:solidFill>
            <a:srgbClr val="DD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705600" y="2806700"/>
            <a:ext cx="355600" cy="3556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6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756400" y="2857500"/>
            <a:ext cx="254000" cy="254000"/>
          </a:xfrm>
          <a:prstGeom prst="ellipse">
            <a:avLst/>
          </a:prstGeom>
          <a:solidFill>
            <a:srgbClr val="126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"/>
          <p:cNvSpPr txBox="1"/>
          <p:nvPr/>
        </p:nvSpPr>
        <p:spPr>
          <a:xfrm>
            <a:off x="6705600" y="2895600"/>
            <a:ext cx="3556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04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717770" y="3405716"/>
            <a:ext cx="341312" cy="398197"/>
          </a:xfrm>
          <a:prstGeom prst="roundRect">
            <a:avLst>
              <a:gd name="adj" fmla="val 13333"/>
            </a:avLst>
          </a:prstGeom>
          <a:solidFill>
            <a:srgbClr val="EAF3FC"/>
          </a:solidFill>
          <a:ln w="15240">
            <a:solidFill>
              <a:srgbClr val="16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6797410" y="3360208"/>
            <a:ext cx="170656" cy="910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16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6785991" y="3508121"/>
            <a:ext cx="136525" cy="91059"/>
          </a:xfrm>
          <a:custGeom>
            <a:avLst/>
            <a:gdLst/>
            <a:ahLst/>
            <a:cxnLst/>
            <a:rect l="l" t="t" r="r" b="b"/>
            <a:pathLst>
              <a:path w="1075" h="717">
                <a:moveTo>
                  <a:pt x="0" y="358"/>
                </a:moveTo>
                <a:lnTo>
                  <a:pt x="359" y="717"/>
                </a:lnTo>
                <a:lnTo>
                  <a:pt x="1075" y="0"/>
                </a:lnTo>
              </a:path>
            </a:pathLst>
          </a:custGeom>
          <a:noFill/>
          <a:ln w="22754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6785991" y="3644646"/>
            <a:ext cx="136525" cy="91059"/>
          </a:xfrm>
          <a:custGeom>
            <a:avLst/>
            <a:gdLst/>
            <a:ahLst/>
            <a:cxnLst/>
            <a:rect l="l" t="t" r="r" b="b"/>
            <a:pathLst>
              <a:path w="1075" h="717">
                <a:moveTo>
                  <a:pt x="0" y="358"/>
                </a:moveTo>
                <a:lnTo>
                  <a:pt x="359" y="717"/>
                </a:lnTo>
                <a:lnTo>
                  <a:pt x="1075" y="0"/>
                </a:lnTo>
              </a:path>
            </a:pathLst>
          </a:custGeom>
          <a:noFill/>
          <a:ln w="22754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6956679" y="3576320"/>
            <a:ext cx="45466" cy="0"/>
          </a:xfrm>
          <a:custGeom>
            <a:avLst/>
            <a:gdLst/>
            <a:ahLst/>
            <a:cxnLst/>
            <a:rect l="l" t="t" r="r" b="b"/>
            <a:pathLst>
              <a:path w="358" h="0">
                <a:moveTo>
                  <a:pt x="0" y="0"/>
                </a:moveTo>
                <a:lnTo>
                  <a:pt x="358" y="0"/>
                </a:lnTo>
              </a:path>
            </a:pathLst>
          </a:custGeom>
          <a:noFill/>
          <a:ln w="17065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6956679" y="3712845"/>
            <a:ext cx="45466" cy="0"/>
          </a:xfrm>
          <a:custGeom>
            <a:avLst/>
            <a:gdLst/>
            <a:ahLst/>
            <a:cxnLst/>
            <a:rect l="l" t="t" r="r" b="b"/>
            <a:pathLst>
              <a:path w="358" h="0">
                <a:moveTo>
                  <a:pt x="0" y="0"/>
                </a:moveTo>
                <a:lnTo>
                  <a:pt x="358" y="0"/>
                </a:lnTo>
              </a:path>
            </a:pathLst>
          </a:custGeom>
          <a:noFill/>
          <a:ln w="17065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"/>
          <p:cNvSpPr txBox="1"/>
          <p:nvPr/>
        </p:nvSpPr>
        <p:spPr>
          <a:xfrm>
            <a:off x="5994400" y="1727200"/>
            <a:ext cx="1917700" cy="334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6DB5"/>
                </a:solidFill>
                <a:latin typeface="Microsoft JhengHei"/>
              </a:defRPr>
            </a:pPr>
            <a:r>
              <a:t>SIT</a:t>
            </a:r>
          </a:p>
        </p:txBody>
      </p:sp>
      <p:sp>
        <p:nvSpPr>
          <p:cNvPr id="73" name="Text"/>
          <p:cNvSpPr txBox="1"/>
          <p:nvPr/>
        </p:nvSpPr>
        <p:spPr>
          <a:xfrm>
            <a:off x="5994400" y="2095500"/>
            <a:ext cx="1968500" cy="282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8394B"/>
                </a:solidFill>
                <a:latin typeface="Microsoft JhengHei"/>
              </a:defRPr>
            </a:pPr>
            <a:r>
              <a:t>整合與例外測試</a:t>
            </a:r>
          </a:p>
        </p:txBody>
      </p:sp>
      <p:sp>
        <p:nvSpPr>
          <p:cNvPr id="74" name="Text"/>
          <p:cNvSpPr txBox="1"/>
          <p:nvPr/>
        </p:nvSpPr>
        <p:spPr>
          <a:xfrm>
            <a:off x="5994400" y="2400300"/>
            <a:ext cx="1968500" cy="2568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06B77"/>
                </a:solidFill>
                <a:latin typeface="Microsoft JhengHei"/>
              </a:defRPr>
            </a:pPr>
            <a:r>
              <a:t>包含權限負向測試</a:t>
            </a:r>
          </a:p>
        </p:txBody>
      </p:sp>
      <p:sp>
        <p:nvSpPr>
          <p:cNvPr id="75" name="Oval 74"/>
          <p:cNvSpPr/>
          <p:nvPr/>
        </p:nvSpPr>
        <p:spPr>
          <a:xfrm>
            <a:off x="8636000" y="3416300"/>
            <a:ext cx="355600" cy="355600"/>
          </a:xfrm>
          <a:prstGeom prst="ellipse">
            <a:avLst/>
          </a:prstGeom>
          <a:solidFill>
            <a:srgbClr val="DD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636000" y="3378200"/>
            <a:ext cx="355600" cy="3556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686800" y="3429000"/>
            <a:ext cx="254000" cy="254000"/>
          </a:xfrm>
          <a:prstGeom prst="ellipse">
            <a:avLst/>
          </a:prstGeom>
          <a:solidFill>
            <a:srgbClr val="007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"/>
          <p:cNvSpPr txBox="1"/>
          <p:nvPr/>
        </p:nvSpPr>
        <p:spPr>
          <a:xfrm>
            <a:off x="8636000" y="3467100"/>
            <a:ext cx="3556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05</a:t>
            </a:r>
          </a:p>
        </p:txBody>
      </p:sp>
      <p:sp>
        <p:nvSpPr>
          <p:cNvPr id="79" name="Freeform 78"/>
          <p:cNvSpPr/>
          <p:nvPr/>
        </p:nvSpPr>
        <p:spPr>
          <a:xfrm>
            <a:off x="8636762" y="2808859"/>
            <a:ext cx="352679" cy="363982"/>
          </a:xfrm>
          <a:custGeom>
            <a:avLst/>
            <a:gdLst/>
            <a:ahLst/>
            <a:cxnLst/>
            <a:rect l="l" t="t" r="r" b="b"/>
            <a:pathLst>
              <a:path w="2777" h="2866">
                <a:moveTo>
                  <a:pt x="90" y="806"/>
                </a:moveTo>
                <a:lnTo>
                  <a:pt x="627" y="89"/>
                </a:lnTo>
                <a:lnTo>
                  <a:pt x="1971" y="0"/>
                </a:lnTo>
                <a:lnTo>
                  <a:pt x="2777" y="895"/>
                </a:lnTo>
                <a:lnTo>
                  <a:pt x="2777" y="2060"/>
                </a:lnTo>
                <a:lnTo>
                  <a:pt x="1971" y="2866"/>
                </a:lnTo>
                <a:lnTo>
                  <a:pt x="806" y="2866"/>
                </a:lnTo>
                <a:lnTo>
                  <a:pt x="0" y="2150"/>
                </a:lnTo>
              </a:path>
            </a:pathLst>
          </a:custGeom>
          <a:noFill/>
          <a:ln w="28442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8648192" y="2774696"/>
            <a:ext cx="136525" cy="136525"/>
          </a:xfrm>
          <a:custGeom>
            <a:avLst/>
            <a:gdLst/>
            <a:ahLst/>
            <a:cxnLst/>
            <a:rect l="l" t="t" r="r" b="b"/>
            <a:pathLst>
              <a:path w="1075" h="1075">
                <a:moveTo>
                  <a:pt x="0" y="0"/>
                </a:moveTo>
                <a:lnTo>
                  <a:pt x="0" y="1075"/>
                </a:lnTo>
                <a:lnTo>
                  <a:pt x="1075" y="1075"/>
                </a:lnTo>
              </a:path>
            </a:pathLst>
          </a:custGeom>
          <a:noFill/>
          <a:ln w="28442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8807450" y="2922524"/>
            <a:ext cx="79629" cy="147955"/>
          </a:xfrm>
          <a:custGeom>
            <a:avLst/>
            <a:gdLst/>
            <a:ahLst/>
            <a:cxnLst/>
            <a:rect l="l" t="t" r="r" b="b"/>
            <a:pathLst>
              <a:path w="627" h="1165">
                <a:moveTo>
                  <a:pt x="0" y="0"/>
                </a:moveTo>
                <a:lnTo>
                  <a:pt x="0" y="807"/>
                </a:lnTo>
                <a:lnTo>
                  <a:pt x="627" y="1165"/>
                </a:lnTo>
              </a:path>
            </a:pathLst>
          </a:custGeom>
          <a:noFill/>
          <a:ln w="22754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"/>
          <p:cNvSpPr txBox="1"/>
          <p:nvPr/>
        </p:nvSpPr>
        <p:spPr>
          <a:xfrm>
            <a:off x="7937500" y="4051300"/>
            <a:ext cx="1917700" cy="334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86F"/>
                </a:solidFill>
                <a:latin typeface="Microsoft JhengHei"/>
              </a:defRPr>
            </a:pPr>
            <a:r>
              <a:t>UAT</a:t>
            </a:r>
          </a:p>
        </p:txBody>
      </p:sp>
      <p:sp>
        <p:nvSpPr>
          <p:cNvPr id="83" name="Text"/>
          <p:cNvSpPr txBox="1"/>
          <p:nvPr/>
        </p:nvSpPr>
        <p:spPr>
          <a:xfrm>
            <a:off x="7937500" y="4419600"/>
            <a:ext cx="1968500" cy="282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8394B"/>
                </a:solidFill>
                <a:latin typeface="Microsoft JhengHei"/>
              </a:defRPr>
            </a:pPr>
            <a:r>
              <a:t>驗收與復原演練</a:t>
            </a:r>
          </a:p>
        </p:txBody>
      </p:sp>
      <p:sp>
        <p:nvSpPr>
          <p:cNvPr id="84" name="Text"/>
          <p:cNvSpPr txBox="1"/>
          <p:nvPr/>
        </p:nvSpPr>
        <p:spPr>
          <a:xfrm>
            <a:off x="7937500" y="4724400"/>
            <a:ext cx="1968500" cy="2568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06B77"/>
                </a:solidFill>
                <a:latin typeface="Microsoft JhengHei"/>
              </a:defRPr>
            </a:pPr>
            <a:r>
              <a:t>由授權人員驗收</a:t>
            </a:r>
          </a:p>
        </p:txBody>
      </p:sp>
      <p:sp>
        <p:nvSpPr>
          <p:cNvPr id="85" name="Oval 84"/>
          <p:cNvSpPr/>
          <p:nvPr/>
        </p:nvSpPr>
        <p:spPr>
          <a:xfrm>
            <a:off x="10693400" y="2387600"/>
            <a:ext cx="355600" cy="355600"/>
          </a:xfrm>
          <a:prstGeom prst="ellipse">
            <a:avLst/>
          </a:prstGeom>
          <a:solidFill>
            <a:srgbClr val="DD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693400" y="2349500"/>
            <a:ext cx="355600" cy="3556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0744200" y="2400300"/>
            <a:ext cx="254000" cy="254000"/>
          </a:xfrm>
          <a:prstGeom prst="ellipse">
            <a:avLst/>
          </a:prstGeom>
          <a:solidFill>
            <a:srgbClr val="AC4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"/>
          <p:cNvSpPr txBox="1"/>
          <p:nvPr/>
        </p:nvSpPr>
        <p:spPr>
          <a:xfrm>
            <a:off x="10693400" y="2438400"/>
            <a:ext cx="3556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06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0448395" y="2003954"/>
            <a:ext cx="206375" cy="395552"/>
          </a:xfrm>
          <a:prstGeom prst="roundRect">
            <a:avLst>
              <a:gd name="adj" fmla="val 33333"/>
            </a:avLst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10499979" y="2089912"/>
            <a:ext cx="103251" cy="0"/>
          </a:xfrm>
          <a:custGeom>
            <a:avLst/>
            <a:gdLst/>
            <a:ahLst/>
            <a:cxnLst/>
            <a:rect l="l" t="t" r="r" b="b"/>
            <a:pathLst>
              <a:path w="813" h="0">
                <a:moveTo>
                  <a:pt x="0" y="0"/>
                </a:moveTo>
                <a:lnTo>
                  <a:pt x="813" y="0"/>
                </a:lnTo>
              </a:path>
            </a:pathLst>
          </a:custGeom>
          <a:noFill/>
          <a:ln w="17197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10499979" y="2210308"/>
            <a:ext cx="103251" cy="0"/>
          </a:xfrm>
          <a:custGeom>
            <a:avLst/>
            <a:gdLst/>
            <a:ahLst/>
            <a:cxnLst/>
            <a:rect l="l" t="t" r="r" b="b"/>
            <a:pathLst>
              <a:path w="813" h="0">
                <a:moveTo>
                  <a:pt x="0" y="0"/>
                </a:moveTo>
                <a:lnTo>
                  <a:pt x="813" y="0"/>
                </a:lnTo>
              </a:path>
            </a:pathLst>
          </a:custGeom>
          <a:noFill/>
          <a:ln w="17197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10499979" y="2330704"/>
            <a:ext cx="103251" cy="0"/>
          </a:xfrm>
          <a:custGeom>
            <a:avLst/>
            <a:gdLst/>
            <a:ahLst/>
            <a:cxnLst/>
            <a:rect l="l" t="t" r="r" b="b"/>
            <a:pathLst>
              <a:path w="813" h="0">
                <a:moveTo>
                  <a:pt x="0" y="0"/>
                </a:moveTo>
                <a:lnTo>
                  <a:pt x="813" y="0"/>
                </a:lnTo>
              </a:path>
            </a:pathLst>
          </a:custGeom>
          <a:noFill/>
          <a:ln w="17197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10723562" y="1711589"/>
            <a:ext cx="240770" cy="687916"/>
          </a:xfrm>
          <a:prstGeom prst="roundRect">
            <a:avLst>
              <a:gd name="adj" fmla="val 28571"/>
            </a:avLst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10775188" y="1797558"/>
            <a:ext cx="137541" cy="0"/>
          </a:xfrm>
          <a:custGeom>
            <a:avLst/>
            <a:gdLst/>
            <a:ahLst/>
            <a:cxnLst/>
            <a:rect l="l" t="t" r="r" b="b"/>
            <a:pathLst>
              <a:path w="1083" h="0">
                <a:moveTo>
                  <a:pt x="0" y="0"/>
                </a:moveTo>
                <a:lnTo>
                  <a:pt x="1083" y="0"/>
                </a:lnTo>
              </a:path>
            </a:pathLst>
          </a:custGeom>
          <a:noFill/>
          <a:ln w="17197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10775188" y="1917954"/>
            <a:ext cx="137541" cy="0"/>
          </a:xfrm>
          <a:custGeom>
            <a:avLst/>
            <a:gdLst/>
            <a:ahLst/>
            <a:cxnLst/>
            <a:rect l="l" t="t" r="r" b="b"/>
            <a:pathLst>
              <a:path w="1083" h="0">
                <a:moveTo>
                  <a:pt x="0" y="0"/>
                </a:moveTo>
                <a:lnTo>
                  <a:pt x="1083" y="0"/>
                </a:lnTo>
              </a:path>
            </a:pathLst>
          </a:custGeom>
          <a:noFill/>
          <a:ln w="17197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10775188" y="2038350"/>
            <a:ext cx="137541" cy="0"/>
          </a:xfrm>
          <a:custGeom>
            <a:avLst/>
            <a:gdLst/>
            <a:ahLst/>
            <a:cxnLst/>
            <a:rect l="l" t="t" r="r" b="b"/>
            <a:pathLst>
              <a:path w="1083" h="0">
                <a:moveTo>
                  <a:pt x="0" y="0"/>
                </a:moveTo>
                <a:lnTo>
                  <a:pt x="1083" y="0"/>
                </a:lnTo>
              </a:path>
            </a:pathLst>
          </a:custGeom>
          <a:noFill/>
          <a:ln w="17197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10775188" y="2158746"/>
            <a:ext cx="137541" cy="0"/>
          </a:xfrm>
          <a:custGeom>
            <a:avLst/>
            <a:gdLst/>
            <a:ahLst/>
            <a:cxnLst/>
            <a:rect l="l" t="t" r="r" b="b"/>
            <a:pathLst>
              <a:path w="1083" h="0">
                <a:moveTo>
                  <a:pt x="0" y="0"/>
                </a:moveTo>
                <a:lnTo>
                  <a:pt x="1083" y="0"/>
                </a:lnTo>
              </a:path>
            </a:pathLst>
          </a:custGeom>
          <a:noFill/>
          <a:ln w="17197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10775188" y="2279142"/>
            <a:ext cx="137541" cy="0"/>
          </a:xfrm>
          <a:custGeom>
            <a:avLst/>
            <a:gdLst/>
            <a:ahLst/>
            <a:cxnLst/>
            <a:rect l="l" t="t" r="r" b="b"/>
            <a:pathLst>
              <a:path w="1083" h="0">
                <a:moveTo>
                  <a:pt x="0" y="0"/>
                </a:moveTo>
                <a:lnTo>
                  <a:pt x="1083" y="0"/>
                </a:lnTo>
              </a:path>
            </a:pathLst>
          </a:custGeom>
          <a:noFill/>
          <a:ln w="17197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11033125" y="1866370"/>
            <a:ext cx="171979" cy="533135"/>
          </a:xfrm>
          <a:prstGeom prst="roundRect">
            <a:avLst>
              <a:gd name="adj" fmla="val 40000"/>
            </a:avLst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11084687" y="1952371"/>
            <a:ext cx="68834" cy="0"/>
          </a:xfrm>
          <a:custGeom>
            <a:avLst/>
            <a:gdLst/>
            <a:ahLst/>
            <a:cxnLst/>
            <a:rect l="l" t="t" r="r" b="b"/>
            <a:pathLst>
              <a:path w="542" h="0">
                <a:moveTo>
                  <a:pt x="0" y="0"/>
                </a:moveTo>
                <a:lnTo>
                  <a:pt x="542" y="0"/>
                </a:lnTo>
              </a:path>
            </a:pathLst>
          </a:custGeom>
          <a:noFill/>
          <a:ln w="17197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11084687" y="2072767"/>
            <a:ext cx="68834" cy="0"/>
          </a:xfrm>
          <a:custGeom>
            <a:avLst/>
            <a:gdLst/>
            <a:ahLst/>
            <a:cxnLst/>
            <a:rect l="l" t="t" r="r" b="b"/>
            <a:pathLst>
              <a:path w="542" h="0">
                <a:moveTo>
                  <a:pt x="0" y="0"/>
                </a:moveTo>
                <a:lnTo>
                  <a:pt x="542" y="0"/>
                </a:lnTo>
              </a:path>
            </a:pathLst>
          </a:custGeom>
          <a:noFill/>
          <a:ln w="17197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11084687" y="2193163"/>
            <a:ext cx="68834" cy="0"/>
          </a:xfrm>
          <a:custGeom>
            <a:avLst/>
            <a:gdLst/>
            <a:ahLst/>
            <a:cxnLst/>
            <a:rect l="l" t="t" r="r" b="b"/>
            <a:pathLst>
              <a:path w="542" h="0">
                <a:moveTo>
                  <a:pt x="0" y="0"/>
                </a:moveTo>
                <a:lnTo>
                  <a:pt x="542" y="0"/>
                </a:lnTo>
              </a:path>
            </a:pathLst>
          </a:custGeom>
          <a:noFill/>
          <a:ln w="17197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11084687" y="2313559"/>
            <a:ext cx="68834" cy="0"/>
          </a:xfrm>
          <a:custGeom>
            <a:avLst/>
            <a:gdLst/>
            <a:ahLst/>
            <a:cxnLst/>
            <a:rect l="l" t="t" r="r" b="b"/>
            <a:pathLst>
              <a:path w="542" h="0">
                <a:moveTo>
                  <a:pt x="0" y="0"/>
                </a:moveTo>
                <a:lnTo>
                  <a:pt x="542" y="0"/>
                </a:lnTo>
              </a:path>
            </a:pathLst>
          </a:custGeom>
          <a:noFill/>
          <a:ln w="17197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10414000" y="2416683"/>
            <a:ext cx="825500" cy="0"/>
          </a:xfrm>
          <a:custGeom>
            <a:avLst/>
            <a:gdLst/>
            <a:ahLst/>
            <a:cxnLst/>
            <a:rect l="l" t="t" r="r" b="b"/>
            <a:pathLst>
              <a:path w="6500" h="0">
                <a:moveTo>
                  <a:pt x="0" y="0"/>
                </a:moveTo>
                <a:lnTo>
                  <a:pt x="6500" y="0"/>
                </a:lnTo>
              </a:path>
            </a:pathLst>
          </a:custGeom>
          <a:noFill/>
          <a:ln w="34395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11430508" y="1956054"/>
            <a:ext cx="0" cy="291592"/>
          </a:xfrm>
          <a:custGeom>
            <a:avLst/>
            <a:gdLst/>
            <a:ahLst/>
            <a:cxnLst/>
            <a:rect l="l" t="t" r="r" b="b"/>
            <a:pathLst>
              <a:path w="0" h="2296">
                <a:moveTo>
                  <a:pt x="0" y="2296"/>
                </a:moveTo>
                <a:lnTo>
                  <a:pt x="0" y="0"/>
                </a:lnTo>
              </a:path>
            </a:pathLst>
          </a:custGeom>
          <a:noFill/>
          <a:ln w="19182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11430508" y="1963674"/>
            <a:ext cx="230251" cy="122809"/>
          </a:xfrm>
          <a:custGeom>
            <a:avLst/>
            <a:gdLst/>
            <a:ahLst/>
            <a:cxnLst/>
            <a:rect l="l" t="t" r="r" b="b"/>
            <a:pathLst>
              <a:path w="1813" h="967">
                <a:moveTo>
                  <a:pt x="0" y="0"/>
                </a:moveTo>
                <a:lnTo>
                  <a:pt x="967" y="0"/>
                </a:lnTo>
                <a:lnTo>
                  <a:pt x="967" y="363"/>
                </a:lnTo>
                <a:lnTo>
                  <a:pt x="1813" y="363"/>
                </a:lnTo>
                <a:lnTo>
                  <a:pt x="1450" y="967"/>
                </a:lnTo>
                <a:lnTo>
                  <a:pt x="725" y="967"/>
                </a:lnTo>
                <a:lnTo>
                  <a:pt x="725" y="605"/>
                </a:lnTo>
                <a:lnTo>
                  <a:pt x="0" y="605"/>
                </a:lnTo>
              </a:path>
            </a:pathLst>
          </a:custGeom>
          <a:noFill/>
          <a:ln w="15345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1438202" y="1971410"/>
            <a:ext cx="107420" cy="61383"/>
          </a:xfrm>
          <a:prstGeom prst="rect">
            <a:avLst/>
          </a:prstGeom>
          <a:solidFill>
            <a:srgbClr val="FF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11384534" y="2247646"/>
            <a:ext cx="107442" cy="0"/>
          </a:xfrm>
          <a:custGeom>
            <a:avLst/>
            <a:gdLst/>
            <a:ahLst/>
            <a:cxnLst/>
            <a:rect l="l" t="t" r="r" b="b"/>
            <a:pathLst>
              <a:path w="846" h="0">
                <a:moveTo>
                  <a:pt x="0" y="0"/>
                </a:moveTo>
                <a:lnTo>
                  <a:pt x="846" y="0"/>
                </a:lnTo>
              </a:path>
            </a:pathLst>
          </a:custGeom>
          <a:noFill/>
          <a:ln w="15345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"/>
          <p:cNvSpPr txBox="1"/>
          <p:nvPr/>
        </p:nvSpPr>
        <p:spPr>
          <a:xfrm>
            <a:off x="9893300" y="3009900"/>
            <a:ext cx="1917700" cy="334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AC4E16"/>
                </a:solidFill>
                <a:latin typeface="Microsoft JhengHei"/>
              </a:defRPr>
            </a:pPr>
            <a:r>
              <a:t>Production</a:t>
            </a:r>
          </a:p>
        </p:txBody>
      </p:sp>
      <p:sp>
        <p:nvSpPr>
          <p:cNvPr id="110" name="Text"/>
          <p:cNvSpPr txBox="1"/>
          <p:nvPr/>
        </p:nvSpPr>
        <p:spPr>
          <a:xfrm>
            <a:off x="9893300" y="3378200"/>
            <a:ext cx="1968500" cy="282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8394B"/>
                </a:solidFill>
                <a:latin typeface="Microsoft JhengHei"/>
              </a:defRPr>
            </a:pPr>
            <a:r>
              <a:t>目標 12/31</a:t>
            </a:r>
          </a:p>
        </p:txBody>
      </p:sp>
      <p:sp>
        <p:nvSpPr>
          <p:cNvPr id="111" name="Text"/>
          <p:cNvSpPr txBox="1"/>
          <p:nvPr/>
        </p:nvSpPr>
        <p:spPr>
          <a:xfrm>
            <a:off x="9893300" y="3683000"/>
            <a:ext cx="1968500" cy="2568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06B77"/>
                </a:solidFill>
                <a:latin typeface="Microsoft JhengHei"/>
              </a:defRPr>
            </a:pPr>
            <a:r>
              <a:t>依程序批准後試辦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508000" y="5892800"/>
            <a:ext cx="11176000" cy="381000"/>
          </a:xfrm>
          <a:prstGeom prst="roundRect">
            <a:avLst>
              <a:gd name="adj" fmla="val 40000"/>
            </a:avLst>
          </a:prstGeom>
          <a:solidFill>
            <a:srgbClr val="E6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"/>
          <p:cNvSpPr txBox="1"/>
          <p:nvPr/>
        </p:nvSpPr>
        <p:spPr>
          <a:xfrm>
            <a:off x="660400" y="5969000"/>
            <a:ext cx="10858500" cy="282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786F"/>
                </a:solidFill>
                <a:latin typeface="Microsoft JhengHei"/>
              </a:defRPr>
            </a:pPr>
            <a:r>
              <a:t>逐關通過再上線：先證明「未放行不能送檔」，再完成驗收與復原演練。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Windows 正式部署治理｜Journey 設計參考版</dc:title>
  <dc:subject>獨立設計參考版；規劃提案，尚未實作或 POC 驗證</dc:subject>
  <dc:creator>Windows CD Governance Project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